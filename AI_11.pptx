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4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</p:sldIdLst>
  <p:sldSz type="screen4x3" cy="6858000" cx="9144000"/>
  <p:notesSz cx="6858000" cy="9144000"/>
  <p:defaultTextStyle>
    <a:lvl1pPr algn="l" eaLnBrk="0" fontAlgn="base" hangingPunct="0" indent="0" latinLnBrk="0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2400" i="0" u="none">
        <a:solidFill>
          <a:schemeClr val="dk1"/>
        </a:solidFill>
        <a:latin typeface="Times New Roman" pitchFamily="18" charset="0"/>
        <a:sym typeface="Times New Roman" pitchFamily="18" charset="0"/>
      </a:defRPr>
    </a:lvl1pPr>
    <a:lvl2pPr algn="l" eaLnBrk="0" fontAlgn="base" hangingPunct="0" indent="0" latinLnBrk="0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2400" i="0" u="none">
        <a:solidFill>
          <a:schemeClr val="dk1"/>
        </a:solidFill>
        <a:latin typeface="Times New Roman" pitchFamily="18" charset="0"/>
        <a:sym typeface="Times New Roman" pitchFamily="18" charset="0"/>
      </a:defRPr>
    </a:lvl2pPr>
    <a:lvl3pPr algn="l" eaLnBrk="0" fontAlgn="base" hangingPunct="0" indent="0" latinLnBrk="0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2400" i="0" u="none">
        <a:solidFill>
          <a:schemeClr val="dk1"/>
        </a:solidFill>
        <a:latin typeface="Times New Roman" pitchFamily="18" charset="0"/>
        <a:sym typeface="Times New Roman" pitchFamily="18" charset="0"/>
      </a:defRPr>
    </a:lvl3pPr>
    <a:lvl4pPr algn="l" eaLnBrk="0" fontAlgn="base" hangingPunct="0" indent="0" latinLnBrk="0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2400" i="0" u="none">
        <a:solidFill>
          <a:schemeClr val="dk1"/>
        </a:solidFill>
        <a:latin typeface="Times New Roman" pitchFamily="18" charset="0"/>
        <a:sym typeface="Times New Roman" pitchFamily="18" charset="0"/>
      </a:defRPr>
    </a:lvl4pPr>
    <a:lvl5pPr algn="l" eaLnBrk="0" fontAlgn="base" hangingPunct="0" indent="0" latinLnBrk="0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2400" i="0" u="none">
        <a:solidFill>
          <a:schemeClr val="dk1"/>
        </a:solidFill>
        <a:latin typeface="Times New Roman" pitchFamily="18" charset="0"/>
        <a:sym typeface="Times New Roman" pitchFamily="18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View">
  <p:normalViewPr showOutlineIcons="1" snapVertSplitter="0" vertBarState="restored" horzBarState="maximized" preferSingleView="0">
    <p:restoredLeft sz="14995" autoAdjust="0"/>
    <p:restoredTop sz="86683" autoAdjust="0"/>
  </p:normalViewPr>
  <p:slideViewPr>
    <p:cSldViewPr showGuides="0" snapToGrid="1" snapToObjects="0">
      <p:cViewPr varScale="1">
        <p:scale>
          <a:sx n="82" d="100"/>
          <a:sy n="82" d="100"/>
        </p:scale>
        <p:origin x="1502" y="72"/>
      </p:cViewPr>
      <p:guideLst>
        <p:guide orient="horz" pos="2160"/>
        <p:guide orient="vert"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tableStyles" Target="tableStyles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4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33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63" name="Rectangle 2"/>
          <p:cNvSpPr/>
          <p:nvPr>
            <p:ph type="hdr" sz="quarter" idx="0"/>
          </p:nvPr>
        </p:nvSpPr>
        <p:spPr>
          <a:xfrm rot="0"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vl="0"/>
            <a:endParaRPr altLang="en-US" sz="1200" lang="en-US"/>
          </a:p>
        </p:txBody>
      </p:sp>
      <p:sp>
        <p:nvSpPr>
          <p:cNvPr id="1049164" name="Rectangle 3"/>
          <p:cNvSpPr/>
          <p:nvPr>
            <p:ph type="dt" sz="quarter" idx="1"/>
          </p:nvPr>
        </p:nvSpPr>
        <p:spPr>
          <a:xfrm rot="0">
            <a:off x="3886200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algn="r" eaLnBrk="1" hangingPunct="1" lvl="0"/>
            <a:endParaRPr altLang="en-US" sz="1200" lang="en-US"/>
          </a:p>
        </p:txBody>
      </p:sp>
      <p:sp>
        <p:nvSpPr>
          <p:cNvPr id="1049165" name="Rectangle 4"/>
          <p:cNvSpPr/>
          <p:nvPr>
            <p:ph type="ftr" sz="quarter" idx="2"/>
          </p:nvPr>
        </p:nvSpPr>
        <p:spPr>
          <a:xfrm rot="0">
            <a:off x="0" y="8686800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eaLnBrk="1" hangingPunct="1" lvl="0"/>
            <a:endParaRPr altLang="en-US" sz="1200" lang="en-US"/>
          </a:p>
        </p:txBody>
      </p:sp>
      <p:sp>
        <p:nvSpPr>
          <p:cNvPr id="1049166" name="Rectangle 5"/>
          <p:cNvSpPr/>
          <p:nvPr>
            <p:ph type="sldNum" sz="quarter" idx="3"/>
          </p:nvPr>
        </p:nvSpPr>
        <p:spPr>
          <a:xfrm rot="0">
            <a:off x="3886200" y="8686800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vl="0"/>
            <a:fld id="{566ABCEB-ACFC-4714-9973-3DA970169C29}" type="slidenum">
              <a:rPr altLang="en-US" sz="1200" lang="en-US"/>
              <a:pPr algn="r" eaLnBrk="1" hangingPunct="1" lvl="0"/>
            </a:fld>
            <a:endParaRPr altLang="en-US" sz="1200" lang="en-US"/>
          </a:p>
        </p:txBody>
      </p:sp>
    </p:spTree>
  </p:cSld>
  <p:clrMap accent1="dk1" accent2="dk1" accent3="dk1" accent4="dk1" accent5="dk1" accent6="dk1" bg1="dk1" bg2="dk1" tx1="dk1" tx2="dk1" hlink="dk1" folHlink="dk1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57" name="Header Placeholder 1"/>
          <p:cNvSpPr/>
          <p:nvPr>
            <p:ph type="hdr" sz="quarter" idx="0"/>
          </p:nvPr>
        </p:nvSpPr>
        <p:spPr>
          <a:xfrm rot="0">
            <a:off x="0" y="0"/>
            <a:ext cx="2971800" cy="4587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endParaRPr altLang="en-US" sz="1200" lang="en-US"/>
          </a:p>
        </p:txBody>
      </p:sp>
      <p:sp>
        <p:nvSpPr>
          <p:cNvPr id="1049158" name="Date Placeholder 2"/>
          <p:cNvSpPr/>
          <p:nvPr>
            <p:ph type="dt" sz="full" idx="1"/>
          </p:nvPr>
        </p:nvSpPr>
        <p:spPr>
          <a:xfrm rot="0">
            <a:off x="3884612" y="0"/>
            <a:ext cx="2971800" cy="45878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algn="r" lvl="0"/>
            <a:fld id="{566ABCEB-ACFC-4714-9973-3DA970169C29}" type="datetime1">
              <a:rPr altLang="en-US" sz="1200" lang="en-US"/>
              <a:pPr algn="r" lvl="0"/>
            </a:fld>
            <a:endParaRPr altLang="en-US" sz="1200" lang="en-US"/>
          </a:p>
        </p:txBody>
      </p:sp>
      <p:sp>
        <p:nvSpPr>
          <p:cNvPr id="1049159" name="Slide Image Placeholder 3"/>
          <p:cNvSpPr/>
          <p:nvPr>
            <p:ph type="sldImg" sz="full" idx="2"/>
          </p:nvPr>
        </p:nvSpPr>
        <p:spPr>
          <a:xfrm rot="0">
            <a:off x="1371600" y="1143000"/>
            <a:ext cx="4114800" cy="308610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p/>
        </p:txBody>
      </p:sp>
      <p:sp>
        <p:nvSpPr>
          <p:cNvPr id="1049160" name="Notes Placeholder 4"/>
          <p:cNvSpPr/>
          <p:nvPr>
            <p:ph type="body" sz="quarter" idx="3"/>
          </p:nvPr>
        </p:nvSpPr>
        <p:spPr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9161" name="Footer Placeholder 5"/>
          <p:cNvSpPr/>
          <p:nvPr>
            <p:ph type="ftr" sz="quarter" idx="4"/>
          </p:nvPr>
        </p:nvSpPr>
        <p:spPr>
          <a:xfrm rot="0">
            <a:off x="0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lvl="0"/>
            <a:endParaRPr altLang="en-US" sz="1200" lang="en-US"/>
          </a:p>
        </p:txBody>
      </p:sp>
      <p:sp>
        <p:nvSpPr>
          <p:cNvPr id="1049162" name="Slide Number Placeholder 6"/>
          <p:cNvSpPr/>
          <p:nvPr>
            <p:ph type="sldNum" sz="quarter" idx="5"/>
          </p:nvPr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 accent1="dk1" accent2="dk1" accent3="dk1" accent4="dk1" accent5="dk1" accent6="dk1" bg1="dk1" bg2="dk1" tx1="dk1" tx2="dk1" hlink="dk1" folHlink="dk1"/>
  <p:notesStyle>
    <a:lvl1pPr algn="l" eaLnBrk="0" fontAlgn="base" hangingPunct="0" indent="0" latinLnBrk="0" marL="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Times New Roman" pitchFamily="18" charset="0"/>
      </a:defRPr>
    </a:lvl1pPr>
    <a:lvl2pPr algn="l" eaLnBrk="0" fontAlgn="base" hangingPunct="0" indent="0" latinLnBrk="0" marL="4572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Times New Roman" pitchFamily="18" charset="0"/>
      </a:defRPr>
    </a:lvl2pPr>
    <a:lvl3pPr algn="l" eaLnBrk="0" fontAlgn="base" hangingPunct="0" indent="0" latinLnBrk="0" marL="9144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Times New Roman" pitchFamily="18" charset="0"/>
      </a:defRPr>
    </a:lvl3pPr>
    <a:lvl4pPr algn="l" eaLnBrk="0" fontAlgn="base" hangingPunct="0" indent="0" latinLnBrk="0" marL="13716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Times New Roman" pitchFamily="18" charset="0"/>
      </a:defRPr>
    </a:lvl4pPr>
    <a:lvl5pPr algn="l" eaLnBrk="0" fontAlgn="base" hangingPunct="0" indent="0" latinLnBrk="0" marL="18288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Times New Roman" pitchFamily="18" charset="0"/>
      </a:defRPr>
    </a:lvl5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"1.0" encoding="UTF-8" standalone="yes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"1.0" encoding="UTF-8" standalone="yes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"1.0" encoding="UTF-8" standalone="yes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"1.0" encoding="UTF-8" standalone="yes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"1.0" encoding="UTF-8" standalone="yes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"1.0" encoding="UTF-8" standalone="yes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"1.0" encoding="UTF-8" standalone="yes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"1.0" encoding="UTF-8" standalone="yes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"1.0" encoding="UTF-8" standalone="yes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"1.0" encoding="UTF-8" standalone="yes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"1.0" encoding="UTF-8" standalone="yes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"1.0" encoding="UTF-8" standalone="yes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"1.0" encoding="UTF-8" standalone="yes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"1.0" encoding="UTF-8" standalone="yes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_rels/notesSlide57.xml.rels><?xml version="1.0" encoding="UTF-8" standalone="yes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58.xml.rels><?xml version="1.0" encoding="UTF-8" standalone="yes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59.xml.rels><?xml version="1.0" encoding="UTF-8" standalone="yes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</Relationships>
</file>

<file path=ppt/notesSlides/_rels/notesSlide60.xml.rels><?xml version="1.0" encoding="UTF-8" standalone="yes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</file>

<file path=ppt/notesSlides/_rels/notesSlide61.xml.rels><?xml version="1.0" encoding="UTF-8" standalone="yes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</file>

<file path=ppt/notesSlides/_rels/notesSlide62.xml.rels><?xml version="1.0" encoding="UTF-8" standalone="yes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</Relationships>
</file>

<file path=ppt/notesSlides/_rels/notesSlide63.xml.rels><?xml version="1.0" encoding="UTF-8" standalone="yes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</Relationships>
</file>

<file path=ppt/notesSlides/_rels/notesSlide64.xml.rels><?xml version="1.0" encoding="UTF-8" standalone="yes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_rels/notesSlide65.xml.rels><?xml version="1.0" encoding="UTF-8" standalone="yes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</Relationships>
</file>

<file path=ppt/notesSlides/_rels/notesSlide6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</Relationships>
</file>

<file path=ppt/notesSlides/_rels/notesSlide67.xml.rels><?xml version="1.0" encoding="UTF-8" standalone="yes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</Relationships>
</file>

<file path=ppt/notesSlides/_rels/notesSlide68.xml.rels><?xml version="1.0" encoding="UTF-8" standalone="yes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</Relationships>
</file>

<file path=ppt/notesSlides/_rels/notesSlide69.xml.rels><?xml version="1.0" encoding="UTF-8" standalone="yes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</Relationships>
</file>

<file path=ppt/notesSlides/_rels/notesSlide70.xml.rels><?xml version="1.0" encoding="UTF-8" standalone="yes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</Relationships>
</file>

<file path=ppt/notesSlides/_rels/notesSlide71.xml.rels><?xml version="1.0" encoding="UTF-8" standalone="yes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</Relationships>
</file>

<file path=ppt/notesSlides/_rels/notesSlide72.xml.rels><?xml version="1.0" encoding="UTF-8" standalone="yes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</Relationships>
</file>

<file path=ppt/notesSlides/_rels/notesSlide73.xml.rels><?xml version="1.0" encoding="UTF-8" standalone="yes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</Relationships>
</file>

<file path=ppt/notesSlides/_rels/notesSlide74.xml.rels><?xml version="1.0" encoding="UTF-8" standalone="yes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</Relationships>
</file>

<file path=ppt/notesSlides/_rels/notesSlide75.xml.rels><?xml version="1.0" encoding="UTF-8" standalone="yes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</Relationships>
</file>

<file path=ppt/notesSlides/_rels/notesSlide76.xml.rels><?xml version="1.0" encoding="UTF-8" standalone="yes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</Relationships>
</file>

<file path=ppt/notesSlides/_rels/notesSlide7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</Relationships>
</file>

<file path=ppt/notesSlides/_rels/notesSlide78.xml.rels><?xml version="1.0" encoding="UTF-8" standalone="yes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1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42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43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7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48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49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5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56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57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1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62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63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8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69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70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5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76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77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1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82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83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4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95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96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0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01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702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7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08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709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4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15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716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22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23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724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31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32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733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37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38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739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6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37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38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0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21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22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5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06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07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7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588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589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6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597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598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2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13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14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9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30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631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45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46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747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2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53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754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8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59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760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66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67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768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73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74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775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81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82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783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90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91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792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99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800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801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06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807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808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15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816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817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24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825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826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33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834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835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40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841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842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52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853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854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62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863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864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71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872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873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78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879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880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84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885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886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90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891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892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96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897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898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02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903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904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08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909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910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14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915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916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21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922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923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30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931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932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38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939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940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45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946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947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51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952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953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57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958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959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63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964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965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69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970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971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75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976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977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81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982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983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87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988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989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94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995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8996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00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01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02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06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07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08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12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13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14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18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19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20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24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25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26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30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31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32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35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36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37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41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42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43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49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50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51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55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56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57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62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63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64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69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70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71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76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77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78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83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84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85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90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91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92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96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097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098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02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103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104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09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110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111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15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116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117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23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124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125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31" name="Slide Image Placeholder 1"/>
          <p:cNvSpPr/>
          <p:nvPr>
            <p:ph type="sldImg" sz="full" idx="0"/>
          </p:nvPr>
        </p:nvSpPr>
        <p:spPr bwMode="auto">
          <a:xfrm rot="0">
            <a:off x="1371600" y="1143000"/>
            <a:ext cx="4114800" cy="30861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9132" name="Notes Placeholder 2"/>
          <p:cNvSpPr/>
          <p:nvPr>
            <p:ph type="body" sz="full" idx="1"/>
          </p:nvPr>
        </p:nvSpPr>
        <p:spPr bwMode="auto">
          <a:xfrm rot="0">
            <a:off x="685800" y="4400550"/>
            <a:ext cx="5486400" cy="360045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endParaRPr altLang="en-US" lang="en-US"/>
          </a:p>
        </p:txBody>
      </p:sp>
      <p:sp>
        <p:nvSpPr>
          <p:cNvPr id="1049133" name="Slide Number Placeholder 3"/>
          <p:cNvSpPr txBox="1"/>
          <p:nvPr/>
        </p:nvSpPr>
        <p:spPr>
          <a:xfrm rot="0">
            <a:off x="3884612" y="8685212"/>
            <a:ext cx="2971800" cy="458787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lvl="0"/>
            <a:fld id="{566ABCEB-ACFC-4714-9973-3DA970169C29}" type="slidenum">
              <a:rPr altLang="en-US" sz="1200" lang="en-US"/>
              <a:pPr algn="r" lvl="0"/>
            </a:fld>
            <a:endParaRPr altLang="en-US" sz="1200"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48586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4913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6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49137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/>
            </a:lvl1pPr>
            <a:lvl2pPr indent="0" marL="457200">
              <a:buNone/>
              <a:defRPr sz="1800"/>
            </a:lvl2pPr>
            <a:lvl3pPr indent="0" marL="914400">
              <a:buNone/>
              <a:defRPr sz="1600"/>
            </a:lvl3pPr>
            <a:lvl4pPr indent="0" marL="1371600">
              <a:buNone/>
              <a:defRPr sz="1400"/>
            </a:lvl4pPr>
            <a:lvl5pPr indent="0" marL="1828800">
              <a:buNone/>
              <a:defRPr sz="1400"/>
            </a:lvl5pPr>
            <a:lvl6pPr indent="0" marL="2286000">
              <a:buNone/>
              <a:defRPr sz="1400"/>
            </a:lvl6pPr>
            <a:lvl7pPr indent="0" marL="2743200">
              <a:buNone/>
              <a:defRPr sz="1400"/>
            </a:lvl7pPr>
            <a:lvl8pPr indent="0" marL="3200400">
              <a:buNone/>
              <a:defRPr sz="1400"/>
            </a:lvl8pPr>
            <a:lvl9pPr indent="0" marL="365760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49139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14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49142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43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14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45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3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3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7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49148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9149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4915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anchor="t" anchorCtr="0" bIns="45720" compatLnSpc="1" lIns="91440" numCol="1" rIns="91440" tIns="45720" vert="horz" wrap="square">
            <a:prstTxWarp prst="textNoShape"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baseline="0" b="0" cap="none" sz="3200" i="0" kern="0" kumimoji="0" lang="en-GB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915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4915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5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4915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4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6" name="Rectangle 2"/>
          <p:cNvSpPr/>
          <p:nvPr>
            <p:ph type="title" sz="full" idx="0"/>
          </p:nvPr>
        </p:nvSpPr>
        <p:spPr>
          <a:xfrm rot="0">
            <a:off x="685800" y="609600"/>
            <a:ext cx="77724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p>
            <a:pPr lvl="0"/>
            <a:r>
              <a:rPr altLang="en-US" lang="en-US"/>
              <a:t>Click to edit Master title style</a:t>
            </a:r>
          </a:p>
        </p:txBody>
      </p:sp>
      <p:sp>
        <p:nvSpPr>
          <p:cNvPr id="1048577" name="Rectangle 3"/>
          <p:cNvSpPr/>
          <p:nvPr>
            <p:ph type="body" sz="full" idx="1"/>
          </p:nvPr>
        </p:nvSpPr>
        <p:spPr>
          <a:xfrm rot="0">
            <a:off x="685800" y="1981200"/>
            <a:ext cx="7772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578" name="Rectangle 4"/>
          <p:cNvSpPr/>
          <p:nvPr>
            <p:ph type="dt" sz="half" idx="2"/>
          </p:nvPr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eaLnBrk="1" hangingPunct="1" lvl="0"/>
            <a:endParaRPr altLang="en-US" sz="1400" lang="en-US"/>
          </a:p>
        </p:txBody>
      </p:sp>
      <p:sp>
        <p:nvSpPr>
          <p:cNvPr id="1048579" name="Rectangle 5"/>
          <p:cNvSpPr/>
          <p:nvPr>
            <p:ph type="ftr" sz="quarter" idx="3"/>
          </p:nvPr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ctr" eaLnBrk="1" hangingPunct="1" lvl="0"/>
            <a:endParaRPr altLang="en-US" sz="1400" lang="en-US"/>
          </a:p>
        </p:txBody>
      </p:sp>
      <p:sp>
        <p:nvSpPr>
          <p:cNvPr id="1048580" name="Rectangle 6"/>
          <p:cNvSpPr/>
          <p:nvPr>
            <p:ph type="sldNum" sz="quarter" idx="4"/>
          </p:nvPr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1" fontAlgn="base" hangingPunct="1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1" fontAlgn="base" hangingPunct="1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1" fontAlgn="base" hangingPunct="1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1" fontAlgn="base" hangingPunct="1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lvl="0"/>
            <a:fld id="{566ABCEB-ACFC-4714-9973-3DA970169C29}" type="slidenum">
              <a:rPr altLang="en-US" sz="1400" lang="en-US"/>
              <a:pPr algn="r" eaLnBrk="1" hangingPunct="1" lvl="0"/>
            </a:fld>
            <a:endParaRPr altLang="en-US" sz="1400" lang="en-US"/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algn="ctr" fontAlgn="base" marL="4572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algn="ctr" fontAlgn="base" marL="9144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algn="ctr" fontAlgn="base" marL="13716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algn="ctr" fontAlgn="base" marL="18288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algn="l" fontAlgn="base" indent="-228600" marL="25146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algn="l" fontAlgn="base" indent="-228600" marL="29718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algn="l" fontAlgn="base" indent="-228600" marL="34290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algn="l" fontAlgn="base" indent="-228600" marL="3886200" rtl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1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9" name="Rectangle 2"/>
          <p:cNvSpPr/>
          <p:nvPr>
            <p:ph type="ctrTitle" sz="full" idx="0"/>
          </p:nvPr>
        </p:nvSpPr>
        <p:spPr>
          <a:xfrm rot="0">
            <a:off x="685800" y="1916112"/>
            <a:ext cx="7772400" cy="1143000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ctr">
              <a:defRPr sz="4400"/>
            </a:lvl1pPr>
          </a:lstStyle>
          <a:p>
            <a:pPr eaLnBrk="1" hangingPunct="1" lvl="0"/>
            <a:r>
              <a:rPr altLang="en-US" b="1" i="1" lang="en-US">
                <a:solidFill>
                  <a:srgbClr val="32946A"/>
                </a:solidFill>
              </a:rPr>
              <a:t>CSE  4101</a:t>
            </a:r>
            <a:br>
              <a:rPr altLang="en-US" b="1" i="1" lang="en-US">
                <a:solidFill>
                  <a:srgbClr val="32946A"/>
                </a:solidFill>
              </a:rPr>
            </a:br>
            <a:r>
              <a:rPr altLang="en-US" b="1" i="1" lang="en-US">
                <a:solidFill>
                  <a:srgbClr val="32946A"/>
                </a:solidFill>
              </a:rPr>
              <a:t>Lecture 11</a:t>
            </a:r>
            <a:br>
              <a:rPr altLang="en-US" b="1" i="1" lang="en-US">
                <a:solidFill>
                  <a:srgbClr val="0070C0"/>
                </a:solidFill>
              </a:rPr>
            </a:br>
            <a:r>
              <a:rPr altLang="en-US" b="1" sz="3200" i="1" lang="en-US">
                <a:solidFill>
                  <a:srgbClr val="0070C0"/>
                </a:solidFill>
              </a:rPr>
              <a:t>Topic: Game Theory</a:t>
            </a:r>
            <a:br>
              <a:rPr altLang="en-US" b="1" sz="3200" i="1" lang="en-US">
                <a:solidFill>
                  <a:srgbClr val="0070C0"/>
                </a:solidFill>
              </a:rPr>
            </a:br>
            <a:endParaRPr altLang="en-US" sz="3200" i="1" lang="en-US"/>
          </a:p>
        </p:txBody>
      </p:sp>
      <p:sp>
        <p:nvSpPr>
          <p:cNvPr id="1048640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1</a:t>
            </a:fld>
            <a:endParaRPr altLang="en-US" sz="1400" lang="en-US"/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1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4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2</a:t>
            </a:fld>
            <a:endParaRPr altLang="en-US" sz="1400" lang="en-US"/>
          </a:p>
        </p:txBody>
      </p:sp>
      <p:sp>
        <p:nvSpPr>
          <p:cNvPr id="1048645" name="TextBox 5"/>
          <p:cNvSpPr txBox="1"/>
          <p:nvPr/>
        </p:nvSpPr>
        <p:spPr>
          <a:xfrm rot="0">
            <a:off x="503237" y="1782762"/>
            <a:ext cx="8137525" cy="31400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-457200" lvl="0" marL="457200">
              <a:spcBef>
                <a:spcPct val="0"/>
              </a:spcBef>
            </a:pPr>
            <a:r>
              <a:rPr altLang="en-US" sz="2200" lang="en-US">
                <a:latin typeface="Comic Sans MS" pitchFamily="66" charset="0"/>
              </a:rPr>
              <a:t>Game theory is the study of mathematical models of strategic interaction among rational agents.</a:t>
            </a:r>
          </a:p>
          <a:p>
            <a:pPr algn="just" indent="-457200" lvl="0" marL="457200">
              <a:spcBef>
                <a:spcPct val="0"/>
              </a:spcBef>
            </a:pPr>
            <a:endParaRPr altLang="en-US" sz="2200" lang="en-US">
              <a:latin typeface="Comic Sans MS" pitchFamily="66" charset="0"/>
            </a:endParaRPr>
          </a:p>
          <a:p>
            <a:pPr algn="just" indent="-457200" lvl="0" marL="457200">
              <a:spcBef>
                <a:spcPct val="0"/>
              </a:spcBef>
            </a:pPr>
            <a:r>
              <a:rPr altLang="en-US" sz="2200" lang="en-US">
                <a:latin typeface="Comic Sans MS" pitchFamily="66" charset="0"/>
              </a:rPr>
              <a:t>Games</a:t>
            </a:r>
          </a:p>
          <a:p>
            <a:pPr algn="just" indent="-457200" lvl="0" marL="457200">
              <a:spcBef>
                <a:spcPct val="0"/>
              </a:spcBef>
              <a:buFontTx/>
              <a:buNone/>
            </a:pPr>
            <a:endParaRPr altLang="en-US" sz="2200" lang="en-US">
              <a:latin typeface="Comic Sans MS" pitchFamily="66" charset="0"/>
            </a:endParaRPr>
          </a:p>
          <a:p>
            <a:pPr algn="just" indent="-445770" lvl="1" marL="742950">
              <a:spcBef>
                <a:spcPct val="0"/>
              </a:spcBef>
            </a:pPr>
            <a:r>
              <a:rPr altLang="en-US" sz="2200" lang="en-US">
                <a:latin typeface="Comic Sans MS" pitchFamily="66" charset="0"/>
              </a:rPr>
              <a:t>Players: Decision-making agents.</a:t>
            </a:r>
          </a:p>
          <a:p>
            <a:pPr algn="just" indent="-445770" lvl="1" marL="742950">
              <a:spcBef>
                <a:spcPct val="0"/>
              </a:spcBef>
            </a:pPr>
            <a:r>
              <a:rPr altLang="en-US" sz="2200" lang="en-US">
                <a:latin typeface="Comic Sans MS" pitchFamily="66" charset="0"/>
              </a:rPr>
              <a:t>Strategies: Complete plan of actions a player may take.</a:t>
            </a:r>
          </a:p>
          <a:p>
            <a:pPr algn="just" indent="-445770" lvl="1" marL="742950">
              <a:spcBef>
                <a:spcPct val="0"/>
              </a:spcBef>
            </a:pPr>
            <a:r>
              <a:rPr altLang="en-US" sz="2200" lang="en-US">
                <a:latin typeface="Comic Sans MS" pitchFamily="66" charset="0"/>
              </a:rPr>
              <a:t>Payoffs (Utilities): Rewards each player receives depending on strategy profile.</a:t>
            </a:r>
          </a:p>
        </p:txBody>
      </p:sp>
      <p:sp>
        <p:nvSpPr>
          <p:cNvPr id="1048646" name="TextBox 12"/>
          <p:cNvSpPr txBox="1"/>
          <p:nvPr/>
        </p:nvSpPr>
        <p:spPr>
          <a:xfrm rot="0">
            <a:off x="2124075" y="765175"/>
            <a:ext cx="6013450" cy="5842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lang="en-US">
                <a:solidFill>
                  <a:srgbClr val="0070C0"/>
                </a:solidFill>
                <a:latin typeface="Comic Sans MS" pitchFamily="66" charset="0"/>
              </a:rPr>
              <a:t>Game theory-Introduction</a:t>
            </a:r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1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0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3</a:t>
            </a:fld>
            <a:endParaRPr altLang="en-US" sz="1400" lang="en-US"/>
          </a:p>
        </p:txBody>
      </p:sp>
      <p:sp>
        <p:nvSpPr>
          <p:cNvPr id="1048651" name="TextBox 5"/>
          <p:cNvSpPr txBox="1"/>
          <p:nvPr/>
        </p:nvSpPr>
        <p:spPr>
          <a:xfrm rot="0">
            <a:off x="503237" y="941387"/>
            <a:ext cx="8137525" cy="19383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Two players: A (row player) and B (column player). Each has two strategies: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A: Up (U) or Down (D)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B: Left (L) or Right (R)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endParaRPr altLang="en-US" sz="2000" lang="en-US">
              <a:latin typeface="Comic Sans MS" pitchFamily="66" charset="0"/>
            </a:endParaRP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Payoff matrix:</a:t>
            </a:r>
          </a:p>
        </p:txBody>
      </p:sp>
      <p:pic>
        <p:nvPicPr>
          <p:cNvPr id="2097160" name="Picture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132137" y="2349500"/>
            <a:ext cx="2441575" cy="2009775"/>
          </a:xfrm>
          <a:prstGeom prst="rect"/>
          <a:noFill/>
          <a:ln>
            <a:noFill/>
          </a:ln>
        </p:spPr>
      </p:pic>
      <p:sp>
        <p:nvSpPr>
          <p:cNvPr id="1048652" name="TextBox 9"/>
          <p:cNvSpPr txBox="1"/>
          <p:nvPr/>
        </p:nvSpPr>
        <p:spPr>
          <a:xfrm rot="0">
            <a:off x="503237" y="4478337"/>
            <a:ext cx="4122737" cy="1016000"/>
          </a:xfrm>
          <a:prstGeom prst="rect"/>
          <a:solidFill>
            <a:srgbClr val="F2F2F2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2000" lang="en-US">
                <a:latin typeface="Comic Sans MS" pitchFamily="66" charset="0"/>
              </a:rPr>
              <a:t>Players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Player A → chooses U or D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Player B → chooses L or R</a:t>
            </a:r>
          </a:p>
        </p:txBody>
      </p:sp>
      <p:sp>
        <p:nvSpPr>
          <p:cNvPr id="1048653" name="TextBox 11"/>
          <p:cNvSpPr txBox="1"/>
          <p:nvPr/>
        </p:nvSpPr>
        <p:spPr>
          <a:xfrm rot="0">
            <a:off x="4876800" y="4478337"/>
            <a:ext cx="3763962" cy="1016000"/>
          </a:xfrm>
          <a:prstGeom prst="rect"/>
          <a:solidFill>
            <a:srgbClr val="F2F2F2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2000" lang="en-US">
                <a:latin typeface="Comic Sans MS" pitchFamily="66" charset="0"/>
              </a:rPr>
              <a:t>Strategies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A’s strategy set = {U, D}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B’s strategy set = {L, R}</a:t>
            </a:r>
          </a:p>
        </p:txBody>
      </p:sp>
      <p:sp>
        <p:nvSpPr>
          <p:cNvPr id="1048654" name="TextBox 12"/>
          <p:cNvSpPr txBox="1"/>
          <p:nvPr/>
        </p:nvSpPr>
        <p:spPr>
          <a:xfrm rot="0">
            <a:off x="2051050" y="298450"/>
            <a:ext cx="6013450" cy="5842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lang="en-US">
                <a:solidFill>
                  <a:srgbClr val="0070C0"/>
                </a:solidFill>
                <a:latin typeface="Comic Sans MS" pitchFamily="66" charset="0"/>
              </a:rPr>
              <a:t>Game theory-Introduction</a:t>
            </a:r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2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8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4</a:t>
            </a:fld>
            <a:endParaRPr altLang="en-US" sz="1400" lang="en-US"/>
          </a:p>
        </p:txBody>
      </p:sp>
      <p:sp>
        <p:nvSpPr>
          <p:cNvPr id="1048659" name="TextBox 5"/>
          <p:cNvSpPr txBox="1"/>
          <p:nvPr/>
        </p:nvSpPr>
        <p:spPr>
          <a:xfrm rot="0">
            <a:off x="412750" y="3421062"/>
            <a:ext cx="8318500" cy="1938337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Payoffs (Utilities)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endParaRPr altLang="en-US" sz="2000" lang="en-US">
              <a:latin typeface="Comic Sans MS" pitchFamily="66" charset="0"/>
            </a:endParaRPr>
          </a:p>
          <a:p>
            <a:pPr algn="just" indent="0" lvl="0" marL="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If A chooses U and B chooses L → (4, 2) → A gets 4, B gets 2</a:t>
            </a:r>
          </a:p>
          <a:p>
            <a:pPr algn="just" indent="0" lvl="0" marL="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If A chooses U and B chooses R → (1, 3) → A gets 1, B gets 3</a:t>
            </a:r>
          </a:p>
          <a:p>
            <a:pPr algn="just" indent="0" lvl="0" marL="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If A chooses D and B chooses L → (3, 1) → A gets 3, B gets 1</a:t>
            </a:r>
          </a:p>
          <a:p>
            <a:pPr algn="just" indent="0" lvl="0" marL="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If A chooses D and B chooses R → (2, 2) → A gets 2, B gets 2</a:t>
            </a:r>
          </a:p>
        </p:txBody>
      </p:sp>
      <p:pic>
        <p:nvPicPr>
          <p:cNvPr id="2097161" name="Picture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987675" y="1147762"/>
            <a:ext cx="2441575" cy="2011362"/>
          </a:xfrm>
          <a:prstGeom prst="rect"/>
          <a:noFill/>
          <a:ln>
            <a:noFill/>
          </a:ln>
        </p:spPr>
      </p:pic>
      <p:sp>
        <p:nvSpPr>
          <p:cNvPr id="1048660" name="TextBox 12"/>
          <p:cNvSpPr txBox="1"/>
          <p:nvPr/>
        </p:nvSpPr>
        <p:spPr>
          <a:xfrm rot="0">
            <a:off x="1908175" y="327025"/>
            <a:ext cx="6013450" cy="5842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lang="en-US">
                <a:solidFill>
                  <a:srgbClr val="0070C0"/>
                </a:solidFill>
                <a:latin typeface="Comic Sans MS" pitchFamily="66" charset="0"/>
              </a:rPr>
              <a:t>Game theory-Introduction</a:t>
            </a:r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2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4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5</a:t>
            </a:fld>
            <a:endParaRPr altLang="en-US" sz="1400" lang="en-US"/>
          </a:p>
        </p:txBody>
      </p:sp>
      <p:sp>
        <p:nvSpPr>
          <p:cNvPr id="1048665" name="TextBox 5"/>
          <p:cNvSpPr txBox="1"/>
          <p:nvPr/>
        </p:nvSpPr>
        <p:spPr>
          <a:xfrm rot="0">
            <a:off x="395287" y="692150"/>
            <a:ext cx="8137525" cy="27082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endParaRPr altLang="en-US" sz="2400" lang="en-US">
              <a:latin typeface="Comic Sans MS" pitchFamily="66" charset="0"/>
            </a:endParaRPr>
          </a:p>
          <a:p>
            <a:pPr algn="just" indent="0" lvl="0" marL="0">
              <a:spcBef>
                <a:spcPct val="0"/>
              </a:spcBef>
            </a:pPr>
            <a:r>
              <a:rPr altLang="en-US" sz="2200" lang="en-US">
                <a:latin typeface="Comic Sans MS" pitchFamily="66" charset="0"/>
              </a:rPr>
              <a:t>    </a:t>
            </a:r>
            <a:r>
              <a:rPr altLang="en-US" sz="2000" lang="en-US">
                <a:latin typeface="Comic Sans MS" pitchFamily="66" charset="0"/>
              </a:rPr>
              <a:t>A dominant strategy is one that is best for a player no matter what the others do.</a:t>
            </a:r>
          </a:p>
          <a:p>
            <a:pPr algn="just" indent="0" lvl="0" marL="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    If every player has a dominant strategy and they all play them → that outcome is called a Dominant Strategy Equilibrium.</a:t>
            </a:r>
          </a:p>
          <a:p>
            <a:pPr algn="just" indent="0" lvl="0" marL="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    Stronger condition than Nash Equilibrium, because it does not depend on what others do.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endParaRPr altLang="en-US" sz="2400" lang="en-US">
              <a:latin typeface="Comic Sans MS" pitchFamily="66" charset="0"/>
            </a:endParaRPr>
          </a:p>
        </p:txBody>
      </p:sp>
      <p:sp>
        <p:nvSpPr>
          <p:cNvPr id="1048666" name="TextBox 12"/>
          <p:cNvSpPr txBox="1"/>
          <p:nvPr/>
        </p:nvSpPr>
        <p:spPr>
          <a:xfrm rot="0">
            <a:off x="395287" y="260350"/>
            <a:ext cx="8137525" cy="5238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Dominant Strategy Equilibrium (DSE)</a:t>
            </a:r>
          </a:p>
        </p:txBody>
      </p:sp>
      <p:sp>
        <p:nvSpPr>
          <p:cNvPr id="1048667" name="TextBox 12"/>
          <p:cNvSpPr txBox="1"/>
          <p:nvPr/>
        </p:nvSpPr>
        <p:spPr>
          <a:xfrm rot="0">
            <a:off x="393700" y="2997200"/>
            <a:ext cx="8064500" cy="10160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b="1" sz="2000" lang="en-US" u="sng">
                <a:latin typeface="Comic Sans MS" pitchFamily="66" charset="0"/>
              </a:rPr>
              <a:t>Example: Advertising Game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Two competing firms (</a:t>
            </a:r>
            <a:r>
              <a:rPr altLang="en-US" b="1" sz="2000" lang="en-US">
                <a:latin typeface="Comic Sans MS" pitchFamily="66" charset="0"/>
              </a:rPr>
              <a:t>Firm A</a:t>
            </a:r>
            <a:r>
              <a:rPr altLang="en-US" sz="2000" lang="en-US">
                <a:latin typeface="Comic Sans MS" pitchFamily="66" charset="0"/>
              </a:rPr>
              <a:t> and </a:t>
            </a:r>
            <a:r>
              <a:rPr altLang="en-US" b="1" sz="2000" lang="en-US">
                <a:latin typeface="Comic Sans MS" pitchFamily="66" charset="0"/>
              </a:rPr>
              <a:t>Firm B</a:t>
            </a:r>
            <a:r>
              <a:rPr altLang="en-US" sz="2000" lang="en-US">
                <a:latin typeface="Comic Sans MS" pitchFamily="66" charset="0"/>
              </a:rPr>
              <a:t>) must decide whether to </a:t>
            </a:r>
            <a:r>
              <a:rPr altLang="en-US" b="1" sz="2000" lang="en-US">
                <a:latin typeface="Comic Sans MS" pitchFamily="66" charset="0"/>
              </a:rPr>
              <a:t>Advertise (Ad)</a:t>
            </a:r>
            <a:r>
              <a:rPr altLang="en-US" sz="2000" lang="en-US">
                <a:latin typeface="Comic Sans MS" pitchFamily="66" charset="0"/>
              </a:rPr>
              <a:t> or </a:t>
            </a:r>
            <a:r>
              <a:rPr altLang="en-US" b="1" sz="2000" lang="en-US">
                <a:latin typeface="Comic Sans MS" pitchFamily="66" charset="0"/>
              </a:rPr>
              <a:t>Not Advertise (NoAd)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</p:txBody>
      </p:sp>
      <p:pic>
        <p:nvPicPr>
          <p:cNvPr id="2097162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411412" y="4365625"/>
            <a:ext cx="3116262" cy="20764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2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1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6</a:t>
            </a:fld>
            <a:endParaRPr altLang="en-US" sz="1400" lang="en-US"/>
          </a:p>
        </p:txBody>
      </p:sp>
      <p:sp>
        <p:nvSpPr>
          <p:cNvPr id="1048672" name="TextBox 12"/>
          <p:cNvSpPr txBox="1"/>
          <p:nvPr/>
        </p:nvSpPr>
        <p:spPr>
          <a:xfrm rot="0">
            <a:off x="395287" y="260350"/>
            <a:ext cx="8137525" cy="5238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Dominant Strategy Equilibrium (DSE)</a:t>
            </a:r>
          </a:p>
        </p:txBody>
      </p:sp>
      <p:sp>
        <p:nvSpPr>
          <p:cNvPr id="1048673" name="TextBox 7"/>
          <p:cNvSpPr txBox="1"/>
          <p:nvPr/>
        </p:nvSpPr>
        <p:spPr>
          <a:xfrm rot="0">
            <a:off x="642937" y="2600325"/>
            <a:ext cx="5905500" cy="1938337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b="1" sz="2000" lang="en-US">
                <a:latin typeface="Comic Sans MS" pitchFamily="66" charset="0"/>
              </a:rPr>
              <a:t>Step 1: Check A’s strategies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If B plays </a:t>
            </a:r>
            <a:r>
              <a:rPr altLang="en-US" b="1" sz="2000" lang="en-US">
                <a:latin typeface="Comic Sans MS" pitchFamily="66" charset="0"/>
              </a:rPr>
              <a:t>Ad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A: Ad → 2, NoAd → 1 → </a:t>
            </a:r>
            <a:r>
              <a:rPr altLang="en-US" b="1" sz="2000" lang="en-US">
                <a:latin typeface="Comic Sans MS" pitchFamily="66" charset="0"/>
              </a:rPr>
              <a:t>Ad better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If B plays </a:t>
            </a:r>
            <a:r>
              <a:rPr altLang="en-US" b="1" sz="2000" lang="en-US">
                <a:latin typeface="Comic Sans MS" pitchFamily="66" charset="0"/>
              </a:rPr>
              <a:t>NoAd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A: Ad → 4, NoAd → 3 → </a:t>
            </a:r>
            <a:r>
              <a:rPr altLang="en-US" b="1" sz="2000" lang="en-US">
                <a:latin typeface="Comic Sans MS" pitchFamily="66" charset="0"/>
              </a:rPr>
              <a:t>Ad better</a:t>
            </a:r>
          </a:p>
          <a:p>
            <a:pPr indent="-445770" lvl="1" marL="742950">
              <a:buChar char="•"/>
            </a:pPr>
            <a:r>
              <a:rPr altLang="en-US" b="1" sz="2000" lang="en-US">
                <a:latin typeface="Comic Sans MS" pitchFamily="66" charset="0"/>
              </a:rPr>
              <a:t>Ad is dominant</a:t>
            </a:r>
            <a:r>
              <a:rPr altLang="en-US" sz="2000" lang="en-US">
                <a:latin typeface="Comic Sans MS" pitchFamily="66" charset="0"/>
              </a:rPr>
              <a:t> for A.</a:t>
            </a:r>
          </a:p>
        </p:txBody>
      </p:sp>
      <p:sp>
        <p:nvSpPr>
          <p:cNvPr id="1048674" name="TextBox 9"/>
          <p:cNvSpPr txBox="1"/>
          <p:nvPr/>
        </p:nvSpPr>
        <p:spPr>
          <a:xfrm rot="0">
            <a:off x="539750" y="4694237"/>
            <a:ext cx="6008687" cy="1938337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b="1" sz="2000" lang="en-US">
                <a:latin typeface="Comic Sans MS" pitchFamily="66" charset="0"/>
              </a:rPr>
              <a:t>Step 2: Check B’s strategies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If A plays </a:t>
            </a:r>
            <a:r>
              <a:rPr altLang="en-US" b="1" sz="2000" lang="en-US">
                <a:latin typeface="Comic Sans MS" pitchFamily="66" charset="0"/>
              </a:rPr>
              <a:t>Ad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B: Ad → 2, NoAd → 1 → </a:t>
            </a:r>
            <a:r>
              <a:rPr altLang="en-US" b="1" sz="2000" lang="en-US">
                <a:latin typeface="Comic Sans MS" pitchFamily="66" charset="0"/>
              </a:rPr>
              <a:t>Ad better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If A plays </a:t>
            </a:r>
            <a:r>
              <a:rPr altLang="en-US" b="1" sz="2000" lang="en-US">
                <a:latin typeface="Comic Sans MS" pitchFamily="66" charset="0"/>
              </a:rPr>
              <a:t>NoAd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B: Ad → 4, NoAd → 3 → </a:t>
            </a:r>
            <a:r>
              <a:rPr altLang="en-US" b="1" sz="2000" lang="en-US">
                <a:latin typeface="Comic Sans MS" pitchFamily="66" charset="0"/>
              </a:rPr>
              <a:t>Ad better</a:t>
            </a:r>
          </a:p>
          <a:p>
            <a:pPr indent="-445770" lvl="1" marL="742950">
              <a:buChar char="•"/>
            </a:pPr>
            <a:r>
              <a:rPr altLang="en-US" b="1" sz="2000" lang="en-US">
                <a:latin typeface="Comic Sans MS" pitchFamily="66" charset="0"/>
              </a:rPr>
              <a:t>Ad is dominant</a:t>
            </a:r>
            <a:r>
              <a:rPr altLang="en-US" sz="2000" lang="en-US">
                <a:latin typeface="Comic Sans MS" pitchFamily="66" charset="0"/>
              </a:rPr>
              <a:t> for B.</a:t>
            </a:r>
          </a:p>
        </p:txBody>
      </p:sp>
      <p:pic>
        <p:nvPicPr>
          <p:cNvPr id="2097163" name="Picture 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484437" y="731837"/>
            <a:ext cx="2728912" cy="18208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3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8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7</a:t>
            </a:fld>
            <a:endParaRPr altLang="en-US" sz="1400" lang="en-US"/>
          </a:p>
        </p:txBody>
      </p:sp>
      <p:sp>
        <p:nvSpPr>
          <p:cNvPr id="1048679" name="TextBox 12"/>
          <p:cNvSpPr txBox="1"/>
          <p:nvPr/>
        </p:nvSpPr>
        <p:spPr>
          <a:xfrm rot="0">
            <a:off x="395287" y="260350"/>
            <a:ext cx="8137525" cy="5238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Dominant Strategy Equilibrium (DSE)</a:t>
            </a:r>
          </a:p>
        </p:txBody>
      </p:sp>
      <p:sp>
        <p:nvSpPr>
          <p:cNvPr id="1048680" name="TextBox 8"/>
          <p:cNvSpPr txBox="1"/>
          <p:nvPr/>
        </p:nvSpPr>
        <p:spPr>
          <a:xfrm rot="0">
            <a:off x="900112" y="2924175"/>
            <a:ext cx="7488237" cy="1323975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b="1" sz="2000" lang="en-US">
                <a:latin typeface="Comic Sans MS" pitchFamily="66" charset="0"/>
              </a:rPr>
              <a:t>Step 3: Outcome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Both firms have </a:t>
            </a:r>
            <a:r>
              <a:rPr altLang="en-US" b="1" sz="2000" lang="en-US">
                <a:latin typeface="Comic Sans MS" pitchFamily="66" charset="0"/>
              </a:rPr>
              <a:t>dominant strategy = Advertise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So the </a:t>
            </a:r>
            <a:r>
              <a:rPr altLang="en-US" b="1" sz="2000" lang="en-US">
                <a:latin typeface="Comic Sans MS" pitchFamily="66" charset="0"/>
              </a:rPr>
              <a:t>Dominant Strategy Equilibrium</a:t>
            </a:r>
            <a:r>
              <a:rPr altLang="en-US" sz="2000" lang="en-US">
                <a:latin typeface="Comic Sans MS" pitchFamily="66" charset="0"/>
              </a:rPr>
              <a:t> is </a:t>
            </a:r>
            <a:r>
              <a:rPr altLang="en-US" b="1" sz="2000" lang="en-US">
                <a:latin typeface="Comic Sans MS" pitchFamily="66" charset="0"/>
              </a:rPr>
              <a:t>(Ad, Ad)</a:t>
            </a:r>
            <a:r>
              <a:rPr altLang="en-US" sz="2000" lang="en-US">
                <a:latin typeface="Comic Sans MS" pitchFamily="66" charset="0"/>
              </a:rPr>
              <a:t> with payoffs </a:t>
            </a:r>
            <a:r>
              <a:rPr altLang="en-US" b="1" sz="2000" lang="en-US">
                <a:latin typeface="Comic Sans MS" pitchFamily="66" charset="0"/>
              </a:rPr>
              <a:t>(2, 2)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</p:txBody>
      </p:sp>
      <p:pic>
        <p:nvPicPr>
          <p:cNvPr id="2097164" name="Picture 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484437" y="731837"/>
            <a:ext cx="2728912" cy="18208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3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4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8</a:t>
            </a:fld>
            <a:endParaRPr altLang="en-US" sz="1400" lang="en-US"/>
          </a:p>
        </p:txBody>
      </p:sp>
      <p:sp>
        <p:nvSpPr>
          <p:cNvPr id="1048685" name="TextBox 6"/>
          <p:cNvSpPr txBox="1"/>
          <p:nvPr/>
        </p:nvSpPr>
        <p:spPr>
          <a:xfrm rot="0">
            <a:off x="539750" y="2968625"/>
            <a:ext cx="6246812" cy="13239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 u="sng">
                <a:latin typeface="Comic Sans MS" pitchFamily="66" charset="0"/>
              </a:rPr>
              <a:t>Example Game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Two players (A and B) each have two strategies: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    A can play Up (U) or Down (D).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    B can play Left (L) or Right (R).</a:t>
            </a:r>
          </a:p>
        </p:txBody>
      </p:sp>
      <p:sp>
        <p:nvSpPr>
          <p:cNvPr id="1048686" name="TextBox 10"/>
          <p:cNvSpPr txBox="1"/>
          <p:nvPr/>
        </p:nvSpPr>
        <p:spPr>
          <a:xfrm rot="0">
            <a:off x="539750" y="6024562"/>
            <a:ext cx="8137525" cy="430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(First number = payoff for A, second number = payoff for B)</a:t>
            </a:r>
          </a:p>
        </p:txBody>
      </p:sp>
      <p:sp>
        <p:nvSpPr>
          <p:cNvPr id="1048687" name="TextBox 7"/>
          <p:cNvSpPr txBox="1"/>
          <p:nvPr/>
        </p:nvSpPr>
        <p:spPr>
          <a:xfrm rot="0">
            <a:off x="250825" y="1041400"/>
            <a:ext cx="8135937" cy="16303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-342900" lvl="0" marL="34290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A </a:t>
            </a:r>
            <a:r>
              <a:rPr altLang="en-US" b="1" sz="2000" lang="en-US">
                <a:latin typeface="Comic Sans MS" pitchFamily="66" charset="0"/>
              </a:rPr>
              <a:t>Nash Equilibrium</a:t>
            </a:r>
            <a:r>
              <a:rPr altLang="en-US" sz="2000" lang="en-US">
                <a:latin typeface="Comic Sans MS" pitchFamily="66" charset="0"/>
              </a:rPr>
              <a:t> is a set of strategies where </a:t>
            </a:r>
            <a:r>
              <a:rPr altLang="en-US" b="1" sz="2000" lang="en-US">
                <a:latin typeface="Comic Sans MS" pitchFamily="66" charset="0"/>
              </a:rPr>
              <a:t>no player can improve by unilaterally deviating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  <a:p>
            <a:pPr algn="just" indent="-342900" lvl="0" marL="34290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Weaker condition than DSE: you don’t need a strategy that’s always best, only one that’s best </a:t>
            </a:r>
            <a:r>
              <a:rPr altLang="en-US" b="1" sz="2000" lang="en-US">
                <a:latin typeface="Comic Sans MS" pitchFamily="66" charset="0"/>
              </a:rPr>
              <a:t>given what others are doing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  <a:p>
            <a:pPr algn="just" indent="-342900" lvl="0" marL="34290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Every DSE is also an NE, but not every NE is a DSE.</a:t>
            </a:r>
          </a:p>
        </p:txBody>
      </p:sp>
      <p:sp>
        <p:nvSpPr>
          <p:cNvPr id="1048688" name="TextBox 12"/>
          <p:cNvSpPr txBox="1"/>
          <p:nvPr/>
        </p:nvSpPr>
        <p:spPr>
          <a:xfrm rot="0">
            <a:off x="503237" y="457200"/>
            <a:ext cx="8137525" cy="5238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Nash Equilibrium (NE)</a:t>
            </a:r>
          </a:p>
        </p:txBody>
      </p:sp>
      <p:pic>
        <p:nvPicPr>
          <p:cNvPr id="2097165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895600" y="4457700"/>
            <a:ext cx="2846387" cy="15668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3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9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9</a:t>
            </a:fld>
            <a:endParaRPr altLang="en-US" sz="1400" lang="en-US"/>
          </a:p>
        </p:txBody>
      </p:sp>
      <p:sp>
        <p:nvSpPr>
          <p:cNvPr id="1048690" name="TextBox 7"/>
          <p:cNvSpPr txBox="1"/>
          <p:nvPr/>
        </p:nvSpPr>
        <p:spPr>
          <a:xfrm rot="0">
            <a:off x="325437" y="2595562"/>
            <a:ext cx="8137525" cy="4318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(First number = payoff for A, second number = payoff for B)</a:t>
            </a:r>
          </a:p>
        </p:txBody>
      </p:sp>
      <p:sp>
        <p:nvSpPr>
          <p:cNvPr id="1048691" name="TextBox 8"/>
          <p:cNvSpPr txBox="1"/>
          <p:nvPr/>
        </p:nvSpPr>
        <p:spPr>
          <a:xfrm rot="0">
            <a:off x="395287" y="3017837"/>
            <a:ext cx="6554787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Step 1: Find A’s Dominant Strategy</a:t>
            </a:r>
          </a:p>
        </p:txBody>
      </p:sp>
      <p:sp>
        <p:nvSpPr>
          <p:cNvPr id="1048692" name="TextBox 10"/>
          <p:cNvSpPr txBox="1"/>
          <p:nvPr/>
        </p:nvSpPr>
        <p:spPr>
          <a:xfrm rot="0">
            <a:off x="395287" y="3427412"/>
            <a:ext cx="8353425" cy="31702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Step 1: Find A’s Dominant Strategy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Look at </a:t>
            </a:r>
            <a:r>
              <a:rPr altLang="en-US" b="1" sz="2000" lang="en-US">
                <a:latin typeface="Comic Sans MS" pitchFamily="66" charset="0"/>
              </a:rPr>
              <a:t>A’s payoffs (first numbers)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indent="-274320" lvl="1" marL="457200">
              <a:spcBef>
                <a:spcPct val="0"/>
              </a:spcBef>
              <a:buChar char="•"/>
            </a:pPr>
            <a:r>
              <a:rPr altLang="en-US" sz="2000" lang="en-US">
                <a:latin typeface="Comic Sans MS" pitchFamily="66" charset="0"/>
              </a:rPr>
              <a:t>If </a:t>
            </a:r>
            <a:r>
              <a:rPr altLang="en-US" b="1" sz="2000" lang="en-US">
                <a:latin typeface="Comic Sans MS" pitchFamily="66" charset="0"/>
              </a:rPr>
              <a:t>B plays L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indent="-480060" lvl="2" marL="120015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A: U → 4</a:t>
            </a:r>
          </a:p>
          <a:p>
            <a:pPr indent="-480060" lvl="2" marL="120015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A: D → 3 → </a:t>
            </a:r>
            <a:r>
              <a:rPr altLang="en-US" b="1" sz="2000" lang="en-US">
                <a:latin typeface="Comic Sans MS" pitchFamily="66" charset="0"/>
              </a:rPr>
              <a:t>U is better</a:t>
            </a:r>
          </a:p>
          <a:p>
            <a:pPr indent="-274320" lvl="1" marL="457200">
              <a:spcBef>
                <a:spcPct val="0"/>
              </a:spcBef>
              <a:buChar char="•"/>
            </a:pPr>
            <a:r>
              <a:rPr altLang="en-US" sz="2000" lang="en-US">
                <a:latin typeface="Comic Sans MS" pitchFamily="66" charset="0"/>
              </a:rPr>
              <a:t>If </a:t>
            </a:r>
            <a:r>
              <a:rPr altLang="en-US" b="1" sz="2000" lang="en-US">
                <a:latin typeface="Comic Sans MS" pitchFamily="66" charset="0"/>
              </a:rPr>
              <a:t>B plays R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indent="-480060" lvl="2" marL="120015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A: U → 1</a:t>
            </a:r>
          </a:p>
          <a:p>
            <a:pPr indent="-480060" lvl="2" marL="120015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A: D → 2 → </a:t>
            </a:r>
            <a:r>
              <a:rPr altLang="en-US" b="1" sz="2000" lang="en-US">
                <a:latin typeface="Comic Sans MS" pitchFamily="66" charset="0"/>
              </a:rPr>
              <a:t>D is better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A has </a:t>
            </a:r>
            <a:r>
              <a:rPr altLang="en-US" b="1" sz="2000" lang="en-US">
                <a:latin typeface="Comic Sans MS" pitchFamily="66" charset="0"/>
              </a:rPr>
              <a:t>no dominant strategy</a:t>
            </a:r>
            <a:r>
              <a:rPr altLang="en-US" sz="2000" lang="en-US">
                <a:latin typeface="Comic Sans MS" pitchFamily="66" charset="0"/>
              </a:rPr>
              <a:t>, because the best choice depends on what B does.</a:t>
            </a:r>
          </a:p>
        </p:txBody>
      </p:sp>
      <p:sp>
        <p:nvSpPr>
          <p:cNvPr id="1048693" name="TextBox 12"/>
          <p:cNvSpPr txBox="1"/>
          <p:nvPr/>
        </p:nvSpPr>
        <p:spPr>
          <a:xfrm rot="0">
            <a:off x="395287" y="403225"/>
            <a:ext cx="8137525" cy="5222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Nash Equilibrium (NE)</a:t>
            </a:r>
          </a:p>
        </p:txBody>
      </p:sp>
      <p:pic>
        <p:nvPicPr>
          <p:cNvPr id="2097166" name="Picture 7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71775" y="1004887"/>
            <a:ext cx="2844800" cy="15668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4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7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10</a:t>
            </a:fld>
            <a:endParaRPr altLang="en-US" sz="1400" lang="en-US"/>
          </a:p>
        </p:txBody>
      </p:sp>
      <p:sp>
        <p:nvSpPr>
          <p:cNvPr id="1048698" name="TextBox 10"/>
          <p:cNvSpPr txBox="1"/>
          <p:nvPr/>
        </p:nvSpPr>
        <p:spPr>
          <a:xfrm rot="0">
            <a:off x="631825" y="3213100"/>
            <a:ext cx="7804150" cy="31702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Step 2: Find B’s Dominant Strategy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Look at </a:t>
            </a:r>
            <a:r>
              <a:rPr altLang="en-US" b="1" sz="2000" lang="en-US">
                <a:latin typeface="Comic Sans MS" pitchFamily="66" charset="0"/>
              </a:rPr>
              <a:t>B’s payoffs (second numbers)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algn="just" indent="-274320" lvl="1" marL="457200">
              <a:spcBef>
                <a:spcPct val="0"/>
              </a:spcBef>
              <a:buChar char="•"/>
            </a:pPr>
            <a:r>
              <a:rPr altLang="en-US" sz="2000" lang="en-US">
                <a:latin typeface="Comic Sans MS" pitchFamily="66" charset="0"/>
              </a:rPr>
              <a:t>If </a:t>
            </a:r>
            <a:r>
              <a:rPr altLang="en-US" b="1" sz="2000" lang="en-US">
                <a:latin typeface="Comic Sans MS" pitchFamily="66" charset="0"/>
              </a:rPr>
              <a:t>A plays U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algn="just" indent="-480060" lvl="2" marL="120015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B: L → 2</a:t>
            </a:r>
          </a:p>
          <a:p>
            <a:pPr algn="just" indent="-480060" lvl="2" marL="120015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B: R → 3 → </a:t>
            </a:r>
            <a:r>
              <a:rPr altLang="en-US" b="1" sz="2000" lang="en-US">
                <a:latin typeface="Comic Sans MS" pitchFamily="66" charset="0"/>
              </a:rPr>
              <a:t>R is better</a:t>
            </a:r>
          </a:p>
          <a:p>
            <a:pPr algn="just" indent="-274320" lvl="1" marL="457200">
              <a:spcBef>
                <a:spcPct val="0"/>
              </a:spcBef>
              <a:buChar char="•"/>
            </a:pPr>
            <a:r>
              <a:rPr altLang="en-US" sz="2000" lang="en-US">
                <a:latin typeface="Comic Sans MS" pitchFamily="66" charset="0"/>
              </a:rPr>
              <a:t>If </a:t>
            </a:r>
            <a:r>
              <a:rPr altLang="en-US" b="1" sz="2000" lang="en-US">
                <a:latin typeface="Comic Sans MS" pitchFamily="66" charset="0"/>
              </a:rPr>
              <a:t>A plays D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algn="just" indent="-480060" lvl="2" marL="120015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B: L → 1</a:t>
            </a:r>
          </a:p>
          <a:p>
            <a:pPr algn="just" indent="-480060" lvl="2" marL="120015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B: R → 2 → </a:t>
            </a:r>
            <a:r>
              <a:rPr altLang="en-US" b="1" sz="2000" lang="en-US">
                <a:latin typeface="Comic Sans MS" pitchFamily="66" charset="0"/>
              </a:rPr>
              <a:t>R is better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B has a dominant strategy: R</a:t>
            </a:r>
            <a:r>
              <a:rPr altLang="en-US" sz="2000" lang="en-US">
                <a:latin typeface="Comic Sans MS" pitchFamily="66" charset="0"/>
              </a:rPr>
              <a:t>, because it’s always better regardless of A’s move.</a:t>
            </a:r>
          </a:p>
        </p:txBody>
      </p:sp>
      <p:sp>
        <p:nvSpPr>
          <p:cNvPr id="1048699" name="TextBox 12"/>
          <p:cNvSpPr txBox="1"/>
          <p:nvPr/>
        </p:nvSpPr>
        <p:spPr>
          <a:xfrm rot="0">
            <a:off x="395287" y="403225"/>
            <a:ext cx="8137525" cy="5222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Nash Equilibrium (NE)</a:t>
            </a:r>
          </a:p>
        </p:txBody>
      </p:sp>
      <p:pic>
        <p:nvPicPr>
          <p:cNvPr id="2097167" name="Picture 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71775" y="1004887"/>
            <a:ext cx="3425825" cy="18859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4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3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11</a:t>
            </a:fld>
            <a:endParaRPr altLang="en-US" sz="1400" lang="en-US"/>
          </a:p>
        </p:txBody>
      </p:sp>
      <p:sp>
        <p:nvSpPr>
          <p:cNvPr id="1048704" name="TextBox 9"/>
          <p:cNvSpPr txBox="1"/>
          <p:nvPr/>
        </p:nvSpPr>
        <p:spPr>
          <a:xfrm rot="0">
            <a:off x="468312" y="2727325"/>
            <a:ext cx="7632700" cy="16319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Step 3: Nash Equilibrium</a:t>
            </a:r>
          </a:p>
          <a:p>
            <a:pPr algn="just" indent="0" lvl="0" marL="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Since B will always play </a:t>
            </a:r>
            <a:r>
              <a:rPr altLang="en-US" b="1" sz="2000" lang="en-US">
                <a:latin typeface="Comic Sans MS" pitchFamily="66" charset="0"/>
              </a:rPr>
              <a:t>R</a:t>
            </a:r>
            <a:r>
              <a:rPr altLang="en-US" sz="2000" lang="en-US">
                <a:latin typeface="Comic Sans MS" pitchFamily="66" charset="0"/>
              </a:rPr>
              <a:t>, A looks at the </a:t>
            </a:r>
            <a:r>
              <a:rPr altLang="en-US" b="1" sz="2000" lang="en-US">
                <a:latin typeface="Comic Sans MS" pitchFamily="66" charset="0"/>
              </a:rPr>
              <a:t>R column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algn="just" indent="-445770" lvl="1" marL="742950">
              <a:spcBef>
                <a:spcPct val="0"/>
              </a:spcBef>
              <a:buChar char="•"/>
            </a:pPr>
            <a:r>
              <a:rPr altLang="en-US" sz="2000" lang="en-US">
                <a:latin typeface="Comic Sans MS" pitchFamily="66" charset="0"/>
              </a:rPr>
              <a:t>A: U → 1</a:t>
            </a:r>
          </a:p>
          <a:p>
            <a:pPr algn="just" indent="-445770" lvl="1" marL="742950">
              <a:spcBef>
                <a:spcPct val="0"/>
              </a:spcBef>
              <a:buChar char="•"/>
            </a:pPr>
            <a:r>
              <a:rPr altLang="en-US" sz="2000" lang="en-US">
                <a:latin typeface="Comic Sans MS" pitchFamily="66" charset="0"/>
              </a:rPr>
              <a:t>A: D → 2 → </a:t>
            </a:r>
            <a:r>
              <a:rPr altLang="en-US" b="1" sz="2000" lang="en-US">
                <a:latin typeface="Comic Sans MS" pitchFamily="66" charset="0"/>
              </a:rPr>
              <a:t>A chooses D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So the Nash Equilibrium is </a:t>
            </a:r>
            <a:r>
              <a:rPr altLang="en-US" b="1" sz="2000" lang="en-US">
                <a:latin typeface="Comic Sans MS" pitchFamily="66" charset="0"/>
              </a:rPr>
              <a:t>(A: D, B: R)</a:t>
            </a:r>
            <a:r>
              <a:rPr altLang="en-US" sz="2000" lang="en-US">
                <a:latin typeface="Comic Sans MS" pitchFamily="66" charset="0"/>
              </a:rPr>
              <a:t> with payoffs </a:t>
            </a:r>
            <a:r>
              <a:rPr altLang="en-US" b="1" sz="2000" lang="en-US">
                <a:latin typeface="Comic Sans MS" pitchFamily="66" charset="0"/>
              </a:rPr>
              <a:t>(2, 2)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</p:txBody>
      </p:sp>
      <p:sp>
        <p:nvSpPr>
          <p:cNvPr id="1048705" name="TextBox 11"/>
          <p:cNvSpPr txBox="1"/>
          <p:nvPr/>
        </p:nvSpPr>
        <p:spPr>
          <a:xfrm rot="0">
            <a:off x="395287" y="4527550"/>
            <a:ext cx="7848600" cy="16319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-342900" lvl="0" marL="34290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A dominant strategy is found by comparing payoffs </a:t>
            </a:r>
            <a:r>
              <a:rPr altLang="en-US" b="1" sz="2000" lang="en-US">
                <a:latin typeface="Comic Sans MS" pitchFamily="66" charset="0"/>
              </a:rPr>
              <a:t>row by row (for A)</a:t>
            </a:r>
            <a:r>
              <a:rPr altLang="en-US" sz="2000" lang="en-US">
                <a:latin typeface="Comic Sans MS" pitchFamily="66" charset="0"/>
              </a:rPr>
              <a:t> or </a:t>
            </a:r>
            <a:r>
              <a:rPr altLang="en-US" b="1" sz="2000" lang="en-US">
                <a:latin typeface="Comic Sans MS" pitchFamily="66" charset="0"/>
              </a:rPr>
              <a:t>column by column (for B)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  <a:p>
            <a:pPr algn="just" indent="-342900" lvl="0" marL="34290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In this example, </a:t>
            </a:r>
            <a:r>
              <a:rPr altLang="en-US" b="1" sz="2000" lang="en-US">
                <a:latin typeface="Comic Sans MS" pitchFamily="66" charset="0"/>
              </a:rPr>
              <a:t>B has a dominant strategy (R)</a:t>
            </a:r>
            <a:r>
              <a:rPr altLang="en-US" sz="2000" lang="en-US">
                <a:latin typeface="Comic Sans MS" pitchFamily="66" charset="0"/>
              </a:rPr>
              <a:t>, but </a:t>
            </a:r>
            <a:r>
              <a:rPr altLang="en-US" b="1" sz="2000" lang="en-US">
                <a:latin typeface="Comic Sans MS" pitchFamily="66" charset="0"/>
              </a:rPr>
              <a:t>A does not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  <a:p>
            <a:pPr algn="just" indent="-342900" lvl="0" marL="34290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This is the unique pure-strategy NE for this game.</a:t>
            </a:r>
          </a:p>
        </p:txBody>
      </p:sp>
      <p:sp>
        <p:nvSpPr>
          <p:cNvPr id="1048706" name="TextBox 12"/>
          <p:cNvSpPr txBox="1"/>
          <p:nvPr/>
        </p:nvSpPr>
        <p:spPr>
          <a:xfrm rot="0">
            <a:off x="395287" y="403225"/>
            <a:ext cx="8137525" cy="5222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Nash Equilibrium (NE)</a:t>
            </a:r>
          </a:p>
        </p:txBody>
      </p:sp>
      <p:pic>
        <p:nvPicPr>
          <p:cNvPr id="2097168" name="Picture 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059112" y="1116012"/>
            <a:ext cx="2828925" cy="155733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4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0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12</a:t>
            </a:fld>
            <a:endParaRPr altLang="en-US" sz="1400" lang="en-US"/>
          </a:p>
        </p:txBody>
      </p:sp>
      <p:sp>
        <p:nvSpPr>
          <p:cNvPr id="1048711" name="TextBox 12"/>
          <p:cNvSpPr txBox="1"/>
          <p:nvPr/>
        </p:nvSpPr>
        <p:spPr>
          <a:xfrm rot="0">
            <a:off x="395287" y="403225"/>
            <a:ext cx="8137525" cy="5222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Nash Equilibrium (NE) - Battle of the Sexes</a:t>
            </a:r>
          </a:p>
        </p:txBody>
      </p:sp>
      <p:sp>
        <p:nvSpPr>
          <p:cNvPr id="1048712" name="TextBox 7"/>
          <p:cNvSpPr txBox="1"/>
          <p:nvPr/>
        </p:nvSpPr>
        <p:spPr>
          <a:xfrm rot="0">
            <a:off x="539750" y="1112837"/>
            <a:ext cx="7561262" cy="25542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b="1" sz="2000" lang="en-US">
                <a:latin typeface="Comic Sans MS" pitchFamily="66" charset="0"/>
              </a:rPr>
              <a:t>Story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Two players: </a:t>
            </a:r>
            <a:r>
              <a:rPr altLang="en-US" b="1" sz="2000" lang="en-US">
                <a:latin typeface="Comic Sans MS" pitchFamily="66" charset="0"/>
              </a:rPr>
              <a:t>A</a:t>
            </a:r>
            <a:r>
              <a:rPr altLang="en-US" sz="2000" lang="en-US">
                <a:latin typeface="Comic Sans MS" pitchFamily="66" charset="0"/>
              </a:rPr>
              <a:t> (say, husband) and </a:t>
            </a:r>
            <a:r>
              <a:rPr altLang="en-US" b="1" sz="2000" lang="en-US">
                <a:latin typeface="Comic Sans MS" pitchFamily="66" charset="0"/>
              </a:rPr>
              <a:t>B</a:t>
            </a:r>
            <a:r>
              <a:rPr altLang="en-US" sz="2000" lang="en-US">
                <a:latin typeface="Comic Sans MS" pitchFamily="66" charset="0"/>
              </a:rPr>
              <a:t> (say, wife).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They want to spend time together, but they </a:t>
            </a:r>
            <a:r>
              <a:rPr altLang="en-US" b="1" sz="2000" lang="en-US">
                <a:latin typeface="Comic Sans MS" pitchFamily="66" charset="0"/>
              </a:rPr>
              <a:t>disagree on the preferred activity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algn="just"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A prefers </a:t>
            </a:r>
            <a:r>
              <a:rPr altLang="en-US" b="1" sz="2000" lang="en-US">
                <a:latin typeface="Comic Sans MS" pitchFamily="66" charset="0"/>
              </a:rPr>
              <a:t>Opera (O)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  <a:p>
            <a:pPr algn="just"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B prefers </a:t>
            </a:r>
            <a:r>
              <a:rPr altLang="en-US" b="1" sz="2000" lang="en-US">
                <a:latin typeface="Comic Sans MS" pitchFamily="66" charset="0"/>
              </a:rPr>
              <a:t>Football (F)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  <a:p>
            <a:pPr algn="just" lvl="0">
              <a:buChar char="•"/>
            </a:pPr>
            <a:r>
              <a:rPr altLang="en-US" b="1" sz="2000" lang="en-US">
                <a:latin typeface="Comic Sans MS" pitchFamily="66" charset="0"/>
              </a:rPr>
              <a:t>Being together</a:t>
            </a:r>
            <a:r>
              <a:rPr altLang="en-US" sz="2000" lang="en-US">
                <a:latin typeface="Comic Sans MS" pitchFamily="66" charset="0"/>
              </a:rPr>
              <a:t> is more important than the individual preference.</a:t>
            </a:r>
          </a:p>
        </p:txBody>
      </p:sp>
      <p:sp>
        <p:nvSpPr>
          <p:cNvPr id="1048713" name="TextBox 10"/>
          <p:cNvSpPr txBox="1"/>
          <p:nvPr/>
        </p:nvSpPr>
        <p:spPr>
          <a:xfrm rot="0">
            <a:off x="573087" y="3779837"/>
            <a:ext cx="2198687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Payoff Matrix</a:t>
            </a:r>
          </a:p>
        </p:txBody>
      </p:sp>
      <p:pic>
        <p:nvPicPr>
          <p:cNvPr id="2097169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874962" y="3544887"/>
            <a:ext cx="3695700" cy="283527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4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7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13</a:t>
            </a:fld>
            <a:endParaRPr altLang="en-US" sz="1400" lang="en-US"/>
          </a:p>
        </p:txBody>
      </p:sp>
      <p:sp>
        <p:nvSpPr>
          <p:cNvPr id="1048718" name="TextBox 12"/>
          <p:cNvSpPr txBox="1"/>
          <p:nvPr/>
        </p:nvSpPr>
        <p:spPr>
          <a:xfrm rot="0">
            <a:off x="468312" y="119062"/>
            <a:ext cx="8137525" cy="5238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Nash Equilibrium (NE) - Battle of the Sexes</a:t>
            </a:r>
          </a:p>
        </p:txBody>
      </p:sp>
      <p:sp>
        <p:nvSpPr>
          <p:cNvPr id="1048719" name="TextBox 7"/>
          <p:cNvSpPr txBox="1"/>
          <p:nvPr/>
        </p:nvSpPr>
        <p:spPr>
          <a:xfrm rot="0">
            <a:off x="468312" y="2409825"/>
            <a:ext cx="7199312" cy="1939925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Numbers = payoffs (A,B).</a:t>
            </a:r>
          </a:p>
          <a:p>
            <a:pPr algn="just"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If they coordinate on Opera → A gets 2 (happy), B gets 1 (less happy but still together).</a:t>
            </a:r>
          </a:p>
          <a:p>
            <a:pPr algn="just"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If they coordinate on Football → A gets 1, B gets 2.</a:t>
            </a:r>
          </a:p>
          <a:p>
            <a:pPr algn="just"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If they choose different → payoff = (0,0) (they’re apart).</a:t>
            </a:r>
          </a:p>
        </p:txBody>
      </p:sp>
      <p:sp>
        <p:nvSpPr>
          <p:cNvPr id="1048720" name="TextBox 11"/>
          <p:cNvSpPr txBox="1"/>
          <p:nvPr/>
        </p:nvSpPr>
        <p:spPr>
          <a:xfrm rot="0">
            <a:off x="468312" y="4510087"/>
            <a:ext cx="7199312" cy="1323975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If B chooses O → A’s best is O.</a:t>
            </a:r>
          </a:p>
          <a:p>
            <a:pPr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If B chooses F → A’s best is F.</a:t>
            </a:r>
          </a:p>
          <a:p>
            <a:pPr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If A chooses O → B’s best is O.</a:t>
            </a:r>
          </a:p>
          <a:p>
            <a:pPr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If A chooses F → B’s best is F.</a:t>
            </a:r>
          </a:p>
        </p:txBody>
      </p:sp>
      <p:sp>
        <p:nvSpPr>
          <p:cNvPr id="1048721" name="TextBox 14"/>
          <p:cNvSpPr txBox="1"/>
          <p:nvPr/>
        </p:nvSpPr>
        <p:spPr>
          <a:xfrm rot="0">
            <a:off x="431800" y="5959475"/>
            <a:ext cx="7200900" cy="708025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Two Nash equilibria: (O,O) and (F,F).</a:t>
            </a:r>
          </a:p>
          <a:p>
            <a:pPr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But no dominant strategy equilibrium.</a:t>
            </a:r>
          </a:p>
        </p:txBody>
      </p:sp>
      <p:pic>
        <p:nvPicPr>
          <p:cNvPr id="2097170" name="Picture 8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132137" y="642937"/>
            <a:ext cx="2095500" cy="16065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5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25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14</a:t>
            </a:fld>
            <a:endParaRPr altLang="en-US" sz="1400" lang="en-US"/>
          </a:p>
        </p:txBody>
      </p:sp>
      <p:sp>
        <p:nvSpPr>
          <p:cNvPr id="1048726" name="TextBox 12"/>
          <p:cNvSpPr txBox="1"/>
          <p:nvPr/>
        </p:nvSpPr>
        <p:spPr>
          <a:xfrm rot="0">
            <a:off x="395287" y="403225"/>
            <a:ext cx="4681537" cy="5222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Prisoner’s Dilemma (PD)</a:t>
            </a:r>
          </a:p>
        </p:txBody>
      </p:sp>
      <p:sp>
        <p:nvSpPr>
          <p:cNvPr id="1048727" name="TextBox 4"/>
          <p:cNvSpPr txBox="1"/>
          <p:nvPr/>
        </p:nvSpPr>
        <p:spPr>
          <a:xfrm rot="0">
            <a:off x="395287" y="1052512"/>
            <a:ext cx="8062912" cy="25542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b="1" sz="2000" lang="en-US" u="sng">
                <a:latin typeface="Comic Sans MS" pitchFamily="66" charset="0"/>
              </a:rPr>
              <a:t>Story Setup</a:t>
            </a:r>
          </a:p>
          <a:p>
            <a:pPr algn="just" lvl="0"/>
            <a:r>
              <a:rPr altLang="en-US" sz="2000" lang="en-US">
                <a:latin typeface="Comic Sans MS" pitchFamily="66" charset="0"/>
              </a:rPr>
              <a:t>Two suspects (</a:t>
            </a:r>
            <a:r>
              <a:rPr altLang="en-US" b="1" sz="2000" lang="en-US">
                <a:latin typeface="Comic Sans MS" pitchFamily="66" charset="0"/>
              </a:rPr>
              <a:t>Prisoner A</a:t>
            </a:r>
            <a:r>
              <a:rPr altLang="en-US" sz="2000" lang="en-US">
                <a:latin typeface="Comic Sans MS" pitchFamily="66" charset="0"/>
              </a:rPr>
              <a:t> and </a:t>
            </a:r>
            <a:r>
              <a:rPr altLang="en-US" b="1" sz="2000" lang="en-US">
                <a:latin typeface="Comic Sans MS" pitchFamily="66" charset="0"/>
              </a:rPr>
              <a:t>Prisoner B</a:t>
            </a:r>
            <a:r>
              <a:rPr altLang="en-US" sz="2000" lang="en-US">
                <a:latin typeface="Comic Sans MS" pitchFamily="66" charset="0"/>
              </a:rPr>
              <a:t>) are arrested for a crime.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They are interrogated separately, so they </a:t>
            </a:r>
            <a:r>
              <a:rPr altLang="en-US" b="1" sz="2000" lang="en-US">
                <a:latin typeface="Comic Sans MS" pitchFamily="66" charset="0"/>
              </a:rPr>
              <a:t>cannot communicate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Each has two options:</a:t>
            </a:r>
          </a:p>
          <a:p>
            <a:pPr algn="just" indent="-445770" lvl="1" marL="742950">
              <a:buChar char="•"/>
            </a:pPr>
            <a:r>
              <a:rPr altLang="en-US" b="1" sz="2000" lang="en-US">
                <a:latin typeface="Comic Sans MS" pitchFamily="66" charset="0"/>
              </a:rPr>
              <a:t>Cooperate (C)</a:t>
            </a:r>
            <a:r>
              <a:rPr altLang="en-US" sz="2000" lang="en-US">
                <a:latin typeface="Comic Sans MS" pitchFamily="66" charset="0"/>
              </a:rPr>
              <a:t> → Stay silent.</a:t>
            </a:r>
          </a:p>
          <a:p>
            <a:pPr algn="just" indent="-445770" lvl="1" marL="742950">
              <a:buChar char="•"/>
            </a:pPr>
            <a:r>
              <a:rPr altLang="en-US" b="1" sz="2000" lang="en-US">
                <a:latin typeface="Comic Sans MS" pitchFamily="66" charset="0"/>
              </a:rPr>
              <a:t>Defect (D)</a:t>
            </a:r>
            <a:r>
              <a:rPr altLang="en-US" sz="2000" lang="en-US">
                <a:latin typeface="Comic Sans MS" pitchFamily="66" charset="0"/>
              </a:rPr>
              <a:t> → Betray the other (confess and blame).</a:t>
            </a:r>
          </a:p>
        </p:txBody>
      </p:sp>
      <p:sp>
        <p:nvSpPr>
          <p:cNvPr id="1048728" name="TextBox 6"/>
          <p:cNvSpPr txBox="1"/>
          <p:nvPr/>
        </p:nvSpPr>
        <p:spPr>
          <a:xfrm rot="0">
            <a:off x="323850" y="3619500"/>
            <a:ext cx="2160587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Payoff Matrix</a:t>
            </a:r>
          </a:p>
        </p:txBody>
      </p:sp>
      <p:sp>
        <p:nvSpPr>
          <p:cNvPr id="1048729" name="TextBox 8"/>
          <p:cNvSpPr txBox="1"/>
          <p:nvPr/>
        </p:nvSpPr>
        <p:spPr>
          <a:xfrm rot="0">
            <a:off x="423862" y="4030662"/>
            <a:ext cx="7820025" cy="7080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Let’s assign numbers to outcomes (bigger = better payoff, e.g. shorter prison sentence).</a:t>
            </a:r>
          </a:p>
        </p:txBody>
      </p:sp>
      <p:sp>
        <p:nvSpPr>
          <p:cNvPr id="1048730" name="TextBox 12"/>
          <p:cNvSpPr txBox="1"/>
          <p:nvPr/>
        </p:nvSpPr>
        <p:spPr>
          <a:xfrm rot="0">
            <a:off x="504825" y="6186487"/>
            <a:ext cx="6048375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(First number = A’s payoff, second = B’s payoff)</a:t>
            </a:r>
          </a:p>
        </p:txBody>
      </p:sp>
      <p:pic>
        <p:nvPicPr>
          <p:cNvPr id="2097171" name="Picture 8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311525" y="4581525"/>
            <a:ext cx="2628900" cy="162083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5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34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15</a:t>
            </a:fld>
            <a:endParaRPr altLang="en-US" sz="1400" lang="en-US"/>
          </a:p>
        </p:txBody>
      </p:sp>
      <p:sp>
        <p:nvSpPr>
          <p:cNvPr id="1048735" name="TextBox 12"/>
          <p:cNvSpPr txBox="1"/>
          <p:nvPr/>
        </p:nvSpPr>
        <p:spPr>
          <a:xfrm rot="0">
            <a:off x="395287" y="403225"/>
            <a:ext cx="4681537" cy="5222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Prisoner’s Dilemma (PD)</a:t>
            </a:r>
          </a:p>
        </p:txBody>
      </p:sp>
      <p:sp>
        <p:nvSpPr>
          <p:cNvPr id="1048736" name="TextBox 8"/>
          <p:cNvSpPr txBox="1"/>
          <p:nvPr/>
        </p:nvSpPr>
        <p:spPr>
          <a:xfrm rot="0">
            <a:off x="425450" y="3716337"/>
            <a:ext cx="8061325" cy="2862262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2000" lang="en-US">
                <a:latin typeface="Comic Sans MS" pitchFamily="66" charset="0"/>
              </a:rPr>
              <a:t>Interpreting Outcomes</a:t>
            </a:r>
          </a:p>
          <a:p>
            <a:pPr algn="just" lvl="0"/>
            <a:r>
              <a:rPr altLang="en-US" sz="2000" lang="en-US">
                <a:latin typeface="Comic Sans MS" pitchFamily="66" charset="0"/>
              </a:rPr>
              <a:t>(C,C) = (3,3) → Both stay silent → moderate sentence for both (better for society).</a:t>
            </a:r>
          </a:p>
          <a:p>
            <a:pPr algn="just" lvl="0"/>
            <a:r>
              <a:rPr altLang="en-US" sz="2000" lang="en-US">
                <a:latin typeface="Comic Sans MS" pitchFamily="66" charset="0"/>
              </a:rPr>
              <a:t>(C,D) = (0,5) → A cooperates, B defects → A gets worst outcome, B goes free.</a:t>
            </a:r>
          </a:p>
          <a:p>
            <a:pPr algn="just" lvl="0"/>
            <a:r>
              <a:rPr altLang="en-US" sz="2000" lang="en-US">
                <a:latin typeface="Comic Sans MS" pitchFamily="66" charset="0"/>
              </a:rPr>
              <a:t>(D,C) = (5,0) → A defects, B cooperates → A goes free, B gets worst outcome.</a:t>
            </a:r>
          </a:p>
          <a:p>
            <a:pPr algn="just" lvl="0"/>
            <a:r>
              <a:rPr altLang="en-US" sz="2000" lang="en-US">
                <a:latin typeface="Comic Sans MS" pitchFamily="66" charset="0"/>
              </a:rPr>
              <a:t>(D,D) = (1,1) → Both betray → both get bad (but not worst) outcome.</a:t>
            </a:r>
          </a:p>
        </p:txBody>
      </p:sp>
      <p:pic>
        <p:nvPicPr>
          <p:cNvPr id="2097172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124075" y="1011237"/>
            <a:ext cx="4284662" cy="264318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1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2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16</a:t>
            </a:fld>
            <a:endParaRPr altLang="en-US" sz="1400" lang="en-US"/>
          </a:p>
        </p:txBody>
      </p:sp>
      <p:sp>
        <p:nvSpPr>
          <p:cNvPr id="1048633" name="TextBox 12"/>
          <p:cNvSpPr txBox="1"/>
          <p:nvPr/>
        </p:nvSpPr>
        <p:spPr>
          <a:xfrm rot="0">
            <a:off x="395287" y="403225"/>
            <a:ext cx="4681537" cy="5222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Prisoner’s Dilemma (PD)</a:t>
            </a:r>
          </a:p>
        </p:txBody>
      </p:sp>
      <p:sp>
        <p:nvSpPr>
          <p:cNvPr id="1048634" name="TextBox 7"/>
          <p:cNvSpPr txBox="1"/>
          <p:nvPr/>
        </p:nvSpPr>
        <p:spPr>
          <a:xfrm rot="0">
            <a:off x="593725" y="3303587"/>
            <a:ext cx="6911975" cy="1631950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b="1" sz="2000" lang="en-US">
                <a:latin typeface="Comic Sans MS" pitchFamily="66" charset="0"/>
              </a:rPr>
              <a:t>Dominant Strategy Analysis</a:t>
            </a:r>
          </a:p>
          <a:p>
            <a:pPr lvl="0"/>
            <a:r>
              <a:rPr altLang="en-US" sz="2000" lang="en-US">
                <a:latin typeface="Comic Sans MS" pitchFamily="66" charset="0"/>
              </a:rPr>
              <a:t>For A: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If B plays C → A: C=3, D=5 → D better.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If B plays D → A: C=0, D=1 → D better.</a:t>
            </a:r>
          </a:p>
          <a:p>
            <a:pPr indent="-445770" lvl="1" marL="742950">
              <a:buChar char="•"/>
            </a:pPr>
            <a:r>
              <a:rPr altLang="en-US" b="1" sz="2000" lang="en-US">
                <a:latin typeface="Comic Sans MS" pitchFamily="66" charset="0"/>
              </a:rPr>
              <a:t>D is dominant for A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</p:txBody>
      </p:sp>
      <p:sp>
        <p:nvSpPr>
          <p:cNvPr id="1048635" name="TextBox 10"/>
          <p:cNvSpPr txBox="1"/>
          <p:nvPr/>
        </p:nvSpPr>
        <p:spPr>
          <a:xfrm rot="0">
            <a:off x="598487" y="5072062"/>
            <a:ext cx="6926262" cy="1323975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2000" lang="en-US">
                <a:latin typeface="Comic Sans MS" pitchFamily="66" charset="0"/>
              </a:rPr>
              <a:t>For B:</a:t>
            </a:r>
          </a:p>
          <a:p>
            <a:pPr indent="-480060" lvl="1" marL="800100">
              <a:buChar char="•"/>
            </a:pPr>
            <a:r>
              <a:rPr altLang="en-US" sz="2000" lang="en-US">
                <a:latin typeface="Comic Sans MS" pitchFamily="66" charset="0"/>
              </a:rPr>
              <a:t>If A plays C → B: C=3, D=5 → D better.</a:t>
            </a:r>
          </a:p>
          <a:p>
            <a:pPr indent="-480060" lvl="1" marL="800100">
              <a:buChar char="•"/>
            </a:pPr>
            <a:r>
              <a:rPr altLang="en-US" sz="2000" lang="en-US">
                <a:latin typeface="Comic Sans MS" pitchFamily="66" charset="0"/>
              </a:rPr>
              <a:t>If A plays D → B: C=0, D=1 → D better.</a:t>
            </a:r>
          </a:p>
          <a:p>
            <a:pPr indent="-480060" lvl="1" marL="800100">
              <a:buChar char="•"/>
            </a:pPr>
            <a:r>
              <a:rPr altLang="en-US" b="1" sz="2000" lang="en-US">
                <a:latin typeface="Comic Sans MS" pitchFamily="66" charset="0"/>
              </a:rPr>
              <a:t>D is dominant for B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</p:txBody>
      </p:sp>
      <p:pic>
        <p:nvPicPr>
          <p:cNvPr id="2097159" name="Picture 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339975" y="925512"/>
            <a:ext cx="3633787" cy="22415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5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17</a:t>
            </a:fld>
            <a:endParaRPr altLang="en-US" sz="1400" lang="en-US"/>
          </a:p>
        </p:txBody>
      </p:sp>
      <p:sp>
        <p:nvSpPr>
          <p:cNvPr id="1048616" name="TextBox 12"/>
          <p:cNvSpPr txBox="1"/>
          <p:nvPr/>
        </p:nvSpPr>
        <p:spPr>
          <a:xfrm rot="0">
            <a:off x="395287" y="403225"/>
            <a:ext cx="4681537" cy="5222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Prisoner’s Dilemma (PD)</a:t>
            </a:r>
          </a:p>
        </p:txBody>
      </p:sp>
      <p:sp>
        <p:nvSpPr>
          <p:cNvPr id="1048617" name="TextBox 8"/>
          <p:cNvSpPr txBox="1"/>
          <p:nvPr/>
        </p:nvSpPr>
        <p:spPr>
          <a:xfrm rot="0">
            <a:off x="504825" y="2544762"/>
            <a:ext cx="7380287" cy="1016000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b="1" sz="2000" lang="en-US">
                <a:latin typeface="Comic Sans MS" pitchFamily="66" charset="0"/>
              </a:rPr>
              <a:t>Nash Equilibrium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Both players defect → </a:t>
            </a:r>
            <a:r>
              <a:rPr altLang="en-US" b="1" sz="2000" lang="en-US">
                <a:latin typeface="Comic Sans MS" pitchFamily="66" charset="0"/>
              </a:rPr>
              <a:t>(D,D)</a:t>
            </a:r>
            <a:r>
              <a:rPr altLang="en-US" sz="2000" lang="en-US">
                <a:latin typeface="Comic Sans MS" pitchFamily="66" charset="0"/>
              </a:rPr>
              <a:t> with payoffs (1,1).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This is the </a:t>
            </a:r>
            <a:r>
              <a:rPr altLang="en-US" b="1" sz="2000" lang="en-US">
                <a:latin typeface="Comic Sans MS" pitchFamily="66" charset="0"/>
              </a:rPr>
              <a:t>Nash Equilibrium</a:t>
            </a:r>
            <a:r>
              <a:rPr altLang="en-US" sz="2000" lang="en-US">
                <a:latin typeface="Comic Sans MS" pitchFamily="66" charset="0"/>
              </a:rPr>
              <a:t> (mutual best response).</a:t>
            </a:r>
          </a:p>
        </p:txBody>
      </p:sp>
      <p:sp>
        <p:nvSpPr>
          <p:cNvPr id="1048618" name="TextBox 10"/>
          <p:cNvSpPr txBox="1"/>
          <p:nvPr/>
        </p:nvSpPr>
        <p:spPr>
          <a:xfrm rot="0">
            <a:off x="477837" y="3624262"/>
            <a:ext cx="7380287" cy="1631950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b="1" sz="2000" lang="en-US">
                <a:latin typeface="Comic Sans MS" pitchFamily="66" charset="0"/>
              </a:rPr>
              <a:t>The Dilemma</a:t>
            </a:r>
          </a:p>
          <a:p>
            <a:pPr algn="just" lvl="0">
              <a:buChar char="•"/>
            </a:pPr>
            <a:r>
              <a:rPr altLang="en-US" b="1" sz="2000" lang="en-US">
                <a:latin typeface="Comic Sans MS" pitchFamily="66" charset="0"/>
              </a:rPr>
              <a:t>Paradox</a:t>
            </a:r>
            <a:r>
              <a:rPr altLang="en-US" sz="2000" lang="en-US">
                <a:latin typeface="Comic Sans MS" pitchFamily="66" charset="0"/>
              </a:rPr>
              <a:t>: (C,C) gives (3,3), which is </a:t>
            </a:r>
            <a:r>
              <a:rPr altLang="en-US" b="1" sz="2000" lang="en-US">
                <a:latin typeface="Comic Sans MS" pitchFamily="66" charset="0"/>
              </a:rPr>
              <a:t>better for both</a:t>
            </a:r>
            <a:r>
              <a:rPr altLang="en-US" sz="2000" lang="en-US">
                <a:latin typeface="Comic Sans MS" pitchFamily="66" charset="0"/>
              </a:rPr>
              <a:t> than (1,1).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But </a:t>
            </a:r>
            <a:r>
              <a:rPr altLang="en-US" b="1" sz="2000" lang="en-US">
                <a:latin typeface="Comic Sans MS" pitchFamily="66" charset="0"/>
              </a:rPr>
              <a:t>rational self-interest</a:t>
            </a:r>
            <a:r>
              <a:rPr altLang="en-US" sz="2000" lang="en-US">
                <a:latin typeface="Comic Sans MS" pitchFamily="66" charset="0"/>
              </a:rPr>
              <a:t> pushes players to defect → (D,D).</a:t>
            </a:r>
          </a:p>
        </p:txBody>
      </p:sp>
      <p:sp>
        <p:nvSpPr>
          <p:cNvPr id="1048619" name="TextBox 13"/>
          <p:cNvSpPr txBox="1"/>
          <p:nvPr/>
        </p:nvSpPr>
        <p:spPr>
          <a:xfrm rot="0">
            <a:off x="477837" y="5319712"/>
            <a:ext cx="7407275" cy="1323975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In Prisoner’s Dilemma, the </a:t>
            </a:r>
            <a:r>
              <a:rPr altLang="en-US" b="1" sz="2000" lang="en-US">
                <a:latin typeface="Comic Sans MS" pitchFamily="66" charset="0"/>
              </a:rPr>
              <a:t>dominant strategy outcome (D,D)</a:t>
            </a:r>
            <a:r>
              <a:rPr altLang="en-US" sz="2000" lang="en-US">
                <a:latin typeface="Comic Sans MS" pitchFamily="66" charset="0"/>
              </a:rPr>
              <a:t> is also the </a:t>
            </a:r>
            <a:r>
              <a:rPr altLang="en-US" b="1" sz="2000" lang="en-US">
                <a:latin typeface="Comic Sans MS" pitchFamily="66" charset="0"/>
              </a:rPr>
              <a:t>unique Nash equilibrium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  <a:p>
            <a:pPr algn="just"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It is </a:t>
            </a:r>
            <a:r>
              <a:rPr altLang="en-US" b="1" sz="2000" lang="en-US">
                <a:latin typeface="Comic Sans MS" pitchFamily="66" charset="0"/>
              </a:rPr>
              <a:t>not Pareto optimal</a:t>
            </a:r>
            <a:r>
              <a:rPr altLang="en-US" sz="2000" lang="en-US">
                <a:latin typeface="Comic Sans MS" pitchFamily="66" charset="0"/>
              </a:rPr>
              <a:t>, because (C,C) = (3,3) would be better for both.</a:t>
            </a:r>
          </a:p>
        </p:txBody>
      </p:sp>
      <p:pic>
        <p:nvPicPr>
          <p:cNvPr id="2097156" name="Picture 7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586037" y="915987"/>
            <a:ext cx="2481262" cy="15303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9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18</a:t>
            </a:fld>
            <a:endParaRPr altLang="en-US" sz="1400" lang="en-US"/>
          </a:p>
        </p:txBody>
      </p:sp>
      <p:sp>
        <p:nvSpPr>
          <p:cNvPr id="1048600" name="TextBox 12"/>
          <p:cNvSpPr txBox="1"/>
          <p:nvPr/>
        </p:nvSpPr>
        <p:spPr>
          <a:xfrm rot="0">
            <a:off x="395287" y="403225"/>
            <a:ext cx="7561262" cy="5222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Types of Dominance- Strictly dominant</a:t>
            </a:r>
          </a:p>
        </p:txBody>
      </p:sp>
      <p:sp>
        <p:nvSpPr>
          <p:cNvPr id="1048601" name="TextBox 12"/>
          <p:cNvSpPr txBox="1"/>
          <p:nvPr/>
        </p:nvSpPr>
        <p:spPr>
          <a:xfrm rot="0">
            <a:off x="430212" y="1052512"/>
            <a:ext cx="8027987" cy="1939925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A strategy is </a:t>
            </a:r>
            <a:r>
              <a:rPr altLang="en-US" b="1" sz="2000" lang="en-US">
                <a:latin typeface="Comic Sans MS" pitchFamily="66" charset="0"/>
              </a:rPr>
              <a:t>strictly dominant</a:t>
            </a:r>
            <a:r>
              <a:rPr altLang="en-US" sz="2000" lang="en-US">
                <a:latin typeface="Comic Sans MS" pitchFamily="66" charset="0"/>
              </a:rPr>
              <a:t> for a player if it gives that player a </a:t>
            </a:r>
            <a:r>
              <a:rPr altLang="en-US" b="1" sz="2000" lang="en-US">
                <a:latin typeface="Comic Sans MS" pitchFamily="66" charset="0"/>
              </a:rPr>
              <a:t>strictly higher payoff</a:t>
            </a:r>
            <a:r>
              <a:rPr altLang="en-US" sz="2000" lang="en-US">
                <a:latin typeface="Comic Sans MS" pitchFamily="66" charset="0"/>
              </a:rPr>
              <a:t> than any other strategy, </a:t>
            </a:r>
            <a:r>
              <a:rPr altLang="en-US" b="1" sz="2000" lang="en-US">
                <a:latin typeface="Comic Sans MS" pitchFamily="66" charset="0"/>
              </a:rPr>
              <a:t>no matter what the other players do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  <a:p>
            <a:pPr algn="just" indent="-342900" lvl="0" marL="342900">
              <a:buChar char="•"/>
            </a:pPr>
            <a:r>
              <a:rPr altLang="en-US" b="1" sz="2000" lang="en-US">
                <a:latin typeface="Comic Sans MS" pitchFamily="66" charset="0"/>
              </a:rPr>
              <a:t>Strictly better</a:t>
            </a:r>
            <a:r>
              <a:rPr altLang="en-US" sz="2000" lang="en-US">
                <a:latin typeface="Comic Sans MS" pitchFamily="66" charset="0"/>
              </a:rPr>
              <a:t> means </a:t>
            </a:r>
            <a:r>
              <a:rPr altLang="en-US" b="1" sz="2000" lang="en-US">
                <a:latin typeface="Comic Sans MS" pitchFamily="66" charset="0"/>
              </a:rPr>
              <a:t>always greater</a:t>
            </a:r>
            <a:r>
              <a:rPr altLang="en-US" sz="2000" lang="en-US">
                <a:latin typeface="Comic Sans MS" pitchFamily="66" charset="0"/>
              </a:rPr>
              <a:t>, not equal.</a:t>
            </a:r>
          </a:p>
          <a:p>
            <a:pPr algn="just"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If all players have strictly dominant strategies, the game has a </a:t>
            </a:r>
            <a:r>
              <a:rPr altLang="en-US" b="1" sz="2000" lang="en-US">
                <a:latin typeface="Comic Sans MS" pitchFamily="66" charset="0"/>
              </a:rPr>
              <a:t>strictly dominant strategy equilibrium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</p:txBody>
      </p:sp>
      <p:sp>
        <p:nvSpPr>
          <p:cNvPr id="1048602" name="TextBox 14"/>
          <p:cNvSpPr txBox="1"/>
          <p:nvPr/>
        </p:nvSpPr>
        <p:spPr>
          <a:xfrm rot="0">
            <a:off x="558800" y="3117850"/>
            <a:ext cx="8026400" cy="7080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For Player A: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Strategy S</a:t>
            </a:r>
            <a:r>
              <a:rPr altLang="en-US" baseline="-25000" sz="2000" lang="en-US">
                <a:latin typeface="Comic Sans MS" pitchFamily="66" charset="0"/>
              </a:rPr>
              <a:t>₁</a:t>
            </a:r>
            <a:r>
              <a:rPr altLang="en-US" sz="2000" lang="en-US">
                <a:latin typeface="Comic Sans MS" pitchFamily="66" charset="0"/>
              </a:rPr>
              <a:t> is strictly dominant over S</a:t>
            </a:r>
            <a:r>
              <a:rPr altLang="en-US" baseline="-25000" sz="2000" lang="en-US">
                <a:latin typeface="Comic Sans MS" pitchFamily="66" charset="0"/>
              </a:rPr>
              <a:t>₂</a:t>
            </a:r>
            <a:r>
              <a:rPr altLang="en-US" sz="2000" lang="en-US">
                <a:latin typeface="Comic Sans MS" pitchFamily="66" charset="0"/>
              </a:rPr>
              <a:t> if:</a:t>
            </a:r>
          </a:p>
        </p:txBody>
      </p:sp>
      <p:pic>
        <p:nvPicPr>
          <p:cNvPr id="2097154" name="Picture 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070225" y="3954462"/>
            <a:ext cx="2211387" cy="282575"/>
          </a:xfrm>
          <a:prstGeom prst="rect"/>
          <a:noFill/>
          <a:ln>
            <a:noFill/>
          </a:ln>
        </p:spPr>
      </p:pic>
      <p:sp>
        <p:nvSpPr>
          <p:cNvPr id="1048603" name="TextBox 18"/>
          <p:cNvSpPr txBox="1"/>
          <p:nvPr/>
        </p:nvSpPr>
        <p:spPr>
          <a:xfrm rot="0">
            <a:off x="557212" y="4360862"/>
            <a:ext cx="7686675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for every possible strategy profile of the other players s</a:t>
            </a:r>
            <a:r>
              <a:rPr altLang="en-US" baseline="-25000" sz="2000" lang="en-US">
                <a:latin typeface="Comic Sans MS" pitchFamily="66" charset="0"/>
              </a:rPr>
              <a:t>−A</a:t>
            </a:r>
            <a:r>
              <a:rPr altLang="en-US" sz="2000" lang="en-US">
                <a:latin typeface="Comic Sans MS" pitchFamily="66" charset="0"/>
              </a:rPr>
              <a:t>​.</a:t>
            </a:r>
          </a:p>
        </p:txBody>
      </p:sp>
      <p:sp>
        <p:nvSpPr>
          <p:cNvPr id="1048604" name="TextBox 20"/>
          <p:cNvSpPr txBox="1"/>
          <p:nvPr/>
        </p:nvSpPr>
        <p:spPr>
          <a:xfrm rot="0">
            <a:off x="660400" y="4924425"/>
            <a:ext cx="7781925" cy="13223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2000" lang="en-US">
                <a:latin typeface="Comic Sans MS" pitchFamily="66" charset="0"/>
              </a:rPr>
              <a:t>Where: 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u</a:t>
            </a:r>
            <a:r>
              <a:rPr altLang="en-US" baseline="-25000" sz="2000" lang="en-US">
                <a:latin typeface="Comic Sans MS" pitchFamily="66" charset="0"/>
              </a:rPr>
              <a:t>A</a:t>
            </a:r>
            <a:r>
              <a:rPr altLang="en-US" sz="2000" lang="en-US">
                <a:latin typeface="Comic Sans MS" pitchFamily="66" charset="0"/>
              </a:rPr>
              <a:t> = payoff function of Player A 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S</a:t>
            </a:r>
            <a:r>
              <a:rPr altLang="en-US" baseline="-25000" sz="2000" lang="en-US">
                <a:latin typeface="Comic Sans MS" pitchFamily="66" charset="0"/>
              </a:rPr>
              <a:t>1</a:t>
            </a:r>
            <a:r>
              <a:rPr altLang="en-US" sz="2000" lang="en-US">
                <a:latin typeface="Comic Sans MS" pitchFamily="66" charset="0"/>
              </a:rPr>
              <a:t>​,S</a:t>
            </a:r>
            <a:r>
              <a:rPr altLang="en-US" baseline="-25000" sz="2000" lang="en-US">
                <a:latin typeface="Comic Sans MS" pitchFamily="66" charset="0"/>
              </a:rPr>
              <a:t>2</a:t>
            </a:r>
            <a:r>
              <a:rPr altLang="en-US" sz="2000" lang="en-US">
                <a:latin typeface="Comic Sans MS" pitchFamily="66" charset="0"/>
              </a:rPr>
              <a:t>​ = two strategies available to Player A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s</a:t>
            </a:r>
            <a:r>
              <a:rPr altLang="en-US" baseline="-25000" sz="2000" lang="en-US">
                <a:latin typeface="Comic Sans MS" pitchFamily="66" charset="0"/>
              </a:rPr>
              <a:t>−A</a:t>
            </a:r>
            <a:r>
              <a:rPr altLang="en-US" sz="2000" lang="en-US">
                <a:latin typeface="Comic Sans MS" pitchFamily="66" charset="0"/>
              </a:rPr>
              <a:t>​ = strategies of all other players.</a:t>
            </a:r>
          </a:p>
        </p:txBody>
      </p:sp>
    </p:spTree>
  </p:cSld>
  <p:clrMapOvr>
    <a:masterClrMapping/>
  </p:clrMapOvr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4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1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19</a:t>
            </a:fld>
            <a:endParaRPr altLang="en-US" sz="1400" lang="en-US"/>
          </a:p>
        </p:txBody>
      </p:sp>
      <p:sp>
        <p:nvSpPr>
          <p:cNvPr id="1048582" name="TextBox 12"/>
          <p:cNvSpPr txBox="1"/>
          <p:nvPr/>
        </p:nvSpPr>
        <p:spPr>
          <a:xfrm rot="0">
            <a:off x="395287" y="403225"/>
            <a:ext cx="8062912" cy="80264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solidFill>
                  <a:srgbClr val="0070C0"/>
                </a:solidFill>
                <a:latin typeface="Comic Sans MS" pitchFamily="66" charset="0"/>
              </a:rPr>
              <a:t>Types of Dominance- Strictly dominant-security-investment </a:t>
            </a:r>
          </a:p>
        </p:txBody>
      </p:sp>
      <p:sp>
        <p:nvSpPr>
          <p:cNvPr id="1048583" name="TextBox 9"/>
          <p:cNvSpPr txBox="1"/>
          <p:nvPr/>
        </p:nvSpPr>
        <p:spPr>
          <a:xfrm rot="0">
            <a:off x="395287" y="1233487"/>
            <a:ext cx="7561262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Two firms decide whether to </a:t>
            </a:r>
            <a:r>
              <a:rPr altLang="en-US" b="1" sz="2000" lang="en-US">
                <a:latin typeface="Comic Sans MS" pitchFamily="66" charset="0"/>
              </a:rPr>
              <a:t>Invest</a:t>
            </a:r>
            <a:r>
              <a:rPr altLang="en-US" sz="2000" lang="en-US">
                <a:latin typeface="Comic Sans MS" pitchFamily="66" charset="0"/>
              </a:rPr>
              <a:t> in cybersecurity or </a:t>
            </a:r>
            <a:r>
              <a:rPr altLang="en-US" b="1" sz="2000" lang="en-US">
                <a:latin typeface="Comic Sans MS" pitchFamily="66" charset="0"/>
              </a:rPr>
              <a:t>Not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</p:txBody>
      </p:sp>
      <p:sp>
        <p:nvSpPr>
          <p:cNvPr id="1048584" name="TextBox 13"/>
          <p:cNvSpPr txBox="1"/>
          <p:nvPr/>
        </p:nvSpPr>
        <p:spPr>
          <a:xfrm rot="0">
            <a:off x="422275" y="3573462"/>
            <a:ext cx="7534275" cy="25542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-342900" lvl="0" marL="342900">
              <a:spcBef>
                <a:spcPct val="0"/>
              </a:spcBef>
            </a:pPr>
            <a:r>
              <a:rPr altLang="en-US" b="1" sz="2000" lang="en-US">
                <a:latin typeface="Comic Sans MS" pitchFamily="66" charset="0"/>
              </a:rPr>
              <a:t>A’s check:</a:t>
            </a:r>
          </a:p>
          <a:p>
            <a:pPr indent="-445770" lvl="1" marL="742950">
              <a:spcBef>
                <a:spcPct val="0"/>
              </a:spcBef>
              <a:buChar char="•"/>
            </a:pPr>
            <a:r>
              <a:rPr altLang="en-US" sz="2000" lang="en-US">
                <a:latin typeface="Comic Sans MS" pitchFamily="66" charset="0"/>
              </a:rPr>
              <a:t>If B invests: 3 (Invest) &gt; 1 (Not)</a:t>
            </a:r>
          </a:p>
          <a:p>
            <a:pPr indent="-445770" lvl="1" marL="742950">
              <a:spcBef>
                <a:spcPct val="0"/>
              </a:spcBef>
              <a:buChar char="•"/>
            </a:pPr>
            <a:r>
              <a:rPr altLang="en-US" sz="2000" lang="en-US">
                <a:latin typeface="Comic Sans MS" pitchFamily="66" charset="0"/>
              </a:rPr>
              <a:t>If B doesn’t: 2 (Invest) &gt; 0 (Not)</a:t>
            </a:r>
            <a:br>
              <a:rPr altLang="en-US" sz="2000" lang="en-US">
                <a:latin typeface="Comic Sans MS" pitchFamily="66" charset="0"/>
              </a:rPr>
            </a:br>
            <a:r>
              <a:rPr altLang="en-US" sz="2000" lang="en-US">
                <a:latin typeface="Comic Sans MS" pitchFamily="66" charset="0"/>
              </a:rPr>
              <a:t>⇒ </a:t>
            </a:r>
            <a:r>
              <a:rPr altLang="en-US" b="1" sz="2000" lang="en-US">
                <a:latin typeface="Comic Sans MS" pitchFamily="66" charset="0"/>
              </a:rPr>
              <a:t>Invest strictly dominates</a:t>
            </a:r>
            <a:r>
              <a:rPr altLang="en-US" sz="2000" lang="en-US">
                <a:latin typeface="Comic Sans MS" pitchFamily="66" charset="0"/>
              </a:rPr>
              <a:t> for A.</a:t>
            </a:r>
          </a:p>
          <a:p>
            <a:pPr indent="-342900" lvl="0" marL="342900">
              <a:spcBef>
                <a:spcPct val="0"/>
              </a:spcBef>
            </a:pPr>
            <a:r>
              <a:rPr altLang="en-US" b="1" sz="2000" lang="en-US">
                <a:latin typeface="Comic Sans MS" pitchFamily="66" charset="0"/>
              </a:rPr>
              <a:t>B’s check:</a:t>
            </a:r>
            <a:r>
              <a:rPr altLang="en-US" sz="2000" lang="en-US">
                <a:latin typeface="Comic Sans MS" pitchFamily="66" charset="0"/>
              </a:rPr>
              <a:t> symmetric ⇒ </a:t>
            </a:r>
            <a:r>
              <a:rPr altLang="en-US" b="1" sz="2000" lang="en-US">
                <a:latin typeface="Comic Sans MS" pitchFamily="66" charset="0"/>
              </a:rPr>
              <a:t>Invest strictly dominates</a:t>
            </a:r>
            <a:r>
              <a:rPr altLang="en-US" sz="2000" lang="en-US">
                <a:latin typeface="Comic Sans MS" pitchFamily="66" charset="0"/>
              </a:rPr>
              <a:t> for B.</a:t>
            </a:r>
          </a:p>
          <a:p>
            <a:pPr indent="-342900" lvl="0" marL="342900">
              <a:spcBef>
                <a:spcPct val="0"/>
              </a:spcBef>
            </a:pPr>
            <a:r>
              <a:rPr altLang="en-US" b="1" sz="2000" lang="en-US">
                <a:latin typeface="Comic Sans MS" pitchFamily="66" charset="0"/>
              </a:rPr>
              <a:t>Dominant-Strategy Equilibrium (and NE): (Invest, Invest)</a:t>
            </a:r>
            <a:r>
              <a:rPr altLang="en-US" sz="2000" lang="en-US">
                <a:latin typeface="Comic Sans MS" pitchFamily="66" charset="0"/>
              </a:rPr>
              <a:t> with payoffs </a:t>
            </a:r>
            <a:r>
              <a:rPr altLang="en-US" b="1" sz="2000" lang="en-US">
                <a:latin typeface="Comic Sans MS" pitchFamily="66" charset="0"/>
              </a:rPr>
              <a:t>(3,3)</a:t>
            </a:r>
            <a:r>
              <a:rPr altLang="en-US" sz="2000" lang="en-US">
                <a:latin typeface="Comic Sans MS" pitchFamily="66" charset="0"/>
              </a:rPr>
              <a:t>.</a:t>
            </a:r>
            <a:br>
              <a:rPr altLang="en-US" sz="2000" lang="en-US">
                <a:latin typeface="Comic Sans MS" pitchFamily="66" charset="0"/>
              </a:rPr>
            </a:br>
            <a:r>
              <a:rPr altLang="en-US" b="1" sz="2000" lang="en-US">
                <a:latin typeface="Comic Sans MS" pitchFamily="66" charset="0"/>
              </a:rPr>
              <a:t>Intuition:</a:t>
            </a:r>
            <a:r>
              <a:rPr altLang="en-US" sz="2000" lang="en-US">
                <a:latin typeface="Comic Sans MS" pitchFamily="66" charset="0"/>
              </a:rPr>
              <a:t> At</a:t>
            </a:r>
          </a:p>
        </p:txBody>
      </p:sp>
      <p:pic>
        <p:nvPicPr>
          <p:cNvPr id="2097152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627312" y="1773237"/>
            <a:ext cx="2506662" cy="202247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0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20</a:t>
            </a:fld>
            <a:endParaRPr altLang="en-US" sz="1400" lang="en-US"/>
          </a:p>
        </p:txBody>
      </p:sp>
      <p:sp>
        <p:nvSpPr>
          <p:cNvPr id="1048591" name="TextBox 12"/>
          <p:cNvSpPr txBox="1"/>
          <p:nvPr/>
        </p:nvSpPr>
        <p:spPr>
          <a:xfrm rot="0">
            <a:off x="395287" y="403225"/>
            <a:ext cx="8497888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solidFill>
                  <a:srgbClr val="0070C0"/>
                </a:solidFill>
                <a:latin typeface="Comic Sans MS" pitchFamily="66" charset="0"/>
              </a:rPr>
              <a:t>Types of Dominance- Strictly dominant-Pricing Game</a:t>
            </a:r>
          </a:p>
        </p:txBody>
      </p:sp>
      <p:sp>
        <p:nvSpPr>
          <p:cNvPr id="1048592" name="TextBox 4"/>
          <p:cNvSpPr txBox="1"/>
          <p:nvPr/>
        </p:nvSpPr>
        <p:spPr>
          <a:xfrm rot="0">
            <a:off x="298450" y="984250"/>
            <a:ext cx="7920037" cy="726441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Two firms (</a:t>
            </a:r>
            <a:r>
              <a:rPr altLang="en-US" b="1" sz="2200" lang="en-US">
                <a:latin typeface="Comic Sans MS" pitchFamily="66" charset="0"/>
              </a:rPr>
              <a:t>Firm A</a:t>
            </a:r>
            <a:r>
              <a:rPr altLang="en-US" sz="2200" lang="en-US">
                <a:latin typeface="Comic Sans MS" pitchFamily="66" charset="0"/>
              </a:rPr>
              <a:t> and </a:t>
            </a:r>
            <a:r>
              <a:rPr altLang="en-US" b="1" sz="2200" lang="en-US">
                <a:latin typeface="Comic Sans MS" pitchFamily="66" charset="0"/>
              </a:rPr>
              <a:t>Firm B</a:t>
            </a:r>
            <a:r>
              <a:rPr altLang="en-US" sz="2200" lang="en-US">
                <a:latin typeface="Comic Sans MS" pitchFamily="66" charset="0"/>
              </a:rPr>
              <a:t>) can choose between </a:t>
            </a:r>
            <a:r>
              <a:rPr altLang="en-US" b="1" sz="2200" lang="en-US">
                <a:latin typeface="Comic Sans MS" pitchFamily="66" charset="0"/>
              </a:rPr>
              <a:t>High Price (H)</a:t>
            </a:r>
            <a:r>
              <a:rPr altLang="en-US" sz="2200" lang="en-US">
                <a:latin typeface="Comic Sans MS" pitchFamily="66" charset="0"/>
              </a:rPr>
              <a:t> or </a:t>
            </a:r>
            <a:r>
              <a:rPr altLang="en-US" b="1" sz="2200" lang="en-US">
                <a:latin typeface="Comic Sans MS" pitchFamily="66" charset="0"/>
              </a:rPr>
              <a:t>Low Price (L)</a:t>
            </a:r>
            <a:r>
              <a:rPr altLang="en-US" sz="2200" lang="en-US">
                <a:latin typeface="Comic Sans MS" pitchFamily="66" charset="0"/>
              </a:rPr>
              <a:t>.</a:t>
            </a:r>
          </a:p>
        </p:txBody>
      </p:sp>
      <p:sp>
        <p:nvSpPr>
          <p:cNvPr id="1048593" name="TextBox 6"/>
          <p:cNvSpPr txBox="1"/>
          <p:nvPr/>
        </p:nvSpPr>
        <p:spPr>
          <a:xfrm rot="0">
            <a:off x="327025" y="1803400"/>
            <a:ext cx="4572000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Payoff Matrix</a:t>
            </a:r>
          </a:p>
        </p:txBody>
      </p:sp>
      <p:sp>
        <p:nvSpPr>
          <p:cNvPr id="1048594" name="TextBox 10"/>
          <p:cNvSpPr txBox="1"/>
          <p:nvPr/>
        </p:nvSpPr>
        <p:spPr>
          <a:xfrm rot="0">
            <a:off x="327025" y="3422650"/>
            <a:ext cx="7512050" cy="430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(First number = A’s payoff, second = B’s payoff)</a:t>
            </a:r>
          </a:p>
        </p:txBody>
      </p:sp>
      <p:sp>
        <p:nvSpPr>
          <p:cNvPr id="1048595" name="TextBox 14"/>
          <p:cNvSpPr txBox="1"/>
          <p:nvPr/>
        </p:nvSpPr>
        <p:spPr>
          <a:xfrm rot="0">
            <a:off x="395287" y="4052887"/>
            <a:ext cx="7421562" cy="2554287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b="1" sz="2000" lang="en-US">
                <a:latin typeface="Comic Sans MS" pitchFamily="66" charset="0"/>
              </a:rPr>
              <a:t>Step 1: Check A’s strategies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If B plays </a:t>
            </a:r>
            <a:r>
              <a:rPr altLang="en-US" b="1" sz="2000" lang="en-US">
                <a:latin typeface="Comic Sans MS" pitchFamily="66" charset="0"/>
              </a:rPr>
              <a:t>H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A: H → 3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A: L → 4 → </a:t>
            </a:r>
            <a:r>
              <a:rPr altLang="en-US" b="1" sz="2000" lang="en-US">
                <a:latin typeface="Comic Sans MS" pitchFamily="66" charset="0"/>
              </a:rPr>
              <a:t>L better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If B plays </a:t>
            </a:r>
            <a:r>
              <a:rPr altLang="en-US" b="1" sz="2000" lang="en-US">
                <a:latin typeface="Comic Sans MS" pitchFamily="66" charset="0"/>
              </a:rPr>
              <a:t>L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A: H → 1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A: L → 2 → </a:t>
            </a:r>
            <a:r>
              <a:rPr altLang="en-US" b="1" sz="2000" lang="en-US">
                <a:latin typeface="Comic Sans MS" pitchFamily="66" charset="0"/>
              </a:rPr>
              <a:t>L better</a:t>
            </a:r>
          </a:p>
          <a:p>
            <a:pPr lvl="0"/>
            <a:r>
              <a:rPr altLang="en-US" b="1" sz="2000" lang="en-US">
                <a:latin typeface="Comic Sans MS" pitchFamily="66" charset="0"/>
              </a:rPr>
              <a:t>L strictly dominates H for A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</p:txBody>
      </p:sp>
      <p:pic>
        <p:nvPicPr>
          <p:cNvPr id="2097153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356100" y="1423987"/>
            <a:ext cx="2744787" cy="213201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8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21</a:t>
            </a:fld>
            <a:endParaRPr altLang="en-US" sz="1400" lang="en-US"/>
          </a:p>
        </p:txBody>
      </p:sp>
      <p:sp>
        <p:nvSpPr>
          <p:cNvPr id="1048609" name="TextBox 9"/>
          <p:cNvSpPr txBox="1"/>
          <p:nvPr/>
        </p:nvSpPr>
        <p:spPr>
          <a:xfrm rot="0">
            <a:off x="287337" y="1344612"/>
            <a:ext cx="5578475" cy="2834641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b="1" sz="2000" lang="en-US">
                <a:latin typeface="Comic Sans MS" pitchFamily="66" charset="0"/>
              </a:rPr>
              <a:t>Step 2: Check B’s strategies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If A plays </a:t>
            </a:r>
            <a:r>
              <a:rPr altLang="en-US" b="1" sz="2000" lang="en-US">
                <a:latin typeface="Comic Sans MS" pitchFamily="66" charset="0"/>
              </a:rPr>
              <a:t>H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algn="just"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B: H → 3</a:t>
            </a:r>
          </a:p>
          <a:p>
            <a:pPr algn="just"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B: L → 2 → </a:t>
            </a:r>
            <a:r>
              <a:rPr altLang="en-US" b="1" sz="2000" lang="en-US">
                <a:latin typeface="Comic Sans MS" pitchFamily="66" charset="0"/>
              </a:rPr>
              <a:t>H better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If A plays </a:t>
            </a:r>
            <a:r>
              <a:rPr altLang="en-US" b="1" sz="2000" lang="en-US">
                <a:latin typeface="Comic Sans MS" pitchFamily="66" charset="0"/>
              </a:rPr>
              <a:t>L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algn="just"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B: H → 1</a:t>
            </a:r>
          </a:p>
          <a:p>
            <a:pPr algn="just"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B: L → 2 → </a:t>
            </a:r>
            <a:r>
              <a:rPr altLang="en-US" b="1" sz="2000" lang="en-US">
                <a:latin typeface="Comic Sans MS" pitchFamily="66" charset="0"/>
              </a:rPr>
              <a:t>L better</a:t>
            </a:r>
          </a:p>
          <a:p>
            <a:pPr algn="just" lvl="0"/>
            <a:r>
              <a:rPr altLang="en-US" sz="2000" lang="en-US">
                <a:latin typeface="Comic Sans MS" pitchFamily="66" charset="0"/>
              </a:rPr>
              <a:t>Neither H nor L strictly dominates overall (because B’s best move depends on A’s choice).</a:t>
            </a:r>
          </a:p>
        </p:txBody>
      </p:sp>
      <p:sp>
        <p:nvSpPr>
          <p:cNvPr id="1048610" name="TextBox 12"/>
          <p:cNvSpPr txBox="1"/>
          <p:nvPr/>
        </p:nvSpPr>
        <p:spPr>
          <a:xfrm rot="0">
            <a:off x="287337" y="4552950"/>
            <a:ext cx="5578475" cy="1938337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b="1" sz="2000" lang="en-US">
                <a:latin typeface="Comic Sans MS" pitchFamily="66" charset="0"/>
              </a:rPr>
              <a:t>Step 3: Equilibrium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A will always play </a:t>
            </a:r>
            <a:r>
              <a:rPr altLang="en-US" b="1" sz="2000" lang="en-US">
                <a:latin typeface="Comic Sans MS" pitchFamily="66" charset="0"/>
              </a:rPr>
              <a:t>L</a:t>
            </a:r>
            <a:r>
              <a:rPr altLang="en-US" sz="2000" lang="en-US">
                <a:latin typeface="Comic Sans MS" pitchFamily="66" charset="0"/>
              </a:rPr>
              <a:t> (strictly dominant).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Given A plays L → B compares payoffs in the </a:t>
            </a:r>
            <a:r>
              <a:rPr altLang="en-US" b="1" sz="2000" lang="en-US">
                <a:latin typeface="Comic Sans MS" pitchFamily="66" charset="0"/>
              </a:rPr>
              <a:t>bottom row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H = 1, L = 2 → B plays L.</a:t>
            </a:r>
          </a:p>
          <a:p>
            <a:pPr lvl="0">
              <a:buChar char="•"/>
            </a:pPr>
            <a:r>
              <a:rPr altLang="en-US" b="1" sz="2000" lang="en-US">
                <a:latin typeface="Comic Sans MS" pitchFamily="66" charset="0"/>
              </a:rPr>
              <a:t>Equilibrium = (L,L)</a:t>
            </a:r>
            <a:r>
              <a:rPr altLang="en-US" sz="2000" lang="en-US">
                <a:latin typeface="Comic Sans MS" pitchFamily="66" charset="0"/>
              </a:rPr>
              <a:t> with payoffs (2,2).</a:t>
            </a:r>
          </a:p>
        </p:txBody>
      </p:sp>
      <p:sp>
        <p:nvSpPr>
          <p:cNvPr id="1048611" name="TextBox 12"/>
          <p:cNvSpPr txBox="1"/>
          <p:nvPr/>
        </p:nvSpPr>
        <p:spPr>
          <a:xfrm rot="0">
            <a:off x="395287" y="403225"/>
            <a:ext cx="8497888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solidFill>
                  <a:srgbClr val="0070C0"/>
                </a:solidFill>
                <a:latin typeface="Comic Sans MS" pitchFamily="66" charset="0"/>
              </a:rPr>
              <a:t>Types of Dominance- Strictly dominant-Pricing Game</a:t>
            </a:r>
          </a:p>
        </p:txBody>
      </p:sp>
      <p:pic>
        <p:nvPicPr>
          <p:cNvPr id="2097155" name="Picture 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6084887" y="2670175"/>
            <a:ext cx="2643187" cy="205422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3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22</a:t>
            </a:fld>
            <a:endParaRPr altLang="en-US" sz="1400" lang="en-US"/>
          </a:p>
        </p:txBody>
      </p:sp>
      <p:sp>
        <p:nvSpPr>
          <p:cNvPr id="1048624" name="TextBox 12"/>
          <p:cNvSpPr txBox="1"/>
          <p:nvPr/>
        </p:nvSpPr>
        <p:spPr>
          <a:xfrm rot="0">
            <a:off x="395287" y="403225"/>
            <a:ext cx="7561262" cy="5222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Types of Dominance-Weakly dominant</a:t>
            </a:r>
          </a:p>
        </p:txBody>
      </p:sp>
      <p:sp>
        <p:nvSpPr>
          <p:cNvPr id="1048625" name="TextBox 8"/>
          <p:cNvSpPr txBox="1"/>
          <p:nvPr/>
        </p:nvSpPr>
        <p:spPr>
          <a:xfrm rot="0">
            <a:off x="539750" y="981075"/>
            <a:ext cx="7918450" cy="10160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A strategy is </a:t>
            </a:r>
            <a:r>
              <a:rPr altLang="en-US" b="1" sz="2000" lang="en-US">
                <a:latin typeface="Comic Sans MS" pitchFamily="66" charset="0"/>
              </a:rPr>
              <a:t>weakly dominant</a:t>
            </a:r>
            <a:r>
              <a:rPr altLang="en-US" sz="2000" lang="en-US">
                <a:latin typeface="Comic Sans MS" pitchFamily="66" charset="0"/>
              </a:rPr>
              <a:t> if it is </a:t>
            </a:r>
            <a:r>
              <a:rPr altLang="en-US" b="1" sz="2000" lang="en-US">
                <a:latin typeface="Comic Sans MS" pitchFamily="66" charset="0"/>
              </a:rPr>
              <a:t>never worse</a:t>
            </a:r>
            <a:r>
              <a:rPr altLang="en-US" sz="2000" lang="en-US">
                <a:latin typeface="Comic Sans MS" pitchFamily="66" charset="0"/>
              </a:rPr>
              <a:t> than any other strategy, </a:t>
            </a:r>
            <a:r>
              <a:rPr altLang="en-US" b="1" sz="2000" lang="en-US">
                <a:latin typeface="Comic Sans MS" pitchFamily="66" charset="0"/>
              </a:rPr>
              <a:t>no matter what the other players do</a:t>
            </a:r>
            <a:r>
              <a:rPr altLang="en-US" sz="2000" lang="en-US">
                <a:latin typeface="Comic Sans MS" pitchFamily="66" charset="0"/>
              </a:rPr>
              <a:t>, and is </a:t>
            </a:r>
            <a:r>
              <a:rPr altLang="en-US" b="1" sz="2000" lang="en-US">
                <a:latin typeface="Comic Sans MS" pitchFamily="66" charset="0"/>
              </a:rPr>
              <a:t>strictly better in at least one case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</p:txBody>
      </p:sp>
      <p:sp>
        <p:nvSpPr>
          <p:cNvPr id="1048626" name="TextBox 12"/>
          <p:cNvSpPr txBox="1"/>
          <p:nvPr/>
        </p:nvSpPr>
        <p:spPr>
          <a:xfrm rot="0">
            <a:off x="541337" y="2235200"/>
            <a:ext cx="7559675" cy="13239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2000" lang="en-US">
                <a:latin typeface="Comic Sans MS" pitchFamily="66" charset="0"/>
              </a:rPr>
              <a:t>Difference from </a:t>
            </a:r>
            <a:r>
              <a:rPr altLang="en-US" b="1" sz="2000" lang="en-US">
                <a:latin typeface="Comic Sans MS" pitchFamily="66" charset="0"/>
              </a:rPr>
              <a:t>strictly dominant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Strictly dominant = </a:t>
            </a:r>
            <a:r>
              <a:rPr altLang="en-US" b="1" sz="2000" lang="en-US">
                <a:latin typeface="Comic Sans MS" pitchFamily="66" charset="0"/>
              </a:rPr>
              <a:t>always strictly better (&gt;)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Weakly dominant = </a:t>
            </a:r>
            <a:r>
              <a:rPr altLang="en-US" b="1" sz="2000" lang="en-US">
                <a:latin typeface="Comic Sans MS" pitchFamily="66" charset="0"/>
              </a:rPr>
              <a:t>sometimes equal (≥), sometimes strictly better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</p:txBody>
      </p:sp>
      <p:sp>
        <p:nvSpPr>
          <p:cNvPr id="1048627" name="TextBox 13"/>
          <p:cNvSpPr txBox="1"/>
          <p:nvPr/>
        </p:nvSpPr>
        <p:spPr>
          <a:xfrm rot="0">
            <a:off x="523875" y="3722687"/>
            <a:ext cx="7594600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For Player A:Strategy S</a:t>
            </a:r>
            <a:r>
              <a:rPr altLang="en-US" baseline="-25000" sz="2000" lang="en-US">
                <a:latin typeface="Comic Sans MS" pitchFamily="66" charset="0"/>
              </a:rPr>
              <a:t>₁</a:t>
            </a:r>
            <a:r>
              <a:rPr altLang="en-US" sz="2000" lang="en-US">
                <a:latin typeface="Comic Sans MS" pitchFamily="66" charset="0"/>
              </a:rPr>
              <a:t> weakly dominates S</a:t>
            </a:r>
            <a:r>
              <a:rPr altLang="en-US" baseline="-25000" sz="2000" lang="en-US">
                <a:latin typeface="Comic Sans MS" pitchFamily="66" charset="0"/>
              </a:rPr>
              <a:t>₂</a:t>
            </a:r>
            <a:r>
              <a:rPr altLang="en-US" sz="2000" lang="en-US">
                <a:latin typeface="Comic Sans MS" pitchFamily="66" charset="0"/>
              </a:rPr>
              <a:t> if</a:t>
            </a:r>
          </a:p>
        </p:txBody>
      </p:sp>
      <p:pic>
        <p:nvPicPr>
          <p:cNvPr id="2097157" name="Picture 9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971800" y="4284662"/>
            <a:ext cx="3200400" cy="328612"/>
          </a:xfrm>
          <a:prstGeom prst="rect"/>
          <a:noFill/>
          <a:ln>
            <a:noFill/>
          </a:ln>
        </p:spPr>
      </p:pic>
      <p:sp>
        <p:nvSpPr>
          <p:cNvPr id="1048628" name="TextBox 16"/>
          <p:cNvSpPr txBox="1"/>
          <p:nvPr/>
        </p:nvSpPr>
        <p:spPr>
          <a:xfrm rot="0">
            <a:off x="566737" y="4724400"/>
            <a:ext cx="4572000" cy="4016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and</a:t>
            </a:r>
          </a:p>
        </p:txBody>
      </p:sp>
      <p:pic>
        <p:nvPicPr>
          <p:cNvPr id="2097158" name="Picture 17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2771775" y="5106987"/>
            <a:ext cx="3978275" cy="41910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5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40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23</a:t>
            </a:fld>
            <a:endParaRPr altLang="en-US" sz="1400" lang="en-US"/>
          </a:p>
        </p:txBody>
      </p:sp>
      <p:sp>
        <p:nvSpPr>
          <p:cNvPr id="1048741" name="TextBox 12"/>
          <p:cNvSpPr txBox="1"/>
          <p:nvPr/>
        </p:nvSpPr>
        <p:spPr>
          <a:xfrm rot="0">
            <a:off x="395287" y="403225"/>
            <a:ext cx="8062912" cy="8302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solidFill>
                  <a:srgbClr val="0070C0"/>
                </a:solidFill>
                <a:latin typeface="Comic Sans MS" pitchFamily="66" charset="0"/>
              </a:rPr>
              <a:t>Types of Dominance-Weakly dominant-Coordination Game</a:t>
            </a:r>
          </a:p>
        </p:txBody>
      </p:sp>
      <p:sp>
        <p:nvSpPr>
          <p:cNvPr id="1048742" name="TextBox 7"/>
          <p:cNvSpPr txBox="1"/>
          <p:nvPr/>
        </p:nvSpPr>
        <p:spPr>
          <a:xfrm rot="0">
            <a:off x="395287" y="1217612"/>
            <a:ext cx="5616575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Let’s illustrate with a small </a:t>
            </a:r>
            <a:r>
              <a:rPr altLang="en-US" b="1" sz="2000" lang="en-US">
                <a:latin typeface="Comic Sans MS" pitchFamily="66" charset="0"/>
              </a:rPr>
              <a:t>2-player game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</p:txBody>
      </p:sp>
      <p:sp>
        <p:nvSpPr>
          <p:cNvPr id="1048743" name="TextBox 12"/>
          <p:cNvSpPr txBox="1"/>
          <p:nvPr/>
        </p:nvSpPr>
        <p:spPr>
          <a:xfrm rot="0">
            <a:off x="417512" y="1733550"/>
            <a:ext cx="4824412" cy="19383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2000" lang="en-US">
                <a:latin typeface="Comic Sans MS" pitchFamily="66" charset="0"/>
              </a:rPr>
              <a:t>For A: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If B plays X → A: U=2, D=2 → same.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If B plays Y → A: U=2, D=1 → U better.</a:t>
            </a:r>
            <a:br>
              <a:rPr altLang="en-US" sz="2000" lang="en-US">
                <a:latin typeface="Comic Sans MS" pitchFamily="66" charset="0"/>
              </a:rPr>
            </a:br>
            <a:r>
              <a:rPr altLang="en-US" sz="2000" lang="en-US">
                <a:latin typeface="Comic Sans MS" pitchFamily="66" charset="0"/>
              </a:rPr>
              <a:t>U is a </a:t>
            </a:r>
            <a:r>
              <a:rPr altLang="en-US" b="1" sz="2000" lang="en-US">
                <a:latin typeface="Comic Sans MS" pitchFamily="66" charset="0"/>
              </a:rPr>
              <a:t>weakly dominant strategy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</p:txBody>
      </p:sp>
      <p:sp>
        <p:nvSpPr>
          <p:cNvPr id="1048744" name="TextBox 13"/>
          <p:cNvSpPr txBox="1"/>
          <p:nvPr/>
        </p:nvSpPr>
        <p:spPr>
          <a:xfrm rot="0">
            <a:off x="395287" y="4146550"/>
            <a:ext cx="5329237" cy="13239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2000" lang="en-US">
                <a:latin typeface="Comic Sans MS" pitchFamily="66" charset="0"/>
              </a:rPr>
              <a:t>For B: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If A plays U → B: X=2, Y=1 → X better.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If A plays D → B: X=0, Y=1 → Y better.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No dominant strategy.</a:t>
            </a:r>
          </a:p>
        </p:txBody>
      </p:sp>
      <p:pic>
        <p:nvPicPr>
          <p:cNvPr id="2097173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580062" y="1733550"/>
            <a:ext cx="2925762" cy="263207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6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48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24</a:t>
            </a:fld>
            <a:endParaRPr altLang="en-US" sz="1400" lang="en-US"/>
          </a:p>
        </p:txBody>
      </p:sp>
      <p:sp>
        <p:nvSpPr>
          <p:cNvPr id="1048749" name="TextBox 8"/>
          <p:cNvSpPr txBox="1"/>
          <p:nvPr/>
        </p:nvSpPr>
        <p:spPr>
          <a:xfrm rot="0">
            <a:off x="539750" y="2781300"/>
            <a:ext cx="7488237" cy="1630362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b="1" sz="2000" lang="en-US">
                <a:latin typeface="Comic Sans MS" pitchFamily="66" charset="0"/>
              </a:rPr>
              <a:t>Nash Equilibrium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(U, X) gives (2,2).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A is playing a weakly dominant strategy (U).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B is best-responding with X.</a:t>
            </a:r>
          </a:p>
          <a:p>
            <a:pPr lvl="0"/>
            <a:r>
              <a:rPr altLang="en-US" b="1" sz="2000" lang="en-US">
                <a:latin typeface="Comic Sans MS" pitchFamily="66" charset="0"/>
              </a:rPr>
              <a:t>NE = (U, X), involving A’s weakly dominant strategy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</p:txBody>
      </p:sp>
      <p:sp>
        <p:nvSpPr>
          <p:cNvPr id="1048750" name="TextBox 9"/>
          <p:cNvSpPr txBox="1"/>
          <p:nvPr/>
        </p:nvSpPr>
        <p:spPr>
          <a:xfrm rot="0">
            <a:off x="539750" y="4514850"/>
            <a:ext cx="7488237" cy="1630362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b="1" sz="2000" lang="en-US">
                <a:latin typeface="Comic Sans MS" pitchFamily="66" charset="0"/>
              </a:rPr>
              <a:t>Strict vs. Weak Dominance</a:t>
            </a:r>
          </a:p>
          <a:p>
            <a:pPr algn="just" lvl="0">
              <a:buChar char="•"/>
            </a:pPr>
            <a:r>
              <a:rPr altLang="en-US" b="1" sz="2000" lang="en-US">
                <a:latin typeface="Comic Sans MS" pitchFamily="66" charset="0"/>
              </a:rPr>
              <a:t>Strict dominance</a:t>
            </a:r>
            <a:r>
              <a:rPr altLang="en-US" sz="2000" lang="en-US">
                <a:latin typeface="Comic Sans MS" pitchFamily="66" charset="0"/>
              </a:rPr>
              <a:t>: one strategy is </a:t>
            </a:r>
            <a:r>
              <a:rPr altLang="en-US" sz="2000" i="1" lang="en-US">
                <a:latin typeface="Comic Sans MS" pitchFamily="66" charset="0"/>
              </a:rPr>
              <a:t>always better</a:t>
            </a:r>
            <a:r>
              <a:rPr altLang="en-US" sz="2000" lang="en-US">
                <a:latin typeface="Comic Sans MS" pitchFamily="66" charset="0"/>
              </a:rPr>
              <a:t> (&gt;) than the other.</a:t>
            </a:r>
          </a:p>
          <a:p>
            <a:pPr algn="just" lvl="0">
              <a:buChar char="•"/>
            </a:pPr>
            <a:r>
              <a:rPr altLang="en-US" b="1" sz="2000" lang="en-US">
                <a:latin typeface="Comic Sans MS" pitchFamily="66" charset="0"/>
              </a:rPr>
              <a:t>Weak dominance</a:t>
            </a:r>
            <a:r>
              <a:rPr altLang="en-US" sz="2000" lang="en-US">
                <a:latin typeface="Comic Sans MS" pitchFamily="66" charset="0"/>
              </a:rPr>
              <a:t>: one strategy is </a:t>
            </a:r>
            <a:r>
              <a:rPr altLang="en-US" sz="2000" i="1" lang="en-US">
                <a:latin typeface="Comic Sans MS" pitchFamily="66" charset="0"/>
              </a:rPr>
              <a:t>never worse</a:t>
            </a:r>
            <a:r>
              <a:rPr altLang="en-US" sz="2000" lang="en-US">
                <a:latin typeface="Comic Sans MS" pitchFamily="66" charset="0"/>
              </a:rPr>
              <a:t> (≥) and sometimes better.</a:t>
            </a:r>
          </a:p>
        </p:txBody>
      </p:sp>
      <p:sp>
        <p:nvSpPr>
          <p:cNvPr id="1048751" name="TextBox 12"/>
          <p:cNvSpPr txBox="1"/>
          <p:nvPr/>
        </p:nvSpPr>
        <p:spPr>
          <a:xfrm rot="0">
            <a:off x="395287" y="403225"/>
            <a:ext cx="8062912" cy="8302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solidFill>
                  <a:srgbClr val="0070C0"/>
                </a:solidFill>
                <a:latin typeface="Comic Sans MS" pitchFamily="66" charset="0"/>
              </a:rPr>
              <a:t>Types of Dominance-Weakly dominant-Coordination Game</a:t>
            </a:r>
          </a:p>
        </p:txBody>
      </p:sp>
      <p:pic>
        <p:nvPicPr>
          <p:cNvPr id="2097174" name="Picture 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987675" y="836612"/>
            <a:ext cx="2187575" cy="196850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6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5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25</a:t>
            </a:fld>
            <a:endParaRPr altLang="en-US" sz="1400" lang="en-US"/>
          </a:p>
        </p:txBody>
      </p:sp>
      <p:sp>
        <p:nvSpPr>
          <p:cNvPr id="1048756" name="TextBox 12"/>
          <p:cNvSpPr txBox="1"/>
          <p:nvPr/>
        </p:nvSpPr>
        <p:spPr>
          <a:xfrm rot="0">
            <a:off x="395287" y="403225"/>
            <a:ext cx="7561262" cy="5222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800" lang="en-US">
                <a:solidFill>
                  <a:srgbClr val="0070C0"/>
                </a:solidFill>
                <a:latin typeface="Comic Sans MS" pitchFamily="66" charset="0"/>
              </a:rPr>
              <a:t>Types of Dominance-Weakly dominant</a:t>
            </a:r>
          </a:p>
        </p:txBody>
      </p:sp>
      <p:sp>
        <p:nvSpPr>
          <p:cNvPr id="1048757" name="TextBox 10"/>
          <p:cNvSpPr txBox="1"/>
          <p:nvPr/>
        </p:nvSpPr>
        <p:spPr>
          <a:xfrm rot="0">
            <a:off x="712787" y="3500437"/>
            <a:ext cx="7272337" cy="13223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2000" lang="en-US">
                <a:latin typeface="Comic Sans MS" pitchFamily="66" charset="0"/>
              </a:rPr>
              <a:t>U </a:t>
            </a:r>
            <a:r>
              <a:rPr altLang="en-US" b="1" sz="2000" lang="en-US">
                <a:latin typeface="Comic Sans MS" pitchFamily="66" charset="0"/>
              </a:rPr>
              <a:t>weakly dominates</a:t>
            </a:r>
            <a:r>
              <a:rPr altLang="en-US" sz="2000" lang="en-US">
                <a:latin typeface="Comic Sans MS" pitchFamily="66" charset="0"/>
              </a:rPr>
              <a:t> D because:</a:t>
            </a:r>
          </a:p>
          <a:p>
            <a:pPr algn="just" lvl="0"/>
            <a:endParaRPr altLang="en-US" sz="2000" lang="en-US">
              <a:latin typeface="Comic Sans MS" pitchFamily="66" charset="0"/>
            </a:endParaRP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It’s never worse (≥ everywhere).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It’s </a:t>
            </a:r>
            <a:r>
              <a:rPr altLang="en-US" b="1" sz="2000" lang="en-US">
                <a:latin typeface="Comic Sans MS" pitchFamily="66" charset="0"/>
              </a:rPr>
              <a:t>strictly better in at least one case</a:t>
            </a:r>
            <a:r>
              <a:rPr altLang="en-US" sz="2000" lang="en-US">
                <a:latin typeface="Comic Sans MS" pitchFamily="66" charset="0"/>
              </a:rPr>
              <a:t> (when B=R).</a:t>
            </a:r>
          </a:p>
        </p:txBody>
      </p:sp>
      <p:pic>
        <p:nvPicPr>
          <p:cNvPr id="2097175" name="Picture 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987675" y="836612"/>
            <a:ext cx="2736850" cy="246062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6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61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26</a:t>
            </a:fld>
            <a:endParaRPr altLang="en-US" sz="1400" lang="en-US"/>
          </a:p>
        </p:txBody>
      </p:sp>
      <p:sp>
        <p:nvSpPr>
          <p:cNvPr id="1048762" name="TextBox 12"/>
          <p:cNvSpPr txBox="1"/>
          <p:nvPr/>
        </p:nvSpPr>
        <p:spPr>
          <a:xfrm rot="0">
            <a:off x="395287" y="403225"/>
            <a:ext cx="7561262" cy="4921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600" lang="en-US">
                <a:solidFill>
                  <a:srgbClr val="0070C0"/>
                </a:solidFill>
                <a:latin typeface="Comic Sans MS" pitchFamily="66" charset="0"/>
              </a:rPr>
              <a:t>Types of Dominance-Weakly dominant</a:t>
            </a:r>
          </a:p>
        </p:txBody>
      </p:sp>
      <p:sp>
        <p:nvSpPr>
          <p:cNvPr id="1048763" name="TextBox 12"/>
          <p:cNvSpPr txBox="1"/>
          <p:nvPr/>
        </p:nvSpPr>
        <p:spPr>
          <a:xfrm rot="0">
            <a:off x="468312" y="917575"/>
            <a:ext cx="7559675" cy="7080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 u="sng">
                <a:latin typeface="Comic Sans MS" pitchFamily="66" charset="0"/>
              </a:rPr>
              <a:t>One weakly dominant strategy and one strictly dominant strategy</a:t>
            </a:r>
          </a:p>
        </p:txBody>
      </p:sp>
      <p:sp>
        <p:nvSpPr>
          <p:cNvPr id="1048764" name="TextBox 8"/>
          <p:cNvSpPr txBox="1"/>
          <p:nvPr/>
        </p:nvSpPr>
        <p:spPr>
          <a:xfrm rot="0">
            <a:off x="503237" y="1773237"/>
            <a:ext cx="4572000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Payoff matrix (payoffs = (A, B))</a:t>
            </a:r>
          </a:p>
        </p:txBody>
      </p:sp>
      <p:sp>
        <p:nvSpPr>
          <p:cNvPr id="1048765" name="TextBox 12"/>
          <p:cNvSpPr txBox="1"/>
          <p:nvPr/>
        </p:nvSpPr>
        <p:spPr>
          <a:xfrm rot="0">
            <a:off x="492125" y="2320925"/>
            <a:ext cx="3960812" cy="3478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Check dominance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For A (row player):</a:t>
            </a:r>
          </a:p>
          <a:p>
            <a:pPr algn="just" indent="-480060" lvl="1" marL="800100">
              <a:spcBef>
                <a:spcPct val="0"/>
              </a:spcBef>
              <a:buChar char="•"/>
            </a:pPr>
            <a:r>
              <a:rPr altLang="en-US" sz="2000" lang="en-US">
                <a:latin typeface="Comic Sans MS" pitchFamily="66" charset="0"/>
              </a:rPr>
              <a:t>If B plays L: A gets U=2, D=2 → equal</a:t>
            </a:r>
          </a:p>
          <a:p>
            <a:pPr algn="just" indent="-480060" lvl="1" marL="800100">
              <a:spcBef>
                <a:spcPct val="0"/>
              </a:spcBef>
              <a:buChar char="•"/>
            </a:pPr>
            <a:r>
              <a:rPr altLang="en-US" sz="2000" lang="en-US">
                <a:latin typeface="Comic Sans MS" pitchFamily="66" charset="0"/>
              </a:rPr>
              <a:t>If B plays R: A gets U=2, D=1 → U is better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    → U weakly dominates D (never worse, strictly better in one case). It’s not strictly dominant because at (B:L) the payoffs tie.</a:t>
            </a:r>
          </a:p>
        </p:txBody>
      </p:sp>
      <p:pic>
        <p:nvPicPr>
          <p:cNvPr id="2097176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932362" y="2401887"/>
            <a:ext cx="2879725" cy="249713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7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69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27</a:t>
            </a:fld>
            <a:endParaRPr altLang="en-US" sz="1400" lang="en-US"/>
          </a:p>
        </p:txBody>
      </p:sp>
      <p:sp>
        <p:nvSpPr>
          <p:cNvPr id="1048770" name="TextBox 12"/>
          <p:cNvSpPr txBox="1"/>
          <p:nvPr/>
        </p:nvSpPr>
        <p:spPr>
          <a:xfrm rot="0">
            <a:off x="395287" y="403225"/>
            <a:ext cx="7561262" cy="4921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600" lang="en-US">
                <a:solidFill>
                  <a:srgbClr val="0070C0"/>
                </a:solidFill>
                <a:latin typeface="Comic Sans MS" pitchFamily="66" charset="0"/>
              </a:rPr>
              <a:t>Types of Dominance-Weakly dominant</a:t>
            </a:r>
          </a:p>
        </p:txBody>
      </p:sp>
      <p:sp>
        <p:nvSpPr>
          <p:cNvPr id="1048771" name="TextBox 9"/>
          <p:cNvSpPr txBox="1"/>
          <p:nvPr/>
        </p:nvSpPr>
        <p:spPr>
          <a:xfrm rot="0">
            <a:off x="627062" y="3303587"/>
            <a:ext cx="7561262" cy="13223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b="1" sz="2000" lang="en-US">
                <a:latin typeface="Comic Sans MS" pitchFamily="66" charset="0"/>
              </a:rPr>
              <a:t>For B (column player):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If A plays </a:t>
            </a:r>
            <a:r>
              <a:rPr altLang="en-US" b="1" sz="2000" lang="en-US">
                <a:latin typeface="Comic Sans MS" pitchFamily="66" charset="0"/>
              </a:rPr>
              <a:t>U</a:t>
            </a:r>
            <a:r>
              <a:rPr altLang="en-US" sz="2000" lang="en-US">
                <a:latin typeface="Comic Sans MS" pitchFamily="66" charset="0"/>
              </a:rPr>
              <a:t>: B gets L=2, R=3 → </a:t>
            </a:r>
            <a:r>
              <a:rPr altLang="en-US" b="1" sz="2000" lang="en-US">
                <a:latin typeface="Comic Sans MS" pitchFamily="66" charset="0"/>
              </a:rPr>
              <a:t>R better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If A plays </a:t>
            </a:r>
            <a:r>
              <a:rPr altLang="en-US" b="1" sz="2000" lang="en-US">
                <a:latin typeface="Comic Sans MS" pitchFamily="66" charset="0"/>
              </a:rPr>
              <a:t>D</a:t>
            </a:r>
            <a:r>
              <a:rPr altLang="en-US" sz="2000" lang="en-US">
                <a:latin typeface="Comic Sans MS" pitchFamily="66" charset="0"/>
              </a:rPr>
              <a:t>: B gets L=1, R=2 → </a:t>
            </a:r>
            <a:r>
              <a:rPr altLang="en-US" b="1" sz="2000" lang="en-US">
                <a:latin typeface="Comic Sans MS" pitchFamily="66" charset="0"/>
              </a:rPr>
              <a:t>R better</a:t>
            </a:r>
            <a:br>
              <a:rPr altLang="en-US" sz="2000" lang="en-US">
                <a:latin typeface="Comic Sans MS" pitchFamily="66" charset="0"/>
              </a:rPr>
            </a:br>
            <a:r>
              <a:rPr altLang="en-US" sz="2000" lang="en-US">
                <a:latin typeface="Comic Sans MS" pitchFamily="66" charset="0"/>
              </a:rPr>
              <a:t>→ </a:t>
            </a:r>
            <a:r>
              <a:rPr altLang="en-US" b="1" sz="2000" lang="en-US">
                <a:latin typeface="Comic Sans MS" pitchFamily="66" charset="0"/>
              </a:rPr>
              <a:t>R strictly dominates L</a:t>
            </a:r>
            <a:r>
              <a:rPr altLang="en-US" sz="2000" lang="en-US">
                <a:latin typeface="Comic Sans MS" pitchFamily="66" charset="0"/>
              </a:rPr>
              <a:t> for B.</a:t>
            </a:r>
          </a:p>
        </p:txBody>
      </p:sp>
      <p:sp>
        <p:nvSpPr>
          <p:cNvPr id="1048772" name="TextBox 10"/>
          <p:cNvSpPr txBox="1"/>
          <p:nvPr/>
        </p:nvSpPr>
        <p:spPr>
          <a:xfrm rot="0">
            <a:off x="611187" y="4694237"/>
            <a:ext cx="8058150" cy="13239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2000" lang="en-US" u="sng">
                <a:latin typeface="Comic Sans MS" pitchFamily="66" charset="0"/>
              </a:rPr>
              <a:t>Nash equilibrium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Since B will choose R (strictly dominant), A best-responds with U (2 &gt; 1).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NE = (U, R) with payoffs (2, 3).</a:t>
            </a:r>
          </a:p>
        </p:txBody>
      </p:sp>
      <p:pic>
        <p:nvPicPr>
          <p:cNvPr id="2097177" name="Picture 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203575" y="1239837"/>
            <a:ext cx="2303462" cy="199707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7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76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28</a:t>
            </a:fld>
            <a:endParaRPr altLang="en-US" sz="1400" lang="en-US"/>
          </a:p>
        </p:txBody>
      </p:sp>
      <p:sp>
        <p:nvSpPr>
          <p:cNvPr id="1048777" name="TextBox 12"/>
          <p:cNvSpPr txBox="1"/>
          <p:nvPr/>
        </p:nvSpPr>
        <p:spPr>
          <a:xfrm rot="0">
            <a:off x="395287" y="403225"/>
            <a:ext cx="7561262" cy="8302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solidFill>
                  <a:srgbClr val="0070C0"/>
                </a:solidFill>
                <a:latin typeface="Comic Sans MS" pitchFamily="66" charset="0"/>
              </a:rPr>
              <a:t>Types of Dominance-No dominance-Matching Pennies.</a:t>
            </a:r>
          </a:p>
        </p:txBody>
      </p:sp>
      <p:sp>
        <p:nvSpPr>
          <p:cNvPr id="1048778" name="TextBox 5"/>
          <p:cNvSpPr txBox="1"/>
          <p:nvPr/>
        </p:nvSpPr>
        <p:spPr>
          <a:xfrm rot="0">
            <a:off x="395287" y="1211262"/>
            <a:ext cx="7489825" cy="10144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A player has </a:t>
            </a:r>
            <a:r>
              <a:rPr altLang="en-US" b="1" sz="2000" lang="en-US">
                <a:latin typeface="Comic Sans MS" pitchFamily="66" charset="0"/>
              </a:rPr>
              <a:t>no dominant strategy</a:t>
            </a:r>
            <a:r>
              <a:rPr altLang="en-US" sz="2000" lang="en-US">
                <a:latin typeface="Comic Sans MS" pitchFamily="66" charset="0"/>
              </a:rPr>
              <a:t> if </a:t>
            </a:r>
            <a:r>
              <a:rPr altLang="en-US" b="1" sz="2000" lang="en-US">
                <a:latin typeface="Comic Sans MS" pitchFamily="66" charset="0"/>
              </a:rPr>
              <a:t>none</a:t>
            </a:r>
            <a:r>
              <a:rPr altLang="en-US" sz="2000" lang="en-US">
                <a:latin typeface="Comic Sans MS" pitchFamily="66" charset="0"/>
              </a:rPr>
              <a:t> of their strategies is always better (or never worse) than the others across all opponent choices.</a:t>
            </a:r>
          </a:p>
        </p:txBody>
      </p:sp>
      <p:pic>
        <p:nvPicPr>
          <p:cNvPr id="2097178" name="Picture 3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612900" y="2260600"/>
            <a:ext cx="5751512" cy="301625"/>
          </a:xfrm>
          <a:prstGeom prst="rect"/>
          <a:noFill/>
          <a:ln>
            <a:noFill/>
          </a:ln>
        </p:spPr>
      </p:pic>
      <p:sp>
        <p:nvSpPr>
          <p:cNvPr id="1048779" name="TextBox 13"/>
          <p:cNvSpPr txBox="1"/>
          <p:nvPr/>
        </p:nvSpPr>
        <p:spPr>
          <a:xfrm rot="0">
            <a:off x="368300" y="2660650"/>
            <a:ext cx="4635500" cy="3478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2000" lang="en-US">
                <a:latin typeface="Comic Sans MS" pitchFamily="66" charset="0"/>
              </a:rPr>
              <a:t>Step 1: Check Player A (row player)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If B plays H: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A: H → 1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A: T → -1</a:t>
            </a:r>
            <a:br>
              <a:rPr altLang="en-US" sz="2000" lang="en-US">
                <a:latin typeface="Comic Sans MS" pitchFamily="66" charset="0"/>
              </a:rPr>
            </a:br>
            <a:r>
              <a:rPr altLang="en-US" sz="2000" lang="en-US">
                <a:latin typeface="Comic Sans MS" pitchFamily="66" charset="0"/>
              </a:rPr>
              <a:t> Best = H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If B plays T:</a:t>
            </a:r>
          </a:p>
          <a:p>
            <a:pPr indent="-342900" lvl="2" marL="800100">
              <a:buChar char="•"/>
            </a:pPr>
            <a:r>
              <a:rPr altLang="en-US" sz="2000" lang="en-US">
                <a:latin typeface="Comic Sans MS" pitchFamily="66" charset="0"/>
              </a:rPr>
              <a:t>A: H → -1</a:t>
            </a:r>
          </a:p>
          <a:p>
            <a:pPr indent="-342900" lvl="2" marL="800100">
              <a:buChar char="•"/>
            </a:pPr>
            <a:r>
              <a:rPr altLang="en-US" sz="2000" lang="en-US">
                <a:latin typeface="Comic Sans MS" pitchFamily="66" charset="0"/>
              </a:rPr>
              <a:t>A: T → 1</a:t>
            </a:r>
            <a:br>
              <a:rPr altLang="en-US" sz="2000" lang="en-US">
                <a:latin typeface="Comic Sans MS" pitchFamily="66" charset="0"/>
              </a:rPr>
            </a:br>
            <a:r>
              <a:rPr altLang="en-US" sz="2000" lang="en-US">
                <a:latin typeface="Comic Sans MS" pitchFamily="66" charset="0"/>
              </a:rPr>
              <a:t> Best = T</a:t>
            </a:r>
          </a:p>
          <a:p>
            <a:pPr indent="-445770" lvl="1" marL="742950">
              <a:buChar char="•"/>
            </a:pPr>
            <a:endParaRPr altLang="en-US" sz="2000" lang="en-US">
              <a:latin typeface="Comic Sans MS" pitchFamily="66" charset="0"/>
            </a:endParaRPr>
          </a:p>
          <a:p>
            <a:pPr lvl="0"/>
            <a:endParaRPr altLang="en-US" sz="2000" lang="en-US"/>
          </a:p>
        </p:txBody>
      </p:sp>
      <p:sp>
        <p:nvSpPr>
          <p:cNvPr id="1048780" name="TextBox 11"/>
          <p:cNvSpPr txBox="1"/>
          <p:nvPr/>
        </p:nvSpPr>
        <p:spPr>
          <a:xfrm rot="0">
            <a:off x="368300" y="5516562"/>
            <a:ext cx="7735887" cy="8302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A’s best choice switches depending on what B does → so no dominant strategy.</a:t>
            </a:r>
          </a:p>
        </p:txBody>
      </p:sp>
      <p:pic>
        <p:nvPicPr>
          <p:cNvPr id="2097179" name="Picture 9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4487862" y="2657475"/>
            <a:ext cx="4535487" cy="27622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7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84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29</a:t>
            </a:fld>
            <a:endParaRPr altLang="en-US" sz="1400" lang="en-US"/>
          </a:p>
        </p:txBody>
      </p:sp>
      <p:sp>
        <p:nvSpPr>
          <p:cNvPr id="1048785" name="TextBox 12"/>
          <p:cNvSpPr txBox="1"/>
          <p:nvPr/>
        </p:nvSpPr>
        <p:spPr>
          <a:xfrm rot="0">
            <a:off x="395287" y="403225"/>
            <a:ext cx="7561262" cy="8302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solidFill>
                  <a:srgbClr val="0070C0"/>
                </a:solidFill>
                <a:latin typeface="Comic Sans MS" pitchFamily="66" charset="0"/>
              </a:rPr>
              <a:t>Types of Dominance-No dominance-Matching Pennies.</a:t>
            </a:r>
          </a:p>
        </p:txBody>
      </p:sp>
      <p:sp>
        <p:nvSpPr>
          <p:cNvPr id="1048786" name="TextBox 8"/>
          <p:cNvSpPr txBox="1"/>
          <p:nvPr/>
        </p:nvSpPr>
        <p:spPr>
          <a:xfrm rot="0">
            <a:off x="576262" y="2206625"/>
            <a:ext cx="6262687" cy="16303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b="1" sz="2000" lang="en-US">
                <a:latin typeface="Comic Sans MS" pitchFamily="66" charset="0"/>
              </a:rPr>
              <a:t>Step 2: Check Player B (column player)</a:t>
            </a:r>
          </a:p>
          <a:p>
            <a:pPr lvl="0">
              <a:buChar char="•"/>
            </a:pPr>
            <a:r>
              <a:rPr altLang="en-US" sz="2000" lang="en-US">
                <a:latin typeface="Comic Sans MS" pitchFamily="66" charset="0"/>
              </a:rPr>
              <a:t>If </a:t>
            </a:r>
            <a:r>
              <a:rPr altLang="en-US" b="1" sz="2000" lang="en-US">
                <a:latin typeface="Comic Sans MS" pitchFamily="66" charset="0"/>
              </a:rPr>
              <a:t>A plays H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B: H → -1</a:t>
            </a:r>
          </a:p>
          <a:p>
            <a:pPr indent="-445770" lvl="1" marL="742950">
              <a:buChar char="•"/>
            </a:pPr>
            <a:r>
              <a:rPr altLang="en-US" sz="2000" lang="en-US">
                <a:latin typeface="Comic Sans MS" pitchFamily="66" charset="0"/>
              </a:rPr>
              <a:t>B: T → 1</a:t>
            </a:r>
            <a:br>
              <a:rPr altLang="en-US" sz="2000" lang="en-US">
                <a:latin typeface="Comic Sans MS" pitchFamily="66" charset="0"/>
              </a:rPr>
            </a:br>
            <a:r>
              <a:rPr altLang="en-US" sz="2000" lang="en-US">
                <a:latin typeface="Comic Sans MS" pitchFamily="66" charset="0"/>
              </a:rPr>
              <a:t>Best = </a:t>
            </a:r>
            <a:r>
              <a:rPr altLang="en-US" b="1" sz="2000" lang="en-US">
                <a:latin typeface="Comic Sans MS" pitchFamily="66" charset="0"/>
              </a:rPr>
              <a:t>T</a:t>
            </a:r>
          </a:p>
        </p:txBody>
      </p:sp>
      <p:sp>
        <p:nvSpPr>
          <p:cNvPr id="1048787" name="TextBox 9"/>
          <p:cNvSpPr txBox="1"/>
          <p:nvPr/>
        </p:nvSpPr>
        <p:spPr>
          <a:xfrm rot="0">
            <a:off x="4265612" y="2514600"/>
            <a:ext cx="4606925" cy="13223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-342900" lvl="0" marL="34290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If </a:t>
            </a:r>
            <a:r>
              <a:rPr altLang="en-US" b="1" sz="2000" lang="en-US">
                <a:latin typeface="Comic Sans MS" pitchFamily="66" charset="0"/>
              </a:rPr>
              <a:t>A plays T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indent="-445770" lvl="1" marL="742950">
              <a:spcBef>
                <a:spcPct val="0"/>
              </a:spcBef>
              <a:buChar char="•"/>
            </a:pPr>
            <a:r>
              <a:rPr altLang="en-US" sz="2000" lang="en-US">
                <a:latin typeface="Comic Sans MS" pitchFamily="66" charset="0"/>
              </a:rPr>
              <a:t>B: H → 1</a:t>
            </a:r>
          </a:p>
          <a:p>
            <a:pPr indent="-445770" lvl="1" marL="742950">
              <a:spcBef>
                <a:spcPct val="0"/>
              </a:spcBef>
              <a:buChar char="•"/>
            </a:pPr>
            <a:r>
              <a:rPr altLang="en-US" sz="2000" lang="en-US">
                <a:latin typeface="Comic Sans MS" pitchFamily="66" charset="0"/>
              </a:rPr>
              <a:t>B: T → -1</a:t>
            </a:r>
            <a:br>
              <a:rPr altLang="en-US" sz="2000" lang="en-US">
                <a:latin typeface="Comic Sans MS" pitchFamily="66" charset="0"/>
              </a:rPr>
            </a:br>
            <a:r>
              <a:rPr altLang="en-US" sz="2000" lang="en-US">
                <a:latin typeface="Comic Sans MS" pitchFamily="66" charset="0"/>
              </a:rPr>
              <a:t>Best = </a:t>
            </a:r>
            <a:r>
              <a:rPr altLang="en-US" b="1" sz="2000" lang="en-US">
                <a:latin typeface="Comic Sans MS" pitchFamily="66" charset="0"/>
              </a:rPr>
              <a:t>H</a:t>
            </a:r>
          </a:p>
        </p:txBody>
      </p:sp>
      <p:sp>
        <p:nvSpPr>
          <p:cNvPr id="1048788" name="TextBox 11"/>
          <p:cNvSpPr txBox="1"/>
          <p:nvPr/>
        </p:nvSpPr>
        <p:spPr>
          <a:xfrm rot="0">
            <a:off x="573087" y="3836987"/>
            <a:ext cx="7380287" cy="7080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B’s best choice also </a:t>
            </a:r>
            <a:r>
              <a:rPr altLang="en-US" b="1" sz="2000" lang="en-US">
                <a:latin typeface="Comic Sans MS" pitchFamily="66" charset="0"/>
              </a:rPr>
              <a:t>switches depending on what A does</a:t>
            </a:r>
            <a:r>
              <a:rPr altLang="en-US" sz="2000" lang="en-US">
                <a:latin typeface="Comic Sans MS" pitchFamily="66" charset="0"/>
              </a:rPr>
              <a:t> → so </a:t>
            </a:r>
            <a:r>
              <a:rPr altLang="en-US" b="1" sz="2000" lang="en-US">
                <a:latin typeface="Comic Sans MS" pitchFamily="66" charset="0"/>
              </a:rPr>
              <a:t>no dominant strategy</a:t>
            </a:r>
          </a:p>
        </p:txBody>
      </p:sp>
      <p:sp>
        <p:nvSpPr>
          <p:cNvPr id="1048789" name="TextBox 13"/>
          <p:cNvSpPr txBox="1"/>
          <p:nvPr/>
        </p:nvSpPr>
        <p:spPr>
          <a:xfrm rot="0">
            <a:off x="573087" y="4651375"/>
            <a:ext cx="7405687" cy="1322387"/>
          </a:xfrm>
          <a:prstGeom prst="rect"/>
          <a:solidFill>
            <a:srgbClr val="E6E6E6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A dominant strategy must be better (strictly or weakly) no matter what the other does.Here, each player’s “best” depends on the opponent’s move.That’s why neither A nor B has a dominant strategy.</a:t>
            </a:r>
          </a:p>
        </p:txBody>
      </p:sp>
      <p:pic>
        <p:nvPicPr>
          <p:cNvPr id="2097180" name="Picture 10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892550" y="763587"/>
            <a:ext cx="2676525" cy="16303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7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93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30</a:t>
            </a:fld>
            <a:endParaRPr altLang="en-US" sz="1400" lang="en-US"/>
          </a:p>
        </p:txBody>
      </p:sp>
      <p:sp>
        <p:nvSpPr>
          <p:cNvPr id="1048794" name="TextBox 12"/>
          <p:cNvSpPr txBox="1"/>
          <p:nvPr/>
        </p:nvSpPr>
        <p:spPr>
          <a:xfrm rot="0">
            <a:off x="323850" y="404812"/>
            <a:ext cx="7561262" cy="461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solidFill>
                  <a:srgbClr val="0070C0"/>
                </a:solidFill>
                <a:latin typeface="Comic Sans MS" pitchFamily="66" charset="0"/>
              </a:rPr>
              <a:t>Zero-sum game</a:t>
            </a:r>
          </a:p>
        </p:txBody>
      </p:sp>
      <p:sp>
        <p:nvSpPr>
          <p:cNvPr id="1048795" name="TextBox 11"/>
          <p:cNvSpPr txBox="1"/>
          <p:nvPr/>
        </p:nvSpPr>
        <p:spPr>
          <a:xfrm rot="0">
            <a:off x="323850" y="866775"/>
            <a:ext cx="7993062" cy="19383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2000" lang="en-US">
                <a:latin typeface="Comic Sans MS" pitchFamily="66" charset="0"/>
              </a:rPr>
              <a:t>A zero-sum game is a game where the total payoff of all players always sums to zero (or a constant).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In other words, one player’s gain is exactly the other player’s loss.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If Player A wins +3, then Player B must get -3.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Perfectly competitive: no possibility of mutual gain.</a:t>
            </a:r>
          </a:p>
        </p:txBody>
      </p:sp>
      <p:sp>
        <p:nvSpPr>
          <p:cNvPr id="1048796" name="TextBox 14"/>
          <p:cNvSpPr txBox="1"/>
          <p:nvPr/>
        </p:nvSpPr>
        <p:spPr>
          <a:xfrm rot="0">
            <a:off x="311150" y="2798762"/>
            <a:ext cx="4008437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For a 2-player zero-sum game:</a:t>
            </a:r>
          </a:p>
        </p:txBody>
      </p:sp>
      <p:pic>
        <p:nvPicPr>
          <p:cNvPr id="2097181" name="Picture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268537" y="3287712"/>
            <a:ext cx="4510087" cy="357187"/>
          </a:xfrm>
          <a:prstGeom prst="rect"/>
          <a:noFill/>
          <a:ln>
            <a:noFill/>
          </a:ln>
        </p:spPr>
      </p:pic>
      <p:sp>
        <p:nvSpPr>
          <p:cNvPr id="1048797" name="TextBox 17"/>
          <p:cNvSpPr txBox="1"/>
          <p:nvPr/>
        </p:nvSpPr>
        <p:spPr>
          <a:xfrm rot="0">
            <a:off x="339725" y="3644900"/>
            <a:ext cx="4376737" cy="400050"/>
          </a:xfrm>
          <a:prstGeom prst="rect"/>
          <a:solidFill>
            <a:srgbClr val="D9D9D9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2000" lang="en-US">
                <a:latin typeface="Comic Sans MS" pitchFamily="66" charset="0"/>
              </a:rPr>
              <a:t>Classic Examples-Matching Pennies</a:t>
            </a:r>
          </a:p>
        </p:txBody>
      </p:sp>
      <p:sp>
        <p:nvSpPr>
          <p:cNvPr id="1048798" name="TextBox 21"/>
          <p:cNvSpPr txBox="1"/>
          <p:nvPr/>
        </p:nvSpPr>
        <p:spPr>
          <a:xfrm rot="0">
            <a:off x="339725" y="5178425"/>
            <a:ext cx="7986712" cy="13239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-342900" lvl="0" marL="34290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If both choose the same → A wins (+1), B loses (-1).</a:t>
            </a:r>
          </a:p>
          <a:p>
            <a:pPr algn="just" indent="-342900" lvl="0" marL="34290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If different → B wins (+1), A loses (-1).</a:t>
            </a:r>
          </a:p>
          <a:p>
            <a:pPr algn="just" indent="-342900" lvl="0" marL="342900">
              <a:spcBef>
                <a:spcPct val="0"/>
              </a:spcBef>
            </a:pPr>
            <a:r>
              <a:rPr altLang="en-US" b="1" sz="2000" lang="en-US">
                <a:latin typeface="Comic Sans MS" pitchFamily="66" charset="0"/>
              </a:rPr>
              <a:t>Sum of payoffs = 0 in every cell.</a:t>
            </a:r>
          </a:p>
          <a:p>
            <a:pPr algn="just" indent="-342900" lvl="0" marL="34290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This is the </a:t>
            </a:r>
            <a:r>
              <a:rPr altLang="en-US" b="1" sz="2000" lang="en-US">
                <a:latin typeface="Comic Sans MS" pitchFamily="66" charset="0"/>
              </a:rPr>
              <a:t>purest zero-sum game</a:t>
            </a:r>
            <a:r>
              <a:rPr altLang="en-US" sz="2000" lang="en-US">
                <a:latin typeface="Comic Sans MS" pitchFamily="66" charset="0"/>
              </a:rPr>
              <a:t>.</a:t>
            </a:r>
          </a:p>
        </p:txBody>
      </p:sp>
      <p:pic>
        <p:nvPicPr>
          <p:cNvPr id="2097182" name="Picture 9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3146425" y="4124325"/>
            <a:ext cx="1916112" cy="116681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8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02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31</a:t>
            </a:fld>
            <a:endParaRPr altLang="en-US" sz="1400" lang="en-US"/>
          </a:p>
        </p:txBody>
      </p:sp>
      <p:sp>
        <p:nvSpPr>
          <p:cNvPr id="1048803" name="TextBox 12"/>
          <p:cNvSpPr txBox="1"/>
          <p:nvPr/>
        </p:nvSpPr>
        <p:spPr>
          <a:xfrm rot="0">
            <a:off x="395287" y="403225"/>
            <a:ext cx="7561262" cy="461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solidFill>
                  <a:srgbClr val="0070C0"/>
                </a:solidFill>
                <a:latin typeface="Comic Sans MS" pitchFamily="66" charset="0"/>
              </a:rPr>
              <a:t>Mixed Strategy Nash Equilibrium (MSNE)</a:t>
            </a:r>
          </a:p>
        </p:txBody>
      </p:sp>
      <p:sp>
        <p:nvSpPr>
          <p:cNvPr id="1048804" name="TextBox 9"/>
          <p:cNvSpPr txBox="1"/>
          <p:nvPr/>
        </p:nvSpPr>
        <p:spPr>
          <a:xfrm rot="0">
            <a:off x="539750" y="1052512"/>
            <a:ext cx="7704137" cy="2862262"/>
          </a:xfrm>
          <a:prstGeom prst="rect"/>
          <a:solidFill>
            <a:srgbClr val="D9D9D9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2000" lang="en-US">
                <a:latin typeface="Comic Sans MS" pitchFamily="66" charset="0"/>
              </a:rPr>
              <a:t>A </a:t>
            </a:r>
            <a:r>
              <a:rPr altLang="en-US" b="1" sz="2000" lang="en-US">
                <a:latin typeface="Comic Sans MS" pitchFamily="66" charset="0"/>
              </a:rPr>
              <a:t>mixed strategy</a:t>
            </a:r>
            <a:r>
              <a:rPr altLang="en-US" sz="2000" lang="en-US">
                <a:latin typeface="Comic Sans MS" pitchFamily="66" charset="0"/>
              </a:rPr>
              <a:t> = when a player </a:t>
            </a:r>
            <a:r>
              <a:rPr altLang="en-US" b="1" sz="2000" lang="en-US">
                <a:latin typeface="Comic Sans MS" pitchFamily="66" charset="0"/>
              </a:rPr>
              <a:t>randomizes</a:t>
            </a:r>
            <a:r>
              <a:rPr altLang="en-US" sz="2000" lang="en-US">
                <a:latin typeface="Comic Sans MS" pitchFamily="66" charset="0"/>
              </a:rPr>
              <a:t> over their available pure strategies with certain probabilities.</a:t>
            </a:r>
          </a:p>
          <a:p>
            <a:pPr algn="just" lvl="0">
              <a:buChar char="•"/>
            </a:pPr>
            <a:r>
              <a:rPr altLang="en-US" sz="2000" lang="en-US">
                <a:latin typeface="Comic Sans MS" pitchFamily="66" charset="0"/>
              </a:rPr>
              <a:t>Instead of always playing H or T, a player may choose:</a:t>
            </a:r>
          </a:p>
          <a:p>
            <a:pPr algn="just" indent="-480060" lvl="1" marL="800100">
              <a:buChar char="•"/>
            </a:pPr>
            <a:r>
              <a:rPr altLang="en-US" sz="2000" lang="en-US">
                <a:latin typeface="Comic Sans MS" pitchFamily="66" charset="0"/>
              </a:rPr>
              <a:t>H with probability p</a:t>
            </a:r>
          </a:p>
          <a:p>
            <a:pPr algn="just" indent="-480060" lvl="1" marL="800100">
              <a:buChar char="•"/>
            </a:pPr>
            <a:r>
              <a:rPr altLang="en-US" sz="2000" lang="en-US">
                <a:latin typeface="Comic Sans MS" pitchFamily="66" charset="0"/>
              </a:rPr>
              <a:t>T with probability 1−p</a:t>
            </a:r>
          </a:p>
          <a:p>
            <a:pPr algn="just" lvl="0"/>
            <a:r>
              <a:rPr altLang="en-US" sz="2000" lang="en-US">
                <a:latin typeface="Comic Sans MS" pitchFamily="66" charset="0"/>
              </a:rPr>
              <a:t>A </a:t>
            </a:r>
            <a:r>
              <a:rPr altLang="en-US" b="1" sz="2000" lang="en-US">
                <a:latin typeface="Comic Sans MS" pitchFamily="66" charset="0"/>
              </a:rPr>
              <a:t>mixed strategy Nash equilibrium</a:t>
            </a:r>
            <a:r>
              <a:rPr altLang="en-US" sz="2000" lang="en-US">
                <a:latin typeface="Comic Sans MS" pitchFamily="66" charset="0"/>
              </a:rPr>
              <a:t> is a set of probabilities such that </a:t>
            </a:r>
            <a:r>
              <a:rPr altLang="en-US" b="1" sz="2000" lang="en-US">
                <a:latin typeface="Comic Sans MS" pitchFamily="66" charset="0"/>
              </a:rPr>
              <a:t>no player can improve their expected payoff by changing their probability mix</a:t>
            </a:r>
            <a:r>
              <a:rPr altLang="en-US" sz="2000" lang="en-US">
                <a:latin typeface="Comic Sans MS" pitchFamily="66" charset="0"/>
              </a:rPr>
              <a:t>, given the other player’s mix.</a:t>
            </a:r>
          </a:p>
          <a:p>
            <a:pPr algn="just" lvl="0"/>
            <a:endParaRPr altLang="en-US" sz="2000" lang="en-US">
              <a:latin typeface="Comic Sans MS" pitchFamily="66" charset="0"/>
            </a:endParaRPr>
          </a:p>
        </p:txBody>
      </p:sp>
      <p:sp>
        <p:nvSpPr>
          <p:cNvPr id="1048805" name="TextBox 10"/>
          <p:cNvSpPr txBox="1"/>
          <p:nvPr/>
        </p:nvSpPr>
        <p:spPr>
          <a:xfrm rot="0">
            <a:off x="539750" y="4187825"/>
            <a:ext cx="7704137" cy="1630362"/>
          </a:xfrm>
          <a:prstGeom prst="rect"/>
          <a:solidFill>
            <a:srgbClr val="D9D9D9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Some games (like Prisoner’s Dilemma) have pure NE.</a:t>
            </a:r>
          </a:p>
          <a:p>
            <a:pPr algn="just"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But others (like Matching Pennies) have no pure NE — if one player’s move is predictable, the other exploits it.</a:t>
            </a:r>
          </a:p>
          <a:p>
            <a:pPr algn="just"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The solution is randomization: make your actions unpredictable so the opponent can’t exploit you.</a:t>
            </a:r>
          </a:p>
        </p:txBody>
      </p:sp>
    </p:spTree>
  </p:cSld>
  <p:clrMapOvr>
    <a:masterClrMapping/>
  </p:clrMapOvr>
  <p:timing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8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09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32</a:t>
            </a:fld>
            <a:endParaRPr altLang="en-US" sz="1400" lang="en-US"/>
          </a:p>
        </p:txBody>
      </p:sp>
      <p:sp>
        <p:nvSpPr>
          <p:cNvPr id="1048810" name="TextBox 12"/>
          <p:cNvSpPr txBox="1"/>
          <p:nvPr/>
        </p:nvSpPr>
        <p:spPr>
          <a:xfrm rot="0">
            <a:off x="395287" y="403225"/>
            <a:ext cx="7561262" cy="461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solidFill>
                  <a:srgbClr val="0070C0"/>
                </a:solidFill>
                <a:latin typeface="Comic Sans MS" pitchFamily="66" charset="0"/>
              </a:rPr>
              <a:t>Mixed Strategy Nash Equilibrium (MSNE)</a:t>
            </a:r>
          </a:p>
        </p:txBody>
      </p:sp>
      <p:sp>
        <p:nvSpPr>
          <p:cNvPr id="1048811" name="TextBox 6"/>
          <p:cNvSpPr txBox="1"/>
          <p:nvPr/>
        </p:nvSpPr>
        <p:spPr>
          <a:xfrm rot="0">
            <a:off x="395287" y="865187"/>
            <a:ext cx="8062912" cy="7080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b="1" sz="2000" lang="en-US">
                <a:latin typeface="Comic Sans MS" pitchFamily="66" charset="0"/>
              </a:rPr>
              <a:t>General 2×2 Game Setup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Suppose we have this payoff matrix (payoffs = (A,B)):</a:t>
            </a:r>
          </a:p>
        </p:txBody>
      </p:sp>
      <p:sp>
        <p:nvSpPr>
          <p:cNvPr id="1048812" name="TextBox 12"/>
          <p:cNvSpPr txBox="1"/>
          <p:nvPr/>
        </p:nvSpPr>
        <p:spPr>
          <a:xfrm rot="0">
            <a:off x="490537" y="2068512"/>
            <a:ext cx="4729162" cy="13239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A = row player (chooses U or D).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B = column player (chooses L or R).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a</a:t>
            </a:r>
            <a:r>
              <a:rPr altLang="en-US" baseline="-25000" sz="2000" lang="en-US">
                <a:latin typeface="Comic Sans MS" pitchFamily="66" charset="0"/>
              </a:rPr>
              <a:t>i</a:t>
            </a:r>
            <a:r>
              <a:rPr altLang="en-US" sz="2000" lang="en-US">
                <a:latin typeface="Comic Sans MS" pitchFamily="66" charset="0"/>
              </a:rPr>
              <a:t>​ = payoff to A, 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b</a:t>
            </a:r>
            <a:r>
              <a:rPr altLang="en-US" baseline="-25000" sz="2000" lang="en-US">
                <a:latin typeface="Comic Sans MS" pitchFamily="66" charset="0"/>
              </a:rPr>
              <a:t>i</a:t>
            </a:r>
            <a:r>
              <a:rPr altLang="en-US" sz="2000" lang="en-US">
                <a:latin typeface="Comic Sans MS" pitchFamily="66" charset="0"/>
              </a:rPr>
              <a:t>​ = payoff to B.</a:t>
            </a:r>
          </a:p>
        </p:txBody>
      </p:sp>
      <p:sp>
        <p:nvSpPr>
          <p:cNvPr id="1048813" name="TextBox 14"/>
          <p:cNvSpPr txBox="1"/>
          <p:nvPr/>
        </p:nvSpPr>
        <p:spPr>
          <a:xfrm rot="0">
            <a:off x="465137" y="3867150"/>
            <a:ext cx="4827587" cy="400050"/>
          </a:xfrm>
          <a:prstGeom prst="rect"/>
          <a:solidFill>
            <a:srgbClr val="BFBFBF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b="1" sz="2000" lang="en-US">
                <a:latin typeface="Comic Sans MS" pitchFamily="66" charset="0"/>
              </a:rPr>
              <a:t>Step 1: Let players mix strategies</a:t>
            </a:r>
          </a:p>
        </p:txBody>
      </p:sp>
      <p:sp>
        <p:nvSpPr>
          <p:cNvPr id="1048814" name="TextBox 15"/>
          <p:cNvSpPr txBox="1"/>
          <p:nvPr/>
        </p:nvSpPr>
        <p:spPr>
          <a:xfrm rot="0">
            <a:off x="179387" y="4524375"/>
            <a:ext cx="7559675" cy="7080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-342900" lvl="0" marL="34290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A plays </a:t>
            </a:r>
            <a:r>
              <a:rPr altLang="en-US" b="1" sz="2000" lang="en-US">
                <a:latin typeface="Comic Sans MS" pitchFamily="66" charset="0"/>
              </a:rPr>
              <a:t>U</a:t>
            </a:r>
            <a:r>
              <a:rPr altLang="en-US" sz="2000" lang="en-US">
                <a:latin typeface="Comic Sans MS" pitchFamily="66" charset="0"/>
              </a:rPr>
              <a:t> with probability p, </a:t>
            </a:r>
            <a:r>
              <a:rPr altLang="en-US" b="1" sz="2000" lang="en-US">
                <a:latin typeface="Comic Sans MS" pitchFamily="66" charset="0"/>
              </a:rPr>
              <a:t>D</a:t>
            </a:r>
            <a:r>
              <a:rPr altLang="en-US" sz="2000" lang="en-US">
                <a:latin typeface="Comic Sans MS" pitchFamily="66" charset="0"/>
              </a:rPr>
              <a:t> with probability 1−p.</a:t>
            </a:r>
          </a:p>
          <a:p>
            <a:pPr indent="-342900" lvl="0" marL="34290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B plays </a:t>
            </a:r>
            <a:r>
              <a:rPr altLang="en-US" b="1" sz="2000" lang="en-US">
                <a:latin typeface="Comic Sans MS" pitchFamily="66" charset="0"/>
              </a:rPr>
              <a:t>L</a:t>
            </a:r>
            <a:r>
              <a:rPr altLang="en-US" sz="2000" lang="en-US">
                <a:latin typeface="Comic Sans MS" pitchFamily="66" charset="0"/>
              </a:rPr>
              <a:t> with probability q, </a:t>
            </a:r>
            <a:r>
              <a:rPr altLang="en-US" b="1" sz="2000" lang="en-US">
                <a:latin typeface="Comic Sans MS" pitchFamily="66" charset="0"/>
              </a:rPr>
              <a:t>R</a:t>
            </a:r>
            <a:r>
              <a:rPr altLang="en-US" sz="2000" lang="en-US">
                <a:latin typeface="Comic Sans MS" pitchFamily="66" charset="0"/>
              </a:rPr>
              <a:t> with probability 1−q.</a:t>
            </a:r>
          </a:p>
        </p:txBody>
      </p:sp>
      <p:pic>
        <p:nvPicPr>
          <p:cNvPr id="2097183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651500" y="1773237"/>
            <a:ext cx="2682875" cy="226377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8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18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33</a:t>
            </a:fld>
            <a:endParaRPr altLang="en-US" sz="1400" lang="en-US"/>
          </a:p>
        </p:txBody>
      </p:sp>
      <p:sp>
        <p:nvSpPr>
          <p:cNvPr id="1048819" name="TextBox 28"/>
          <p:cNvSpPr txBox="1"/>
          <p:nvPr/>
        </p:nvSpPr>
        <p:spPr>
          <a:xfrm rot="0">
            <a:off x="539750" y="1108075"/>
            <a:ext cx="6769100" cy="400050"/>
          </a:xfrm>
          <a:prstGeom prst="rect"/>
          <a:solidFill>
            <a:srgbClr val="BFBFBF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2000" lang="en-US">
                <a:latin typeface="Comic Sans MS" pitchFamily="66" charset="0"/>
              </a:rPr>
              <a:t>Step 2: Expected payoff to A from pure strategies</a:t>
            </a:r>
          </a:p>
        </p:txBody>
      </p:sp>
      <p:sp>
        <p:nvSpPr>
          <p:cNvPr id="1048820" name="TextBox 29"/>
          <p:cNvSpPr txBox="1"/>
          <p:nvPr/>
        </p:nvSpPr>
        <p:spPr>
          <a:xfrm rot="0">
            <a:off x="400050" y="1671637"/>
            <a:ext cx="7993062" cy="13223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If A plays U: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U</a:t>
            </a:r>
            <a:r>
              <a:rPr altLang="en-US" baseline="-25000" sz="2000" lang="en-US">
                <a:latin typeface="Comic Sans MS" pitchFamily="66" charset="0"/>
              </a:rPr>
              <a:t>A</a:t>
            </a:r>
            <a:r>
              <a:rPr altLang="en-US" sz="2000" lang="en-US">
                <a:latin typeface="Comic Sans MS" pitchFamily="66" charset="0"/>
              </a:rPr>
              <a:t>(U)=q⋅a</a:t>
            </a:r>
            <a:r>
              <a:rPr altLang="en-US" baseline="-25000" sz="2000" lang="en-US">
                <a:latin typeface="Comic Sans MS" pitchFamily="66" charset="0"/>
              </a:rPr>
              <a:t>1</a:t>
            </a:r>
            <a:r>
              <a:rPr altLang="en-US" sz="2000" lang="en-US">
                <a:latin typeface="Comic Sans MS" pitchFamily="66" charset="0"/>
              </a:rPr>
              <a:t>+(1−q)⋅a</a:t>
            </a:r>
            <a:r>
              <a:rPr altLang="en-US" baseline="-25000" sz="2000" lang="en-US">
                <a:latin typeface="Comic Sans MS" pitchFamily="66" charset="0"/>
              </a:rPr>
              <a:t>2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If A plays D: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U</a:t>
            </a:r>
            <a:r>
              <a:rPr altLang="en-US" baseline="-25000" sz="2000" lang="en-US">
                <a:latin typeface="Comic Sans MS" pitchFamily="66" charset="0"/>
              </a:rPr>
              <a:t>A</a:t>
            </a:r>
            <a:r>
              <a:rPr altLang="en-US" sz="2000" lang="en-US">
                <a:latin typeface="Comic Sans MS" pitchFamily="66" charset="0"/>
              </a:rPr>
              <a:t>(D)=q⋅a</a:t>
            </a:r>
            <a:r>
              <a:rPr altLang="en-US" baseline="-25000" sz="2000" lang="en-US">
                <a:latin typeface="Comic Sans MS" pitchFamily="66" charset="0"/>
              </a:rPr>
              <a:t>3</a:t>
            </a:r>
            <a:r>
              <a:rPr altLang="en-US" sz="2000" lang="en-US">
                <a:latin typeface="Comic Sans MS" pitchFamily="66" charset="0"/>
              </a:rPr>
              <a:t>+(1−q)⋅a</a:t>
            </a:r>
            <a:r>
              <a:rPr altLang="en-US" baseline="-25000" sz="2000" lang="en-US">
                <a:latin typeface="Comic Sans MS" pitchFamily="66" charset="0"/>
              </a:rPr>
              <a:t>4</a:t>
            </a:r>
          </a:p>
        </p:txBody>
      </p:sp>
      <p:sp>
        <p:nvSpPr>
          <p:cNvPr id="1048821" name="TextBox 31"/>
          <p:cNvSpPr txBox="1"/>
          <p:nvPr/>
        </p:nvSpPr>
        <p:spPr>
          <a:xfrm rot="0">
            <a:off x="395287" y="3217862"/>
            <a:ext cx="4821237" cy="400050"/>
          </a:xfrm>
          <a:prstGeom prst="rect"/>
          <a:solidFill>
            <a:srgbClr val="BFBFBF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2000" lang="en-US">
                <a:latin typeface="Comic Sans MS" pitchFamily="66" charset="0"/>
              </a:rPr>
              <a:t>Step 3: Indifference condition for A</a:t>
            </a:r>
          </a:p>
        </p:txBody>
      </p:sp>
      <p:sp>
        <p:nvSpPr>
          <p:cNvPr id="1048822" name="TextBox 32"/>
          <p:cNvSpPr txBox="1"/>
          <p:nvPr/>
        </p:nvSpPr>
        <p:spPr>
          <a:xfrm rot="0">
            <a:off x="395287" y="3883025"/>
            <a:ext cx="7993062" cy="16303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In equilibrium, A is willing to mix only if he is indifferent between U and D: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	q⋅a</a:t>
            </a:r>
            <a:r>
              <a:rPr altLang="en-US" baseline="-25000" sz="2000" lang="en-US">
                <a:latin typeface="Comic Sans MS" pitchFamily="66" charset="0"/>
              </a:rPr>
              <a:t>1</a:t>
            </a:r>
            <a:r>
              <a:rPr altLang="en-US" sz="2000" lang="en-US">
                <a:latin typeface="Comic Sans MS" pitchFamily="66" charset="0"/>
              </a:rPr>
              <a:t>+(1−q)⋅a</a:t>
            </a:r>
            <a:r>
              <a:rPr altLang="en-US" baseline="-25000" sz="2000" lang="en-US">
                <a:latin typeface="Comic Sans MS" pitchFamily="66" charset="0"/>
              </a:rPr>
              <a:t>2</a:t>
            </a:r>
            <a:r>
              <a:rPr altLang="en-US" sz="2000" lang="en-US">
                <a:latin typeface="Comic Sans MS" pitchFamily="66" charset="0"/>
              </a:rPr>
              <a:t>=q⋅a</a:t>
            </a:r>
            <a:r>
              <a:rPr altLang="en-US" baseline="-25000" sz="2000" lang="en-US">
                <a:latin typeface="Comic Sans MS" pitchFamily="66" charset="0"/>
              </a:rPr>
              <a:t>3</a:t>
            </a:r>
            <a:r>
              <a:rPr altLang="en-US" sz="2000" lang="en-US">
                <a:latin typeface="Comic Sans MS" pitchFamily="66" charset="0"/>
              </a:rPr>
              <a:t>+(1−q)⋅a</a:t>
            </a:r>
            <a:r>
              <a:rPr altLang="en-US" baseline="-25000" sz="2000" lang="en-US">
                <a:latin typeface="Comic Sans MS" pitchFamily="66" charset="0"/>
              </a:rPr>
              <a:t>4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​Solve for q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This gives B’s mixing probability that makes A indifferent.</a:t>
            </a:r>
          </a:p>
        </p:txBody>
      </p:sp>
      <p:sp>
        <p:nvSpPr>
          <p:cNvPr id="1048823" name="TextBox 12"/>
          <p:cNvSpPr txBox="1"/>
          <p:nvPr/>
        </p:nvSpPr>
        <p:spPr>
          <a:xfrm rot="0">
            <a:off x="395287" y="403225"/>
            <a:ext cx="7561262" cy="461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solidFill>
                  <a:srgbClr val="0070C0"/>
                </a:solidFill>
                <a:latin typeface="Comic Sans MS" pitchFamily="66" charset="0"/>
              </a:rPr>
              <a:t>Mixed Strategy Nash Equilibrium (MSNE)</a:t>
            </a:r>
          </a:p>
        </p:txBody>
      </p:sp>
      <p:pic>
        <p:nvPicPr>
          <p:cNvPr id="2097184" name="Picture 8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707062" y="1635125"/>
            <a:ext cx="2681287" cy="226377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9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27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34</a:t>
            </a:fld>
            <a:endParaRPr altLang="en-US" sz="1400" lang="en-US"/>
          </a:p>
        </p:txBody>
      </p:sp>
      <p:sp>
        <p:nvSpPr>
          <p:cNvPr id="1048828" name="TextBox 9"/>
          <p:cNvSpPr txBox="1"/>
          <p:nvPr/>
        </p:nvSpPr>
        <p:spPr>
          <a:xfrm rot="0">
            <a:off x="250825" y="1038225"/>
            <a:ext cx="5473700" cy="708025"/>
          </a:xfrm>
          <a:prstGeom prst="rect"/>
          <a:solidFill>
            <a:srgbClr val="BFBFBF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b="1" sz="2000" lang="en-US">
                <a:latin typeface="Comic Sans MS" pitchFamily="66" charset="0"/>
              </a:rPr>
              <a:t>Step 4: Expected payoff to B from pure strategies</a:t>
            </a:r>
          </a:p>
        </p:txBody>
      </p:sp>
      <p:sp>
        <p:nvSpPr>
          <p:cNvPr id="1048829" name="TextBox 10"/>
          <p:cNvSpPr txBox="1"/>
          <p:nvPr/>
        </p:nvSpPr>
        <p:spPr>
          <a:xfrm rot="0">
            <a:off x="266700" y="2000250"/>
            <a:ext cx="4305300" cy="13223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If B plays </a:t>
            </a:r>
            <a:r>
              <a:rPr altLang="en-US" b="1" sz="2000" lang="en-US">
                <a:latin typeface="Comic Sans MS" pitchFamily="66" charset="0"/>
              </a:rPr>
              <a:t>L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U</a:t>
            </a:r>
            <a:r>
              <a:rPr altLang="en-US" baseline="-25000" sz="2000" lang="en-US">
                <a:latin typeface="Comic Sans MS" pitchFamily="66" charset="0"/>
              </a:rPr>
              <a:t>B</a:t>
            </a:r>
            <a:r>
              <a:rPr altLang="en-US" sz="2000" lang="en-US">
                <a:latin typeface="Comic Sans MS" pitchFamily="66" charset="0"/>
              </a:rPr>
              <a:t>(L)=p⋅b</a:t>
            </a:r>
            <a:r>
              <a:rPr altLang="en-US" baseline="-25000" sz="2000" lang="en-US">
                <a:latin typeface="Comic Sans MS" pitchFamily="66" charset="0"/>
              </a:rPr>
              <a:t>1</a:t>
            </a:r>
            <a:r>
              <a:rPr altLang="en-US" sz="2000" lang="en-US">
                <a:latin typeface="Comic Sans MS" pitchFamily="66" charset="0"/>
              </a:rPr>
              <a:t>+(1−p)⋅b</a:t>
            </a:r>
            <a:r>
              <a:rPr altLang="en-US" baseline="-25000" sz="2000" lang="en-US">
                <a:latin typeface="Comic Sans MS" pitchFamily="66" charset="0"/>
              </a:rPr>
              <a:t>3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​ If B plays </a:t>
            </a:r>
            <a:r>
              <a:rPr altLang="en-US" b="1" sz="2000" lang="en-US">
                <a:latin typeface="Comic Sans MS" pitchFamily="66" charset="0"/>
              </a:rPr>
              <a:t>R</a:t>
            </a:r>
            <a:r>
              <a:rPr altLang="en-US" sz="2000" lang="en-US">
                <a:latin typeface="Comic Sans MS" pitchFamily="66" charset="0"/>
              </a:rPr>
              <a:t>: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U</a:t>
            </a:r>
            <a:r>
              <a:rPr altLang="en-US" baseline="-25000" sz="2000" lang="en-US">
                <a:latin typeface="Comic Sans MS" pitchFamily="66" charset="0"/>
              </a:rPr>
              <a:t>B</a:t>
            </a:r>
            <a:r>
              <a:rPr altLang="en-US" sz="2000" lang="en-US">
                <a:latin typeface="Comic Sans MS" pitchFamily="66" charset="0"/>
              </a:rPr>
              <a:t>(R)=p⋅b</a:t>
            </a:r>
            <a:r>
              <a:rPr altLang="en-US" baseline="-25000" sz="2000" lang="en-US">
                <a:latin typeface="Comic Sans MS" pitchFamily="66" charset="0"/>
              </a:rPr>
              <a:t>2</a:t>
            </a:r>
            <a:r>
              <a:rPr altLang="en-US" sz="2000" lang="en-US">
                <a:latin typeface="Comic Sans MS" pitchFamily="66" charset="0"/>
              </a:rPr>
              <a:t>+(1−p)⋅b</a:t>
            </a:r>
            <a:r>
              <a:rPr altLang="en-US" baseline="-25000" sz="2000" lang="en-US">
                <a:latin typeface="Comic Sans MS" pitchFamily="66" charset="0"/>
              </a:rPr>
              <a:t>4</a:t>
            </a:r>
          </a:p>
        </p:txBody>
      </p:sp>
      <p:sp>
        <p:nvSpPr>
          <p:cNvPr id="1048830" name="TextBox 12"/>
          <p:cNvSpPr txBox="1"/>
          <p:nvPr/>
        </p:nvSpPr>
        <p:spPr>
          <a:xfrm rot="0">
            <a:off x="260350" y="3502025"/>
            <a:ext cx="4913312" cy="400050"/>
          </a:xfrm>
          <a:prstGeom prst="rect"/>
          <a:solidFill>
            <a:srgbClr val="BFBFBF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b="1" sz="2000" lang="en-US">
                <a:latin typeface="Comic Sans MS" pitchFamily="66" charset="0"/>
              </a:rPr>
              <a:t>Step 5: Indifference condition for B</a:t>
            </a:r>
          </a:p>
        </p:txBody>
      </p:sp>
      <p:sp>
        <p:nvSpPr>
          <p:cNvPr id="1048831" name="TextBox 13"/>
          <p:cNvSpPr txBox="1"/>
          <p:nvPr/>
        </p:nvSpPr>
        <p:spPr>
          <a:xfrm rot="0">
            <a:off x="260350" y="4187825"/>
            <a:ext cx="7561262" cy="16319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In equilibrium, B is willing to mix only if he is </a:t>
            </a:r>
            <a:r>
              <a:rPr altLang="en-US" b="1" sz="2000" lang="en-US">
                <a:latin typeface="Comic Sans MS" pitchFamily="66" charset="0"/>
              </a:rPr>
              <a:t>indifferent</a:t>
            </a:r>
            <a:r>
              <a:rPr altLang="en-US" sz="2000" lang="en-US">
                <a:latin typeface="Comic Sans MS" pitchFamily="66" charset="0"/>
              </a:rPr>
              <a:t> between L and R: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	p⋅b</a:t>
            </a:r>
            <a:r>
              <a:rPr altLang="en-US" baseline="-25000" sz="2000" lang="en-US">
                <a:latin typeface="Comic Sans MS" pitchFamily="66" charset="0"/>
              </a:rPr>
              <a:t>1</a:t>
            </a:r>
            <a:r>
              <a:rPr altLang="en-US" sz="2000" lang="en-US">
                <a:latin typeface="Comic Sans MS" pitchFamily="66" charset="0"/>
              </a:rPr>
              <a:t>+(1−p)⋅b</a:t>
            </a:r>
            <a:r>
              <a:rPr altLang="en-US" baseline="-25000" sz="2000" lang="en-US">
                <a:latin typeface="Comic Sans MS" pitchFamily="66" charset="0"/>
              </a:rPr>
              <a:t>3</a:t>
            </a:r>
            <a:r>
              <a:rPr altLang="en-US" sz="2000" lang="en-US">
                <a:latin typeface="Comic Sans MS" pitchFamily="66" charset="0"/>
              </a:rPr>
              <a:t>=p⋅b</a:t>
            </a:r>
            <a:r>
              <a:rPr altLang="en-US" baseline="-25000" sz="2000" lang="en-US">
                <a:latin typeface="Comic Sans MS" pitchFamily="66" charset="0"/>
              </a:rPr>
              <a:t>2</a:t>
            </a:r>
            <a:r>
              <a:rPr altLang="en-US" sz="2000" lang="en-US">
                <a:latin typeface="Comic Sans MS" pitchFamily="66" charset="0"/>
              </a:rPr>
              <a:t>+(1−p)⋅b</a:t>
            </a:r>
            <a:r>
              <a:rPr altLang="en-US" baseline="-25000" sz="2000" lang="en-US">
                <a:latin typeface="Comic Sans MS" pitchFamily="66" charset="0"/>
              </a:rPr>
              <a:t>4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Solve for p.</a:t>
            </a:r>
            <a:br>
              <a:rPr altLang="en-US" sz="2000" lang="en-US">
                <a:latin typeface="Comic Sans MS" pitchFamily="66" charset="0"/>
              </a:rPr>
            </a:br>
            <a:r>
              <a:rPr altLang="en-US" sz="2000" lang="en-US">
                <a:latin typeface="Comic Sans MS" pitchFamily="66" charset="0"/>
              </a:rPr>
              <a:t>This gives </a:t>
            </a:r>
            <a:r>
              <a:rPr altLang="en-US" b="1" sz="2000" lang="en-US">
                <a:latin typeface="Comic Sans MS" pitchFamily="66" charset="0"/>
              </a:rPr>
              <a:t>A’s mixing probability</a:t>
            </a:r>
            <a:r>
              <a:rPr altLang="en-US" sz="2000" lang="en-US">
                <a:latin typeface="Comic Sans MS" pitchFamily="66" charset="0"/>
              </a:rPr>
              <a:t> that makes B indifferent.</a:t>
            </a:r>
          </a:p>
        </p:txBody>
      </p:sp>
      <p:sp>
        <p:nvSpPr>
          <p:cNvPr id="1048832" name="TextBox 12"/>
          <p:cNvSpPr txBox="1"/>
          <p:nvPr/>
        </p:nvSpPr>
        <p:spPr>
          <a:xfrm rot="0">
            <a:off x="395287" y="403225"/>
            <a:ext cx="7561262" cy="461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solidFill>
                  <a:srgbClr val="0070C0"/>
                </a:solidFill>
                <a:latin typeface="Comic Sans MS" pitchFamily="66" charset="0"/>
              </a:rPr>
              <a:t>Mixed Strategy Nash Equilibrium (MSNE)</a:t>
            </a:r>
          </a:p>
        </p:txBody>
      </p:sp>
      <p:pic>
        <p:nvPicPr>
          <p:cNvPr id="2097185" name="Picture 8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799137" y="1638300"/>
            <a:ext cx="2681287" cy="226377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9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36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35</a:t>
            </a:fld>
            <a:endParaRPr altLang="en-US" sz="1400" lang="en-US"/>
          </a:p>
        </p:txBody>
      </p:sp>
      <p:sp>
        <p:nvSpPr>
          <p:cNvPr id="1048837" name="TextBox 9"/>
          <p:cNvSpPr txBox="1"/>
          <p:nvPr/>
        </p:nvSpPr>
        <p:spPr>
          <a:xfrm rot="0">
            <a:off x="430212" y="3208337"/>
            <a:ext cx="7345362" cy="400050"/>
          </a:xfrm>
          <a:prstGeom prst="rect"/>
          <a:solidFill>
            <a:srgbClr val="BFBFBF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b="1" sz="2000" lang="en-US">
                <a:latin typeface="Comic Sans MS" pitchFamily="66" charset="0"/>
              </a:rPr>
              <a:t>Step 6: Mixed Strategy Nash Equilibrium</a:t>
            </a:r>
          </a:p>
        </p:txBody>
      </p:sp>
      <p:sp>
        <p:nvSpPr>
          <p:cNvPr id="1048838" name="TextBox 8"/>
          <p:cNvSpPr txBox="1"/>
          <p:nvPr/>
        </p:nvSpPr>
        <p:spPr>
          <a:xfrm rot="0">
            <a:off x="250825" y="3824287"/>
            <a:ext cx="7345362" cy="400050"/>
          </a:xfrm>
          <a:prstGeom prst="rect"/>
          <a:solidFill>
            <a:schemeClr val="lt1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The solution (p</a:t>
            </a:r>
            <a:r>
              <a:rPr altLang="en-US" baseline="30000" sz="2000" lang="en-US">
                <a:latin typeface="Comic Sans MS" pitchFamily="66" charset="0"/>
              </a:rPr>
              <a:t>∗</a:t>
            </a:r>
            <a:r>
              <a:rPr altLang="en-US" sz="2000" lang="en-US">
                <a:latin typeface="Comic Sans MS" pitchFamily="66" charset="0"/>
              </a:rPr>
              <a:t>,q</a:t>
            </a:r>
            <a:r>
              <a:rPr altLang="en-US" baseline="30000" sz="2000" lang="en-US">
                <a:latin typeface="Comic Sans MS" pitchFamily="66" charset="0"/>
              </a:rPr>
              <a:t>∗</a:t>
            </a:r>
            <a:r>
              <a:rPr altLang="en-US" sz="2000" lang="en-US">
                <a:latin typeface="Comic Sans MS" pitchFamily="66" charset="0"/>
              </a:rPr>
              <a:t>) from Steps 3 and 5 is the MSNE.</a:t>
            </a:r>
          </a:p>
        </p:txBody>
      </p:sp>
      <p:sp>
        <p:nvSpPr>
          <p:cNvPr id="1048839" name="TextBox 12"/>
          <p:cNvSpPr txBox="1"/>
          <p:nvPr/>
        </p:nvSpPr>
        <p:spPr>
          <a:xfrm rot="0">
            <a:off x="395287" y="403225"/>
            <a:ext cx="7561262" cy="461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solidFill>
                  <a:srgbClr val="0070C0"/>
                </a:solidFill>
                <a:latin typeface="Comic Sans MS" pitchFamily="66" charset="0"/>
              </a:rPr>
              <a:t>Mixed Strategy Nash Equilibrium (MSNE)</a:t>
            </a:r>
          </a:p>
        </p:txBody>
      </p:sp>
      <p:pic>
        <p:nvPicPr>
          <p:cNvPr id="2097186" name="Picture 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059112" y="749300"/>
            <a:ext cx="2682875" cy="22653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9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43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36</a:t>
            </a:fld>
            <a:endParaRPr altLang="en-US" sz="1400" lang="en-US"/>
          </a:p>
        </p:txBody>
      </p:sp>
      <p:sp>
        <p:nvSpPr>
          <p:cNvPr id="1048844" name="TextBox 12"/>
          <p:cNvSpPr txBox="1"/>
          <p:nvPr/>
        </p:nvSpPr>
        <p:spPr>
          <a:xfrm rot="0">
            <a:off x="395287" y="403225"/>
            <a:ext cx="8208962" cy="430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solidFill>
                  <a:srgbClr val="0070C0"/>
                </a:solidFill>
                <a:latin typeface="Comic Sans MS" pitchFamily="66" charset="0"/>
              </a:rPr>
              <a:t>Mixed Strategy Nash Equilibrium (MSNE)- Matching Pennies</a:t>
            </a:r>
          </a:p>
        </p:txBody>
      </p:sp>
      <p:sp>
        <p:nvSpPr>
          <p:cNvPr id="1048845" name="TextBox 5"/>
          <p:cNvSpPr txBox="1"/>
          <p:nvPr/>
        </p:nvSpPr>
        <p:spPr>
          <a:xfrm rot="0">
            <a:off x="366712" y="865187"/>
            <a:ext cx="2836862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Payoff Matrix (A,B)</a:t>
            </a:r>
          </a:p>
        </p:txBody>
      </p:sp>
      <p:pic>
        <p:nvPicPr>
          <p:cNvPr id="2097187" name="Picture 3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782762" y="1349375"/>
            <a:ext cx="5578475" cy="1257300"/>
          </a:xfrm>
          <a:prstGeom prst="rect"/>
          <a:noFill/>
          <a:ln>
            <a:noFill/>
          </a:ln>
        </p:spPr>
      </p:pic>
      <p:sp>
        <p:nvSpPr>
          <p:cNvPr id="1048846" name="TextBox 10"/>
          <p:cNvSpPr txBox="1"/>
          <p:nvPr/>
        </p:nvSpPr>
        <p:spPr>
          <a:xfrm rot="0">
            <a:off x="368300" y="2740025"/>
            <a:ext cx="7558087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-342900" lvl="0" marL="342900">
              <a:spcBef>
                <a:spcPct val="0"/>
              </a:spcBef>
            </a:pPr>
            <a:r>
              <a:rPr altLang="en-US" sz="2000" lang="en-US">
                <a:latin typeface="Comic Sans MS" pitchFamily="66" charset="0"/>
              </a:rPr>
              <a:t>Zero-sum game.</a:t>
            </a:r>
          </a:p>
        </p:txBody>
      </p:sp>
      <p:sp>
        <p:nvSpPr>
          <p:cNvPr id="1048847" name="TextBox 12"/>
          <p:cNvSpPr txBox="1"/>
          <p:nvPr/>
        </p:nvSpPr>
        <p:spPr>
          <a:xfrm rot="0">
            <a:off x="395287" y="3371850"/>
            <a:ext cx="3925887" cy="708025"/>
          </a:xfrm>
          <a:prstGeom prst="rect"/>
          <a:solidFill>
            <a:schemeClr val="lt1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Calculation of Mixed Strategy NE</a:t>
            </a:r>
          </a:p>
        </p:txBody>
      </p:sp>
      <p:sp>
        <p:nvSpPr>
          <p:cNvPr id="1048848" name="TextBox 14"/>
          <p:cNvSpPr txBox="1"/>
          <p:nvPr/>
        </p:nvSpPr>
        <p:spPr>
          <a:xfrm rot="0">
            <a:off x="400050" y="3757612"/>
            <a:ext cx="3163887" cy="400050"/>
          </a:xfrm>
          <a:prstGeom prst="rect"/>
          <a:solidFill>
            <a:srgbClr val="D9D9D9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2000" lang="en-US" u="sng">
                <a:latin typeface="Comic Sans MS" pitchFamily="66" charset="0"/>
              </a:rPr>
              <a:t>Step 1: Let strategies be</a:t>
            </a:r>
          </a:p>
        </p:txBody>
      </p:sp>
      <p:sp>
        <p:nvSpPr>
          <p:cNvPr id="1048849" name="TextBox 16"/>
          <p:cNvSpPr txBox="1"/>
          <p:nvPr/>
        </p:nvSpPr>
        <p:spPr>
          <a:xfrm rot="0">
            <a:off x="395287" y="4894262"/>
            <a:ext cx="6157912" cy="400050"/>
          </a:xfrm>
          <a:prstGeom prst="rect"/>
          <a:solidFill>
            <a:srgbClr val="D9D9D9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2000" lang="en-US">
                <a:latin typeface="Comic Sans MS" pitchFamily="66" charset="0"/>
              </a:rPr>
              <a:t>Step 2: Expected payoff for A if B plays mixed</a:t>
            </a:r>
          </a:p>
        </p:txBody>
      </p:sp>
      <p:sp>
        <p:nvSpPr>
          <p:cNvPr id="1048850" name="TextBox 17"/>
          <p:cNvSpPr txBox="1"/>
          <p:nvPr/>
        </p:nvSpPr>
        <p:spPr>
          <a:xfrm rot="0">
            <a:off x="366712" y="4222750"/>
            <a:ext cx="7559675" cy="7080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A plays H with probability p, T with 1−p.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B plays H with probability q, T with 1−q.</a:t>
            </a:r>
          </a:p>
        </p:txBody>
      </p:sp>
      <p:sp>
        <p:nvSpPr>
          <p:cNvPr id="1048851" name="TextBox 20"/>
          <p:cNvSpPr txBox="1"/>
          <p:nvPr/>
        </p:nvSpPr>
        <p:spPr>
          <a:xfrm rot="0">
            <a:off x="342900" y="5324475"/>
            <a:ext cx="7794625" cy="13239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If A plays H: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	U</a:t>
            </a:r>
            <a:r>
              <a:rPr altLang="en-US" baseline="-25000" sz="2000" lang="en-US">
                <a:latin typeface="Comic Sans MS" pitchFamily="66" charset="0"/>
              </a:rPr>
              <a:t>A</a:t>
            </a:r>
            <a:r>
              <a:rPr altLang="en-US" sz="2000" lang="en-US">
                <a:latin typeface="Comic Sans MS" pitchFamily="66" charset="0"/>
              </a:rPr>
              <a:t>(H)=q(1)+(1−q)(−1)=2q−1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If A plays T: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	U</a:t>
            </a:r>
            <a:r>
              <a:rPr altLang="en-US" baseline="-25000" sz="2000" lang="en-US">
                <a:latin typeface="Comic Sans MS" pitchFamily="66" charset="0"/>
              </a:rPr>
              <a:t>A</a:t>
            </a:r>
            <a:r>
              <a:rPr altLang="en-US" sz="2000" lang="en-US">
                <a:latin typeface="Comic Sans MS" pitchFamily="66" charset="0"/>
              </a:rPr>
              <a:t>(T)=q(−1)+(1−q)(1)=1−2q</a:t>
            </a:r>
          </a:p>
        </p:txBody>
      </p:sp>
    </p:spTree>
  </p:cSld>
  <p:clrMapOvr>
    <a:masterClrMapping/>
  </p:clrMapOvr>
  <p:timing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0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55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37</a:t>
            </a:fld>
            <a:endParaRPr altLang="en-US" sz="1400" lang="en-US"/>
          </a:p>
        </p:txBody>
      </p:sp>
      <p:sp>
        <p:nvSpPr>
          <p:cNvPr id="1048856" name="TextBox 5"/>
          <p:cNvSpPr txBox="1"/>
          <p:nvPr/>
        </p:nvSpPr>
        <p:spPr>
          <a:xfrm rot="0">
            <a:off x="366712" y="865187"/>
            <a:ext cx="4572000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/>
              <a:t>Payoff Matrix (A,B)</a:t>
            </a:r>
          </a:p>
        </p:txBody>
      </p:sp>
      <p:pic>
        <p:nvPicPr>
          <p:cNvPr id="2097188" name="Picture 3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782762" y="1349375"/>
            <a:ext cx="5578475" cy="1257300"/>
          </a:xfrm>
          <a:prstGeom prst="rect"/>
          <a:noFill/>
          <a:ln>
            <a:noFill/>
          </a:ln>
        </p:spPr>
      </p:pic>
      <p:sp>
        <p:nvSpPr>
          <p:cNvPr id="1048857" name="TextBox 11"/>
          <p:cNvSpPr txBox="1"/>
          <p:nvPr/>
        </p:nvSpPr>
        <p:spPr>
          <a:xfrm rot="0">
            <a:off x="250825" y="2593975"/>
            <a:ext cx="6157912" cy="400050"/>
          </a:xfrm>
          <a:prstGeom prst="rect"/>
          <a:solidFill>
            <a:srgbClr val="D9D9D9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2000" lang="en-US">
                <a:latin typeface="Comic Sans MS" pitchFamily="66" charset="0"/>
              </a:rPr>
              <a:t>Step 3: A’s indifference condition</a:t>
            </a:r>
          </a:p>
        </p:txBody>
      </p:sp>
      <p:sp>
        <p:nvSpPr>
          <p:cNvPr id="1048858" name="TextBox 13"/>
          <p:cNvSpPr txBox="1"/>
          <p:nvPr/>
        </p:nvSpPr>
        <p:spPr>
          <a:xfrm rot="0">
            <a:off x="250825" y="3119437"/>
            <a:ext cx="7705725" cy="1630362"/>
          </a:xfrm>
          <a:prstGeom prst="rect"/>
          <a:solidFill>
            <a:schemeClr val="lt1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For A to be indifferent (so willing to mix), payoffs must be equal: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	2q−1=1−2q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	4q=2⇒q=1/2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So B must randomize: q = 0.5 (H half, T half).</a:t>
            </a:r>
          </a:p>
        </p:txBody>
      </p:sp>
      <p:sp>
        <p:nvSpPr>
          <p:cNvPr id="1048859" name="TextBox 15"/>
          <p:cNvSpPr txBox="1"/>
          <p:nvPr/>
        </p:nvSpPr>
        <p:spPr>
          <a:xfrm rot="0">
            <a:off x="239712" y="4845050"/>
            <a:ext cx="6169025" cy="401637"/>
          </a:xfrm>
          <a:prstGeom prst="rect"/>
          <a:solidFill>
            <a:srgbClr val="CCCCCC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2000" lang="en-US">
                <a:latin typeface="Comic Sans MS" pitchFamily="66" charset="0"/>
              </a:rPr>
              <a:t>Step 4: Symmetric reasoning for B</a:t>
            </a:r>
          </a:p>
        </p:txBody>
      </p:sp>
      <p:sp>
        <p:nvSpPr>
          <p:cNvPr id="1048860" name="TextBox 18"/>
          <p:cNvSpPr txBox="1"/>
          <p:nvPr/>
        </p:nvSpPr>
        <p:spPr>
          <a:xfrm rot="0">
            <a:off x="239712" y="5268912"/>
            <a:ext cx="6169025" cy="1323975"/>
          </a:xfrm>
          <a:prstGeom prst="rect"/>
          <a:solidFill>
            <a:schemeClr val="lt1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If B plays H: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U</a:t>
            </a:r>
            <a:r>
              <a:rPr altLang="en-US" baseline="-25000" sz="2000" lang="en-US">
                <a:latin typeface="Comic Sans MS" pitchFamily="66" charset="0"/>
              </a:rPr>
              <a:t>B</a:t>
            </a:r>
            <a:r>
              <a:rPr altLang="en-US" sz="2000" lang="en-US">
                <a:latin typeface="Comic Sans MS" pitchFamily="66" charset="0"/>
              </a:rPr>
              <a:t>(H)=p(−1)+(1−p)(1)=1−2p	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If B plays T: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U</a:t>
            </a:r>
            <a:r>
              <a:rPr altLang="en-US" baseline="-25000" sz="2000" lang="en-US">
                <a:latin typeface="Comic Sans MS" pitchFamily="66" charset="0"/>
              </a:rPr>
              <a:t>B</a:t>
            </a:r>
            <a:r>
              <a:rPr altLang="en-US" sz="2000" lang="en-US">
                <a:latin typeface="Comic Sans MS" pitchFamily="66" charset="0"/>
              </a:rPr>
              <a:t>(T)=p(1)+(1−p)(−1)=2p−1</a:t>
            </a:r>
          </a:p>
        </p:txBody>
      </p:sp>
      <p:sp>
        <p:nvSpPr>
          <p:cNvPr id="1048861" name="TextBox 12"/>
          <p:cNvSpPr txBox="1"/>
          <p:nvPr/>
        </p:nvSpPr>
        <p:spPr>
          <a:xfrm rot="0">
            <a:off x="395287" y="403225"/>
            <a:ext cx="8208962" cy="430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solidFill>
                  <a:srgbClr val="0070C0"/>
                </a:solidFill>
                <a:latin typeface="Comic Sans MS" pitchFamily="66" charset="0"/>
              </a:rPr>
              <a:t>Mixed Strategy Nash Equilibrium (MSNE)- Matching Pennies</a:t>
            </a:r>
          </a:p>
        </p:txBody>
      </p:sp>
    </p:spTree>
  </p:cSld>
  <p:clrMapOvr>
    <a:masterClrMapping/>
  </p:clrMapOvr>
  <p:timing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0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65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38</a:t>
            </a:fld>
            <a:endParaRPr altLang="en-US" sz="1400" lang="en-US"/>
          </a:p>
        </p:txBody>
      </p:sp>
      <p:sp>
        <p:nvSpPr>
          <p:cNvPr id="1048866" name="TextBox 5"/>
          <p:cNvSpPr txBox="1"/>
          <p:nvPr/>
        </p:nvSpPr>
        <p:spPr>
          <a:xfrm rot="0">
            <a:off x="395287" y="876300"/>
            <a:ext cx="7777162" cy="13223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Set equal:</a:t>
            </a:r>
          </a:p>
          <a:p>
            <a:pPr indent="-480060" lvl="1" marL="800100">
              <a:spcBef>
                <a:spcPct val="0"/>
              </a:spcBef>
              <a:buChar char="•"/>
            </a:pPr>
            <a:r>
              <a:rPr altLang="en-US" sz="2000" lang="en-US">
                <a:latin typeface="Comic Sans MS" pitchFamily="66" charset="0"/>
              </a:rPr>
              <a:t>1−2p=2p−1</a:t>
            </a:r>
          </a:p>
          <a:p>
            <a:pPr indent="-480060" lvl="1" marL="800100">
              <a:spcBef>
                <a:spcPct val="0"/>
              </a:spcBef>
              <a:buChar char="•"/>
            </a:pPr>
            <a:r>
              <a:rPr altLang="en-US" sz="2000" lang="en-US">
                <a:latin typeface="Comic Sans MS" pitchFamily="66" charset="0"/>
              </a:rPr>
              <a:t>4p=2⇒p=12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So A must randomize: p = 0.5 (H half, T half).</a:t>
            </a:r>
          </a:p>
        </p:txBody>
      </p:sp>
      <p:sp>
        <p:nvSpPr>
          <p:cNvPr id="1048867" name="TextBox 7"/>
          <p:cNvSpPr txBox="1"/>
          <p:nvPr/>
        </p:nvSpPr>
        <p:spPr>
          <a:xfrm rot="0">
            <a:off x="465137" y="2235200"/>
            <a:ext cx="7993062" cy="4000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000" lang="en-US">
                <a:latin typeface="Comic Sans MS" pitchFamily="66" charset="0"/>
              </a:rPr>
              <a:t>Mixed Strategy NE Result</a:t>
            </a:r>
          </a:p>
        </p:txBody>
      </p:sp>
      <p:sp>
        <p:nvSpPr>
          <p:cNvPr id="1048868" name="TextBox 10"/>
          <p:cNvSpPr txBox="1"/>
          <p:nvPr/>
        </p:nvSpPr>
        <p:spPr>
          <a:xfrm rot="0">
            <a:off x="436562" y="3843337"/>
            <a:ext cx="7716837" cy="1630362"/>
          </a:xfrm>
          <a:prstGeom prst="rect"/>
          <a:solidFill>
            <a:srgbClr val="BFBFBF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If either player leans too much toward one action, the opponent can exploit.</a:t>
            </a:r>
          </a:p>
          <a:p>
            <a:pPr algn="just"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At 50/50, each player makes the opponent indifferent → no one can gain by deviating.</a:t>
            </a:r>
          </a:p>
          <a:p>
            <a:pPr algn="just" indent="-342900" lvl="0" marL="342900">
              <a:buChar char="•"/>
            </a:pPr>
            <a:r>
              <a:rPr altLang="en-US" sz="2000" lang="en-US">
                <a:latin typeface="Comic Sans MS" pitchFamily="66" charset="0"/>
              </a:rPr>
              <a:t>That’s what defines an equilibrium.</a:t>
            </a:r>
          </a:p>
        </p:txBody>
      </p:sp>
      <p:sp>
        <p:nvSpPr>
          <p:cNvPr id="1048869" name="TextBox 11"/>
          <p:cNvSpPr txBox="1"/>
          <p:nvPr/>
        </p:nvSpPr>
        <p:spPr>
          <a:xfrm rot="0">
            <a:off x="436562" y="2638425"/>
            <a:ext cx="7735887" cy="1014412"/>
          </a:xfrm>
          <a:prstGeom prst="rect"/>
          <a:solidFill>
            <a:srgbClr val="BFBFBF"/>
          </a:solidFill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2000" lang="en-US">
                <a:latin typeface="Comic Sans MS" pitchFamily="66" charset="0"/>
              </a:rPr>
              <a:t>A plays H with 0.5, T with 0.5.</a:t>
            </a:r>
          </a:p>
          <a:p>
            <a:pPr lvl="0"/>
            <a:r>
              <a:rPr altLang="en-US" sz="2000" lang="en-US">
                <a:latin typeface="Comic Sans MS" pitchFamily="66" charset="0"/>
              </a:rPr>
              <a:t>B plays H with 0.5, T with 0.5.</a:t>
            </a:r>
          </a:p>
          <a:p>
            <a:pPr lvl="0"/>
            <a:r>
              <a:rPr altLang="en-US" sz="2000" lang="en-US">
                <a:latin typeface="Comic Sans MS" pitchFamily="66" charset="0"/>
              </a:rPr>
              <a:t>This is the mixed strategy Nash equilibrium.</a:t>
            </a:r>
          </a:p>
        </p:txBody>
      </p:sp>
      <p:sp>
        <p:nvSpPr>
          <p:cNvPr id="1048870" name="TextBox 12"/>
          <p:cNvSpPr txBox="1"/>
          <p:nvPr/>
        </p:nvSpPr>
        <p:spPr>
          <a:xfrm rot="0">
            <a:off x="395287" y="403225"/>
            <a:ext cx="8208962" cy="430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solidFill>
                  <a:srgbClr val="0070C0"/>
                </a:solidFill>
                <a:latin typeface="Comic Sans MS" pitchFamily="66" charset="0"/>
              </a:rPr>
              <a:t>Mixed Strategy Nash Equilibrium (MSNE)- Matching Pennies</a:t>
            </a:r>
          </a:p>
        </p:txBody>
      </p:sp>
    </p:spTree>
  </p:cSld>
  <p:clrMapOvr>
    <a:masterClrMapping/>
  </p:clrMapOvr>
  <p:timing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0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74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39</a:t>
            </a:fld>
            <a:endParaRPr altLang="en-US" sz="1400" lang="en-US"/>
          </a:p>
        </p:txBody>
      </p:sp>
      <p:sp>
        <p:nvSpPr>
          <p:cNvPr id="1048875" name="TextBox 12"/>
          <p:cNvSpPr txBox="1"/>
          <p:nvPr/>
        </p:nvSpPr>
        <p:spPr>
          <a:xfrm rot="0">
            <a:off x="395287" y="403225"/>
            <a:ext cx="8208962" cy="7699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solidFill>
                  <a:srgbClr val="0070C0"/>
                </a:solidFill>
                <a:latin typeface="Comic Sans MS" pitchFamily="66" charset="0"/>
              </a:rPr>
              <a:t>Mixed Strategy Nash Equilibrium (MSNE)- Rock–Paper–Scissors (RPS)</a:t>
            </a:r>
          </a:p>
        </p:txBody>
      </p:sp>
      <p:sp>
        <p:nvSpPr>
          <p:cNvPr id="1048876" name="TextBox 8"/>
          <p:cNvSpPr txBox="1"/>
          <p:nvPr/>
        </p:nvSpPr>
        <p:spPr>
          <a:xfrm rot="0">
            <a:off x="412750" y="1268412"/>
            <a:ext cx="8045450" cy="6461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Payoff matrix for Player A (row player). Player B’s payoffs are just the negative (because RPS is a zero-sum game).</a:t>
            </a:r>
          </a:p>
        </p:txBody>
      </p:sp>
      <p:sp>
        <p:nvSpPr>
          <p:cNvPr id="1048877" name="TextBox 14"/>
          <p:cNvSpPr txBox="1"/>
          <p:nvPr/>
        </p:nvSpPr>
        <p:spPr>
          <a:xfrm rot="0">
            <a:off x="268287" y="4365625"/>
            <a:ext cx="8462962" cy="1476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Step 1: Let Players Mix</a:t>
            </a:r>
          </a:p>
          <a:p>
            <a:pPr indent="0" lvl="0" marL="0">
              <a:spcBef>
                <a:spcPct val="0"/>
              </a:spcBef>
            </a:pPr>
            <a:r>
              <a:rPr altLang="en-US" sz="1800" lang="en-US">
                <a:latin typeface="Comic Sans MS" pitchFamily="66" charset="0"/>
              </a:rPr>
              <a:t>A plays Rock (R) with probabilitp 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​, Paper (P) with p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​, Scissors (S) with 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​.</a:t>
            </a:r>
          </a:p>
          <a:p>
            <a:pPr indent="-445770" lvl="1" marL="742950">
              <a:spcBef>
                <a:spcPct val="0"/>
              </a:spcBef>
              <a:buChar char="•"/>
            </a:pPr>
            <a:r>
              <a:rPr altLang="en-US" sz="1800" lang="en-US">
                <a:latin typeface="Comic Sans MS" pitchFamily="66" charset="0"/>
              </a:rPr>
              <a:t>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+p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+p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=1.</a:t>
            </a:r>
          </a:p>
          <a:p>
            <a:pPr indent="0" lvl="0" marL="0">
              <a:spcBef>
                <a:spcPct val="0"/>
              </a:spcBef>
            </a:pPr>
            <a:r>
              <a:rPr altLang="en-US" sz="1800" lang="en-US">
                <a:latin typeface="Comic Sans MS" pitchFamily="66" charset="0"/>
              </a:rPr>
              <a:t>B plays R with q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, P with q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, S with q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​.</a:t>
            </a:r>
          </a:p>
          <a:p>
            <a:pPr indent="-445770" lvl="1" marL="742950">
              <a:spcBef>
                <a:spcPct val="0"/>
              </a:spcBef>
              <a:buChar char="•"/>
            </a:pPr>
            <a:r>
              <a:rPr altLang="en-US" sz="1800" lang="en-US">
                <a:latin typeface="Comic Sans MS" pitchFamily="66" charset="0"/>
              </a:rPr>
              <a:t>q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+q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+q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=1.</a:t>
            </a:r>
          </a:p>
        </p:txBody>
      </p:sp>
      <p:pic>
        <p:nvPicPr>
          <p:cNvPr id="2097189" name="Picture 1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24150" y="2205037"/>
            <a:ext cx="3421062" cy="228123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0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81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40</a:t>
            </a:fld>
            <a:endParaRPr altLang="en-US" sz="1400" lang="en-US"/>
          </a:p>
        </p:txBody>
      </p:sp>
      <p:sp>
        <p:nvSpPr>
          <p:cNvPr id="1048882" name="TextBox 12"/>
          <p:cNvSpPr txBox="1"/>
          <p:nvPr/>
        </p:nvSpPr>
        <p:spPr>
          <a:xfrm rot="0">
            <a:off x="395287" y="403225"/>
            <a:ext cx="8208962" cy="7699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solidFill>
                  <a:srgbClr val="0070C0"/>
                </a:solidFill>
                <a:latin typeface="Comic Sans MS" pitchFamily="66" charset="0"/>
              </a:rPr>
              <a:t>Mixed Strategy Nash Equilibrium (MSNE)- Rock–Paper–Scissors (RPS)</a:t>
            </a:r>
          </a:p>
        </p:txBody>
      </p:sp>
      <p:pic>
        <p:nvPicPr>
          <p:cNvPr id="2097190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71775" y="1090612"/>
            <a:ext cx="3455987" cy="2303462"/>
          </a:xfrm>
          <a:prstGeom prst="rect"/>
          <a:noFill/>
          <a:ln>
            <a:noFill/>
          </a:ln>
        </p:spPr>
      </p:pic>
      <p:sp>
        <p:nvSpPr>
          <p:cNvPr id="1048883" name="TextBox 11"/>
          <p:cNvSpPr txBox="1"/>
          <p:nvPr/>
        </p:nvSpPr>
        <p:spPr>
          <a:xfrm rot="0">
            <a:off x="249237" y="3500437"/>
            <a:ext cx="8208962" cy="23082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Step 2: Expected Payoff for A from Each Pure Strategy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Given B’s mix (q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,q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,q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)):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If A plays Rock:</a:t>
            </a:r>
          </a:p>
          <a:p>
            <a:pPr indent="-502920" lvl="2" marL="1257300">
              <a:buChar char="•"/>
            </a:pPr>
            <a:r>
              <a:rPr altLang="en-US" sz="1800" lang="en-US">
                <a:latin typeface="Comic Sans MS" pitchFamily="66" charset="0"/>
              </a:rPr>
              <a:t>U</a:t>
            </a:r>
            <a:r>
              <a:rPr altLang="en-US" baseline="-25000" sz="1800" lang="en-US">
                <a:latin typeface="Comic Sans MS" pitchFamily="66" charset="0"/>
              </a:rPr>
              <a:t>A</a:t>
            </a:r>
            <a:r>
              <a:rPr altLang="en-US" sz="1800" lang="en-US">
                <a:latin typeface="Comic Sans MS" pitchFamily="66" charset="0"/>
              </a:rPr>
              <a:t>(R)=0⋅q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+(−1)⋅q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+(1)⋅q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=q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−q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If A plays Paper:</a:t>
            </a:r>
          </a:p>
          <a:p>
            <a:pPr indent="-502920" lvl="2" marL="1257300">
              <a:buChar char="•"/>
            </a:pPr>
            <a:r>
              <a:rPr altLang="en-US" sz="1800" lang="en-US">
                <a:latin typeface="Comic Sans MS" pitchFamily="66" charset="0"/>
              </a:rPr>
              <a:t>U</a:t>
            </a:r>
            <a:r>
              <a:rPr altLang="en-US" baseline="-25000" sz="1800" lang="en-US">
                <a:latin typeface="Comic Sans MS" pitchFamily="66" charset="0"/>
              </a:rPr>
              <a:t>A</a:t>
            </a:r>
            <a:r>
              <a:rPr altLang="en-US" sz="1800" lang="en-US">
                <a:latin typeface="Comic Sans MS" pitchFamily="66" charset="0"/>
              </a:rPr>
              <a:t>(P)=(1)⋅q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+0⋅q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+(−1)⋅q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=q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−q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 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If A plays Scissors:</a:t>
            </a:r>
          </a:p>
          <a:p>
            <a:pPr indent="-480060" lvl="1" marL="800100">
              <a:buChar char="•"/>
            </a:pPr>
            <a:r>
              <a:rPr altLang="en-US" sz="1800" lang="en-US">
                <a:latin typeface="Comic Sans MS" pitchFamily="66" charset="0"/>
              </a:rPr>
              <a:t>	U</a:t>
            </a:r>
            <a:r>
              <a:rPr altLang="en-US" baseline="-25000" sz="1800" lang="en-US">
                <a:latin typeface="Comic Sans MS" pitchFamily="66" charset="0"/>
              </a:rPr>
              <a:t>A</a:t>
            </a:r>
            <a:r>
              <a:rPr altLang="en-US" sz="1800" lang="en-US">
                <a:latin typeface="Comic Sans MS" pitchFamily="66" charset="0"/>
              </a:rPr>
              <a:t>(S)=(−1)⋅q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+(1)⋅q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+0⋅q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=q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−q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</a:p>
        </p:txBody>
      </p:sp>
    </p:spTree>
  </p:cSld>
  <p:clrMapOvr>
    <a:masterClrMapping/>
  </p:clrMapOvr>
  <p:timing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1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87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41</a:t>
            </a:fld>
            <a:endParaRPr altLang="en-US" sz="1400" lang="en-US"/>
          </a:p>
        </p:txBody>
      </p:sp>
      <p:sp>
        <p:nvSpPr>
          <p:cNvPr id="1048888" name="TextBox 12"/>
          <p:cNvSpPr txBox="1"/>
          <p:nvPr/>
        </p:nvSpPr>
        <p:spPr>
          <a:xfrm rot="0">
            <a:off x="395287" y="403225"/>
            <a:ext cx="8208962" cy="7699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solidFill>
                  <a:srgbClr val="0070C0"/>
                </a:solidFill>
                <a:latin typeface="Comic Sans MS" pitchFamily="66" charset="0"/>
              </a:rPr>
              <a:t>Mixed Strategy Nash Equilibrium (MSNE)- Rock–Paper–Scissors (RPS)</a:t>
            </a:r>
          </a:p>
        </p:txBody>
      </p:sp>
      <p:pic>
        <p:nvPicPr>
          <p:cNvPr id="2097191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71775" y="1090612"/>
            <a:ext cx="3455987" cy="2303462"/>
          </a:xfrm>
          <a:prstGeom prst="rect"/>
          <a:noFill/>
          <a:ln>
            <a:noFill/>
          </a:ln>
        </p:spPr>
      </p:pic>
      <p:sp>
        <p:nvSpPr>
          <p:cNvPr id="1048889" name="TextBox 6"/>
          <p:cNvSpPr txBox="1"/>
          <p:nvPr/>
        </p:nvSpPr>
        <p:spPr>
          <a:xfrm rot="0">
            <a:off x="485775" y="3394075"/>
            <a:ext cx="7972425" cy="23082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1800" lang="en-US">
                <a:latin typeface="Comic Sans MS" pitchFamily="66" charset="0"/>
              </a:rPr>
              <a:t>Step 3: Indifference Condition for A</a:t>
            </a:r>
          </a:p>
          <a:p>
            <a:pPr algn="just" lvl="0"/>
            <a:r>
              <a:rPr altLang="en-US" sz="1800" lang="en-US">
                <a:latin typeface="Comic Sans MS" pitchFamily="66" charset="0"/>
              </a:rPr>
              <a:t>For A to be willing to mix, all three pure strategies must give the same expected payoff:</a:t>
            </a:r>
          </a:p>
          <a:p>
            <a:pPr algn="just" lvl="0"/>
            <a:r>
              <a:rPr altLang="en-US" sz="1800" lang="en-US">
                <a:latin typeface="Comic Sans MS" pitchFamily="66" charset="0"/>
              </a:rPr>
              <a:t>	q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−q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=q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−q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=q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−q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</a:p>
          <a:p>
            <a:pPr algn="just" lvl="0"/>
            <a:r>
              <a:rPr altLang="en-US" sz="1800" lang="en-US">
                <a:latin typeface="Comic Sans MS" pitchFamily="66" charset="0"/>
              </a:rPr>
              <a:t>Solve this system (plus q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+q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+q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=1):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Solution:</a:t>
            </a:r>
          </a:p>
          <a:p>
            <a:pPr algn="just" lvl="0"/>
            <a:r>
              <a:rPr altLang="en-US" sz="1800" lang="en-US">
                <a:latin typeface="Comic Sans MS" pitchFamily="66" charset="0"/>
              </a:rPr>
              <a:t>	q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=q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=q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=1/3​ </a:t>
            </a:r>
          </a:p>
          <a:p>
            <a:pPr algn="just" lvl="0"/>
            <a:r>
              <a:rPr altLang="en-US" sz="1800" lang="en-US">
                <a:latin typeface="Comic Sans MS" pitchFamily="66" charset="0"/>
              </a:rPr>
              <a:t>So B must randomize uniformly to keep A indifferent.</a:t>
            </a:r>
          </a:p>
        </p:txBody>
      </p:sp>
    </p:spTree>
  </p:cSld>
  <p:clrMapOvr>
    <a:masterClrMapping/>
  </p:clrMapOvr>
  <p:timing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1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93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42</a:t>
            </a:fld>
            <a:endParaRPr altLang="en-US" sz="1400" lang="en-US"/>
          </a:p>
        </p:txBody>
      </p:sp>
      <p:sp>
        <p:nvSpPr>
          <p:cNvPr id="1048894" name="TextBox 12"/>
          <p:cNvSpPr txBox="1"/>
          <p:nvPr/>
        </p:nvSpPr>
        <p:spPr>
          <a:xfrm rot="0">
            <a:off x="395287" y="403225"/>
            <a:ext cx="8208962" cy="7699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solidFill>
                  <a:srgbClr val="0070C0"/>
                </a:solidFill>
                <a:latin typeface="Comic Sans MS" pitchFamily="66" charset="0"/>
              </a:rPr>
              <a:t>Mixed Strategy Nash Equilibrium (MSNE)- Rock–Paper–Scissors (RPS)</a:t>
            </a:r>
          </a:p>
        </p:txBody>
      </p:sp>
      <p:pic>
        <p:nvPicPr>
          <p:cNvPr id="2097192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71775" y="1090612"/>
            <a:ext cx="3455987" cy="2303462"/>
          </a:xfrm>
          <a:prstGeom prst="rect"/>
          <a:noFill/>
          <a:ln>
            <a:noFill/>
          </a:ln>
        </p:spPr>
      </p:pic>
      <p:sp>
        <p:nvSpPr>
          <p:cNvPr id="1048895" name="TextBox 7"/>
          <p:cNvSpPr txBox="1"/>
          <p:nvPr/>
        </p:nvSpPr>
        <p:spPr>
          <a:xfrm rot="0">
            <a:off x="485775" y="3544887"/>
            <a:ext cx="7972425" cy="20621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Step 4: Expected Payoffs for B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If B plays Rock (R):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	U</a:t>
            </a:r>
            <a:r>
              <a:rPr altLang="en-US" baseline="-25000" sz="1800" lang="en-US">
                <a:latin typeface="Comic Sans MS" pitchFamily="66" charset="0"/>
              </a:rPr>
              <a:t>B</a:t>
            </a:r>
            <a:r>
              <a:rPr altLang="en-US" sz="1800" lang="en-US">
                <a:latin typeface="Comic Sans MS" pitchFamily="66" charset="0"/>
              </a:rPr>
              <a:t>(R)=p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(0)+p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(−1)+p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(+1)=−p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+p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If B plays Paper (P):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	U</a:t>
            </a:r>
            <a:r>
              <a:rPr altLang="en-US" baseline="-25000" sz="1800" lang="en-US">
                <a:latin typeface="Comic Sans MS" pitchFamily="66" charset="0"/>
              </a:rPr>
              <a:t>B</a:t>
            </a:r>
            <a:r>
              <a:rPr altLang="en-US" sz="1800" lang="en-US">
                <a:latin typeface="Comic Sans MS" pitchFamily="66" charset="0"/>
              </a:rPr>
              <a:t>(P)=p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(+1)+p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(0)+p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(−1)=p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−p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	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​If B plays Scissors (S):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	U</a:t>
            </a:r>
            <a:r>
              <a:rPr altLang="en-US" baseline="-25000" sz="1800" lang="en-US">
                <a:latin typeface="Comic Sans MS" pitchFamily="66" charset="0"/>
              </a:rPr>
              <a:t>B</a:t>
            </a:r>
            <a:r>
              <a:rPr altLang="en-US" sz="1800" lang="en-US">
                <a:latin typeface="Comic Sans MS" pitchFamily="66" charset="0"/>
              </a:rPr>
              <a:t>(S)=p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(−1)+p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(+1)+p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(0)=−p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+p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b="1" sz="2000" lang="en-US">
                <a:solidFill>
                  <a:srgbClr val="FF0000"/>
                </a:solidFill>
                <a:latin typeface="Comic Sans MS" pitchFamily="66" charset="0"/>
              </a:rPr>
              <a:t>	​</a:t>
            </a:r>
          </a:p>
        </p:txBody>
      </p:sp>
    </p:spTree>
  </p:cSld>
  <p:clrMapOvr>
    <a:masterClrMapping/>
  </p:clrMapOvr>
  <p:timing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1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99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43</a:t>
            </a:fld>
            <a:endParaRPr altLang="en-US" sz="1400" lang="en-US"/>
          </a:p>
        </p:txBody>
      </p:sp>
      <p:sp>
        <p:nvSpPr>
          <p:cNvPr id="1048900" name="TextBox 12"/>
          <p:cNvSpPr txBox="1"/>
          <p:nvPr/>
        </p:nvSpPr>
        <p:spPr>
          <a:xfrm rot="0">
            <a:off x="395287" y="403225"/>
            <a:ext cx="8208962" cy="7699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solidFill>
                  <a:srgbClr val="0070C0"/>
                </a:solidFill>
                <a:latin typeface="Comic Sans MS" pitchFamily="66" charset="0"/>
              </a:rPr>
              <a:t>Mixed Strategy Nash Equilibrium (MSNE)- Rock–Paper–Scissors (RPS)</a:t>
            </a:r>
          </a:p>
        </p:txBody>
      </p:sp>
      <p:pic>
        <p:nvPicPr>
          <p:cNvPr id="2097193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71775" y="1090612"/>
            <a:ext cx="3455987" cy="2303462"/>
          </a:xfrm>
          <a:prstGeom prst="rect"/>
          <a:noFill/>
          <a:ln>
            <a:noFill/>
          </a:ln>
        </p:spPr>
      </p:pic>
      <p:sp>
        <p:nvSpPr>
          <p:cNvPr id="1048901" name="TextBox 11"/>
          <p:cNvSpPr txBox="1"/>
          <p:nvPr/>
        </p:nvSpPr>
        <p:spPr>
          <a:xfrm rot="0">
            <a:off x="485775" y="3470275"/>
            <a:ext cx="7831137" cy="28622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4. Indifference ConditionsFor B to be willing to mix, payoffs must be equal: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	U</a:t>
            </a:r>
            <a:r>
              <a:rPr altLang="en-US" baseline="-25000" sz="1800" lang="en-US">
                <a:latin typeface="Comic Sans MS" pitchFamily="66" charset="0"/>
              </a:rPr>
              <a:t>B</a:t>
            </a:r>
            <a:r>
              <a:rPr altLang="en-US" sz="1800" lang="en-US">
                <a:latin typeface="Comic Sans MS" pitchFamily="66" charset="0"/>
              </a:rPr>
              <a:t>(R)=U</a:t>
            </a:r>
            <a:r>
              <a:rPr altLang="en-US" baseline="-25000" sz="1800" lang="en-US">
                <a:latin typeface="Comic Sans MS" pitchFamily="66" charset="0"/>
              </a:rPr>
              <a:t>B</a:t>
            </a:r>
            <a:r>
              <a:rPr altLang="en-US" sz="1800" lang="en-US">
                <a:latin typeface="Comic Sans MS" pitchFamily="66" charset="0"/>
              </a:rPr>
              <a:t>(P)=U</a:t>
            </a:r>
            <a:r>
              <a:rPr altLang="en-US" baseline="-25000" sz="1800" lang="en-US">
                <a:latin typeface="Comic Sans MS" pitchFamily="66" charset="0"/>
              </a:rPr>
              <a:t>B</a:t>
            </a:r>
            <a:r>
              <a:rPr altLang="en-US" sz="1800" lang="en-US">
                <a:latin typeface="Comic Sans MS" pitchFamily="66" charset="0"/>
              </a:rPr>
              <a:t>(S)</a:t>
            </a:r>
          </a:p>
          <a:p>
            <a:pPr lvl="0">
              <a:buFont typeface="Times New Roman" pitchFamily="18" charset="0"/>
              <a:buAutoNum type="romanLcPeriod" startAt="1"/>
            </a:pPr>
            <a:r>
              <a:rPr altLang="en-US" sz="1800" lang="en-US">
                <a:latin typeface="Comic Sans MS" pitchFamily="66" charset="0"/>
              </a:rPr>
              <a:t>Equate R and P: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	−p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+p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=p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−p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</a:p>
          <a:p>
            <a:pPr lvl="0">
              <a:buFont typeface="Times New Roman" pitchFamily="18" charset="0"/>
              <a:buAutoNum type="romanLcPeriod" startAt="2"/>
            </a:pPr>
            <a:r>
              <a:rPr altLang="en-US" sz="1800" lang="en-US">
                <a:latin typeface="Comic Sans MS" pitchFamily="66" charset="0"/>
              </a:rPr>
              <a:t>​p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+p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=2p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(Equation 1)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	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​+p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​=2p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	​(Equation 1)</a:t>
            </a:r>
          </a:p>
          <a:p>
            <a:pPr lvl="0">
              <a:buFont typeface="Times New Roman" pitchFamily="18" charset="0"/>
              <a:buAutoNum type="romanLcPeriod" startAt="3"/>
            </a:pPr>
            <a:r>
              <a:rPr altLang="en-US" sz="1800" lang="en-US">
                <a:latin typeface="Comic Sans MS" pitchFamily="66" charset="0"/>
              </a:rPr>
              <a:t>Equate P and S: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	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−p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=−p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+p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​	2p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=p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+p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(Equation 2)</a:t>
            </a:r>
          </a:p>
        </p:txBody>
      </p:sp>
    </p:spTree>
  </p:cSld>
  <p:clrMapOvr>
    <a:masterClrMapping/>
  </p:clrMapOvr>
  <p:timing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2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05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44</a:t>
            </a:fld>
            <a:endParaRPr altLang="en-US" sz="1400" lang="en-US"/>
          </a:p>
        </p:txBody>
      </p:sp>
      <p:sp>
        <p:nvSpPr>
          <p:cNvPr id="1048906" name="TextBox 12"/>
          <p:cNvSpPr txBox="1"/>
          <p:nvPr/>
        </p:nvSpPr>
        <p:spPr>
          <a:xfrm rot="0">
            <a:off x="395287" y="403225"/>
            <a:ext cx="8208962" cy="7699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solidFill>
                  <a:srgbClr val="0070C0"/>
                </a:solidFill>
                <a:latin typeface="Comic Sans MS" pitchFamily="66" charset="0"/>
              </a:rPr>
              <a:t>Mixed Strategy Nash Equilibrium (MSNE)- Rock–Paper–Scissors (RPS)</a:t>
            </a:r>
          </a:p>
        </p:txBody>
      </p:sp>
      <p:pic>
        <p:nvPicPr>
          <p:cNvPr id="2097194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71775" y="1090612"/>
            <a:ext cx="3455987" cy="2303462"/>
          </a:xfrm>
          <a:prstGeom prst="rect"/>
          <a:noFill/>
          <a:ln>
            <a:noFill/>
          </a:ln>
        </p:spPr>
      </p:pic>
      <p:sp>
        <p:nvSpPr>
          <p:cNvPr id="1048907" name="TextBox 6"/>
          <p:cNvSpPr txBox="1"/>
          <p:nvPr/>
        </p:nvSpPr>
        <p:spPr>
          <a:xfrm rot="0">
            <a:off x="323850" y="3284537"/>
            <a:ext cx="7993062" cy="1477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Add Normalization: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+p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+p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=1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endParaRPr altLang="en-US" sz="1800" lang="en-US">
              <a:latin typeface="Comic Sans MS" pitchFamily="66" charset="0"/>
            </a:endParaRP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Solve the system → Solution: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=p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=p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=1/3</a:t>
            </a:r>
          </a:p>
        </p:txBody>
      </p:sp>
    </p:spTree>
  </p:cSld>
  <p:clrMapOvr>
    <a:masterClrMapping/>
  </p:clrMapOvr>
  <p:timing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2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11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45</a:t>
            </a:fld>
            <a:endParaRPr altLang="en-US" sz="1400" lang="en-US"/>
          </a:p>
        </p:txBody>
      </p:sp>
      <p:sp>
        <p:nvSpPr>
          <p:cNvPr id="1048912" name="TextBox 12"/>
          <p:cNvSpPr txBox="1"/>
          <p:nvPr/>
        </p:nvSpPr>
        <p:spPr>
          <a:xfrm rot="0">
            <a:off x="395287" y="403225"/>
            <a:ext cx="8208962" cy="7699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solidFill>
                  <a:srgbClr val="0070C0"/>
                </a:solidFill>
                <a:latin typeface="Comic Sans MS" pitchFamily="66" charset="0"/>
              </a:rPr>
              <a:t>Mixed Strategy Nash Equilibrium (MSNE)- Rock–Paper–Scissors (RPS)</a:t>
            </a:r>
          </a:p>
        </p:txBody>
      </p:sp>
      <p:pic>
        <p:nvPicPr>
          <p:cNvPr id="2097195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71775" y="1090612"/>
            <a:ext cx="3455987" cy="2303462"/>
          </a:xfrm>
          <a:prstGeom prst="rect"/>
          <a:noFill/>
          <a:ln>
            <a:noFill/>
          </a:ln>
        </p:spPr>
      </p:pic>
      <p:sp>
        <p:nvSpPr>
          <p:cNvPr id="1048913" name="TextBox 6"/>
          <p:cNvSpPr txBox="1"/>
          <p:nvPr/>
        </p:nvSpPr>
        <p:spPr>
          <a:xfrm rot="0">
            <a:off x="611187" y="3444875"/>
            <a:ext cx="7705725" cy="1477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Mixed Strategy Nash Equilibrium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	p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=p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=p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=q</a:t>
            </a:r>
            <a:r>
              <a:rPr altLang="en-US" baseline="-25000" sz="1800" lang="en-US">
                <a:latin typeface="Comic Sans MS" pitchFamily="66" charset="0"/>
              </a:rPr>
              <a:t>R</a:t>
            </a:r>
            <a:r>
              <a:rPr altLang="en-US" sz="1800" lang="en-US">
                <a:latin typeface="Comic Sans MS" pitchFamily="66" charset="0"/>
              </a:rPr>
              <a:t>=q</a:t>
            </a:r>
            <a:r>
              <a:rPr altLang="en-US" baseline="-25000" sz="1800" lang="en-US">
                <a:latin typeface="Comic Sans MS" pitchFamily="66" charset="0"/>
              </a:rPr>
              <a:t>P</a:t>
            </a:r>
            <a:r>
              <a:rPr altLang="en-US" sz="1800" lang="en-US">
                <a:latin typeface="Comic Sans MS" pitchFamily="66" charset="0"/>
              </a:rPr>
              <a:t>=q</a:t>
            </a:r>
            <a:r>
              <a:rPr altLang="en-US" baseline="-25000" sz="1800" lang="en-US">
                <a:latin typeface="Comic Sans MS" pitchFamily="66" charset="0"/>
              </a:rPr>
              <a:t>S</a:t>
            </a:r>
            <a:r>
              <a:rPr altLang="en-US" sz="1800" lang="en-US">
                <a:latin typeface="Comic Sans MS" pitchFamily="66" charset="0"/>
              </a:rPr>
              <a:t>=1/3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Interpretation: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Both players randomize equally among Rock, Paper, and Scissors.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This is the unique MSNE.</a:t>
            </a:r>
          </a:p>
        </p:txBody>
      </p:sp>
    </p:spTree>
  </p:cSld>
  <p:clrMapOvr>
    <a:masterClrMapping/>
  </p:clrMapOvr>
  <p:timing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2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17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46</a:t>
            </a:fld>
            <a:endParaRPr altLang="en-US" sz="1400" lang="en-US"/>
          </a:p>
        </p:txBody>
      </p:sp>
      <p:sp>
        <p:nvSpPr>
          <p:cNvPr id="1048918" name="TextBox 12"/>
          <p:cNvSpPr txBox="1"/>
          <p:nvPr/>
        </p:nvSpPr>
        <p:spPr>
          <a:xfrm rot="0">
            <a:off x="395287" y="403225"/>
            <a:ext cx="8208962" cy="430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solidFill>
                  <a:srgbClr val="0070C0"/>
                </a:solidFill>
                <a:latin typeface="Comic Sans MS" pitchFamily="66" charset="0"/>
              </a:rPr>
              <a:t>Sequential Games</a:t>
            </a:r>
          </a:p>
        </p:txBody>
      </p:sp>
      <p:sp>
        <p:nvSpPr>
          <p:cNvPr id="1048919" name="TextBox 7"/>
          <p:cNvSpPr txBox="1"/>
          <p:nvPr/>
        </p:nvSpPr>
        <p:spPr>
          <a:xfrm rot="0">
            <a:off x="468312" y="982662"/>
            <a:ext cx="8135937" cy="23082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-285750" lvl="0" marL="285750">
              <a:buChar char="•"/>
            </a:pPr>
            <a:r>
              <a:rPr altLang="en-US" sz="1800" lang="en-US">
                <a:latin typeface="Comic Sans MS" pitchFamily="66" charset="0"/>
              </a:rPr>
              <a:t>Games in matrix (normal) form can only represent situations where people move simultaneously</a:t>
            </a:r>
          </a:p>
          <a:p>
            <a:pPr algn="just" indent="-285750" lvl="0" marL="285750"/>
            <a:r>
              <a:rPr altLang="en-US" sz="1800" lang="en-US">
                <a:latin typeface="Comic Sans MS" pitchFamily="66" charset="0"/>
              </a:rPr>
              <a:t>	→ sequential nature of decision making is suppressed</a:t>
            </a:r>
          </a:p>
          <a:p>
            <a:pPr algn="just" indent="-285750" lvl="0" marL="285750"/>
            <a:r>
              <a:rPr altLang="en-US" sz="1800" lang="en-US">
                <a:latin typeface="Comic Sans MS" pitchFamily="66" charset="0"/>
              </a:rPr>
              <a:t>	→ concept of ‘time’ plays no role</a:t>
            </a:r>
          </a:p>
          <a:p>
            <a:pPr algn="just" indent="-285750" lvl="0" marL="285750">
              <a:buChar char="•"/>
            </a:pPr>
            <a:r>
              <a:rPr altLang="en-US" sz="1800" lang="en-US">
                <a:latin typeface="Comic Sans MS" pitchFamily="66" charset="0"/>
              </a:rPr>
              <a:t>but many situations involve player choosing actions sequentially (over time),</a:t>
            </a:r>
          </a:p>
          <a:p>
            <a:pPr algn="just" indent="-285750" lvl="0" marL="285750">
              <a:buChar char="•"/>
            </a:pPr>
            <a:r>
              <a:rPr altLang="en-US" sz="1800" lang="en-US">
                <a:latin typeface="Comic Sans MS" pitchFamily="66" charset="0"/>
              </a:rPr>
              <a:t>rather than simultaneously</a:t>
            </a:r>
          </a:p>
          <a:p>
            <a:pPr algn="just" indent="-285750" lvl="0" marL="285750"/>
            <a:r>
              <a:rPr altLang="en-US" sz="1800" lang="en-US">
                <a:latin typeface="Comic Sans MS" pitchFamily="66" charset="0"/>
              </a:rPr>
              <a:t>	⇒ need games in extensive form = sequential games</a:t>
            </a:r>
          </a:p>
        </p:txBody>
      </p:sp>
      <p:sp>
        <p:nvSpPr>
          <p:cNvPr id="1048920" name="TextBox 8"/>
          <p:cNvSpPr txBox="1"/>
          <p:nvPr/>
        </p:nvSpPr>
        <p:spPr>
          <a:xfrm rot="0">
            <a:off x="576262" y="3414712"/>
            <a:ext cx="7991475" cy="1477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 u="sng">
                <a:latin typeface="Comic Sans MS" pitchFamily="66" charset="0"/>
              </a:rPr>
              <a:t>Battle of the Sexes Reconsidered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suppose Sally moves first (and leaves Harry a text-message where he can find her)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Harry moves second (after reading Sally’s message)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⇒ extensive form game (game tree):</a:t>
            </a:r>
          </a:p>
        </p:txBody>
      </p:sp>
      <p:pic>
        <p:nvPicPr>
          <p:cNvPr id="2097196" name="Picture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059112" y="4892675"/>
            <a:ext cx="2767012" cy="146208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3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24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47</a:t>
            </a:fld>
            <a:endParaRPr altLang="en-US" sz="1400" lang="en-US"/>
          </a:p>
        </p:txBody>
      </p:sp>
      <p:sp>
        <p:nvSpPr>
          <p:cNvPr id="1048925" name="TextBox 4"/>
          <p:cNvSpPr txBox="1"/>
          <p:nvPr/>
        </p:nvSpPr>
        <p:spPr>
          <a:xfrm rot="0">
            <a:off x="395287" y="333375"/>
            <a:ext cx="4537075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Game tree in extensive form</a:t>
            </a:r>
          </a:p>
        </p:txBody>
      </p:sp>
      <p:sp>
        <p:nvSpPr>
          <p:cNvPr id="1048926" name="TextBox 6"/>
          <p:cNvSpPr txBox="1"/>
          <p:nvPr/>
        </p:nvSpPr>
        <p:spPr>
          <a:xfrm rot="0">
            <a:off x="468312" y="793750"/>
            <a:ext cx="7989887" cy="6461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A game tree in extensive form — a way to model sequential games in game theory.</a:t>
            </a:r>
          </a:p>
        </p:txBody>
      </p:sp>
      <p:sp>
        <p:nvSpPr>
          <p:cNvPr id="1048927" name="TextBox 8"/>
          <p:cNvSpPr txBox="1"/>
          <p:nvPr/>
        </p:nvSpPr>
        <p:spPr>
          <a:xfrm rot="0">
            <a:off x="468312" y="2097087"/>
            <a:ext cx="7775575" cy="17541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1800" lang="en-US">
                <a:latin typeface="Comic Sans MS" pitchFamily="66" charset="0"/>
              </a:rPr>
              <a:t>1. Nodes (Decision Points)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Circles or dots represent decision nodes where a player must choose an action.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The root node (at the top) is where the game begins.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Terminal nodes (at the bottom) represent the end of the game, where payoffs are realized.</a:t>
            </a:r>
          </a:p>
        </p:txBody>
      </p:sp>
      <p:sp>
        <p:nvSpPr>
          <p:cNvPr id="1048928" name="TextBox 9"/>
          <p:cNvSpPr txBox="1"/>
          <p:nvPr/>
        </p:nvSpPr>
        <p:spPr>
          <a:xfrm rot="0">
            <a:off x="485775" y="1508125"/>
            <a:ext cx="7991475" cy="3698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Here’s a breakdown of the key elements:</a:t>
            </a:r>
          </a:p>
        </p:txBody>
      </p:sp>
      <p:sp>
        <p:nvSpPr>
          <p:cNvPr id="1048929" name="TextBox 11"/>
          <p:cNvSpPr txBox="1"/>
          <p:nvPr/>
        </p:nvSpPr>
        <p:spPr>
          <a:xfrm rot="0">
            <a:off x="468312" y="4103687"/>
            <a:ext cx="7775575" cy="1477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1800" lang="en-US">
                <a:latin typeface="Comic Sans MS" pitchFamily="66" charset="0"/>
              </a:rPr>
              <a:t>2. Players and Turns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Each node is labeled with the player who makes the decision at that node (e.g., Player 1, Player 2).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The order of moves is explicit — one player moves first, then the other responds.</a:t>
            </a:r>
          </a:p>
        </p:txBody>
      </p:sp>
    </p:spTree>
  </p:cSld>
  <p:clrMapOvr>
    <a:masterClrMapping/>
  </p:clrMapOvr>
  <p:timing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3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33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48</a:t>
            </a:fld>
            <a:endParaRPr altLang="en-US" sz="1400" lang="en-US"/>
          </a:p>
        </p:txBody>
      </p:sp>
      <p:sp>
        <p:nvSpPr>
          <p:cNvPr id="1048934" name="TextBox 4"/>
          <p:cNvSpPr txBox="1"/>
          <p:nvPr/>
        </p:nvSpPr>
        <p:spPr>
          <a:xfrm rot="0">
            <a:off x="395287" y="333375"/>
            <a:ext cx="4537075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Game tree in extensive form</a:t>
            </a:r>
          </a:p>
        </p:txBody>
      </p:sp>
      <p:sp>
        <p:nvSpPr>
          <p:cNvPr id="1048935" name="TextBox 8"/>
          <p:cNvSpPr txBox="1"/>
          <p:nvPr/>
        </p:nvSpPr>
        <p:spPr>
          <a:xfrm rot="0">
            <a:off x="388937" y="1103312"/>
            <a:ext cx="7775575" cy="9239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1800" lang="en-US">
                <a:latin typeface="Comic Sans MS" pitchFamily="66" charset="0"/>
              </a:rPr>
              <a:t>3. Branches (Actions)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Each branch represents a possible action available at a node.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Following a branch leads to a new node or to a terminal outcome.</a:t>
            </a:r>
          </a:p>
        </p:txBody>
      </p:sp>
      <p:sp>
        <p:nvSpPr>
          <p:cNvPr id="1048936" name="TextBox 7"/>
          <p:cNvSpPr txBox="1"/>
          <p:nvPr/>
        </p:nvSpPr>
        <p:spPr>
          <a:xfrm rot="0">
            <a:off x="390525" y="2212975"/>
            <a:ext cx="7775575" cy="1477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1800" lang="en-US">
                <a:latin typeface="Comic Sans MS" pitchFamily="66" charset="0"/>
              </a:rPr>
              <a:t>4. Payoffs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At each terminal node, you see a pair of numbers (or general outcomes) indicating the payoffs for each player.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For example, (3,2) means Player 1 gets 3 and Player 2 gets 2 if that path is chosen.</a:t>
            </a:r>
          </a:p>
        </p:txBody>
      </p:sp>
      <p:sp>
        <p:nvSpPr>
          <p:cNvPr id="1048937" name="TextBox 10"/>
          <p:cNvSpPr txBox="1"/>
          <p:nvPr/>
        </p:nvSpPr>
        <p:spPr>
          <a:xfrm rot="0">
            <a:off x="390525" y="3844925"/>
            <a:ext cx="7775575" cy="20320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1800" lang="en-US"/>
              <a:t>5</a:t>
            </a:r>
            <a:r>
              <a:rPr altLang="en-US" sz="1800" lang="en-US">
                <a:latin typeface="Comic Sans MS" pitchFamily="66" charset="0"/>
              </a:rPr>
              <a:t>. Backward Induction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The main solution concept for sequential games is backward induction:</a:t>
            </a:r>
          </a:p>
          <a:p>
            <a:pPr algn="just" indent="-480060" lvl="1" marL="800100">
              <a:buChar char="•"/>
            </a:pPr>
            <a:r>
              <a:rPr altLang="en-US" sz="1800" lang="en-US">
                <a:latin typeface="Comic Sans MS" pitchFamily="66" charset="0"/>
              </a:rPr>
              <a:t>Start from the last decision nodes and determine the optimal action for the player moving there.</a:t>
            </a:r>
          </a:p>
          <a:p>
            <a:pPr algn="just" indent="-480060" lvl="1" marL="800100">
              <a:buChar char="•"/>
            </a:pPr>
            <a:r>
              <a:rPr altLang="en-US" sz="1800" lang="en-US">
                <a:latin typeface="Comic Sans MS" pitchFamily="66" charset="0"/>
              </a:rPr>
              <a:t>Then work backward step by step to find the equilibrium path.</a:t>
            </a:r>
          </a:p>
          <a:p>
            <a:pPr algn="just" indent="-480060" lvl="1" marL="800100">
              <a:buChar char="•"/>
            </a:pPr>
            <a:r>
              <a:rPr altLang="en-US" sz="1800" lang="en-US">
                <a:latin typeface="Comic Sans MS" pitchFamily="66" charset="0"/>
              </a:rPr>
              <a:t>This gives the subgame perfect Nash equilibrium (SPNE).</a:t>
            </a:r>
          </a:p>
        </p:txBody>
      </p:sp>
    </p:spTree>
  </p:cSld>
  <p:clrMapOvr>
    <a:masterClrMapping/>
  </p:clrMapOvr>
  <p:timing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3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41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49</a:t>
            </a:fld>
            <a:endParaRPr altLang="en-US" sz="1400" lang="en-US"/>
          </a:p>
        </p:txBody>
      </p:sp>
      <p:sp>
        <p:nvSpPr>
          <p:cNvPr id="1048942" name="TextBox 5"/>
          <p:cNvSpPr txBox="1"/>
          <p:nvPr/>
        </p:nvSpPr>
        <p:spPr>
          <a:xfrm rot="0">
            <a:off x="395287" y="333375"/>
            <a:ext cx="7345362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Game tree in extensive form</a:t>
            </a:r>
          </a:p>
        </p:txBody>
      </p:sp>
      <p:sp>
        <p:nvSpPr>
          <p:cNvPr id="1048943" name="TextBox 6"/>
          <p:cNvSpPr txBox="1"/>
          <p:nvPr/>
        </p:nvSpPr>
        <p:spPr>
          <a:xfrm rot="0">
            <a:off x="654050" y="793750"/>
            <a:ext cx="7200900" cy="20320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The extensive form of a game is a complete description of:</a:t>
            </a:r>
          </a:p>
          <a:p>
            <a:pPr lvl="0"/>
            <a:endParaRPr altLang="en-US" sz="1800" lang="en-US">
              <a:latin typeface="Comic Sans MS" pitchFamily="66" charset="0"/>
            </a:endParaRP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The set of players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Who moves when and what their choices are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What players know when they move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The players’ payoffs as a function of the choices that are made.</a:t>
            </a:r>
          </a:p>
        </p:txBody>
      </p:sp>
      <p:sp>
        <p:nvSpPr>
          <p:cNvPr id="1048944" name="TextBox 8"/>
          <p:cNvSpPr txBox="1"/>
          <p:nvPr/>
        </p:nvSpPr>
        <p:spPr>
          <a:xfrm rot="0">
            <a:off x="690562" y="2855912"/>
            <a:ext cx="7772400" cy="12001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 u="sng">
                <a:latin typeface="Comic Sans MS" pitchFamily="66" charset="0"/>
              </a:rPr>
              <a:t>Avoiding Rocky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The "Avoiding Rocky" game is a game theory scenario where two players, a "Girl" who wants to avoid Rocky and Rocky who wants to find the Girl, each choose between two locations, "Party 1" and "Party 2".</a:t>
            </a:r>
          </a:p>
        </p:txBody>
      </p:sp>
      <p:pic>
        <p:nvPicPr>
          <p:cNvPr id="2097197" name="Picture 9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354262" y="4149725"/>
            <a:ext cx="3800475" cy="163353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3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48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50</a:t>
            </a:fld>
            <a:endParaRPr altLang="en-US" sz="1400" lang="en-US"/>
          </a:p>
        </p:txBody>
      </p:sp>
      <p:sp>
        <p:nvSpPr>
          <p:cNvPr id="1048949" name="TextBox 5"/>
          <p:cNvSpPr txBox="1"/>
          <p:nvPr/>
        </p:nvSpPr>
        <p:spPr>
          <a:xfrm rot="0">
            <a:off x="395287" y="333375"/>
            <a:ext cx="7345362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Game tree in extensive form</a:t>
            </a:r>
          </a:p>
        </p:txBody>
      </p:sp>
      <p:sp>
        <p:nvSpPr>
          <p:cNvPr id="1048950" name="TextBox 8"/>
          <p:cNvSpPr txBox="1"/>
          <p:nvPr/>
        </p:nvSpPr>
        <p:spPr>
          <a:xfrm rot="0">
            <a:off x="442912" y="1052512"/>
            <a:ext cx="7772400" cy="1477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1800" lang="en-US" u="sng">
                <a:latin typeface="Comic Sans MS" pitchFamily="66" charset="0"/>
              </a:rPr>
              <a:t>Matching Pennies </a:t>
            </a:r>
          </a:p>
          <a:p>
            <a:pPr algn="just" lvl="0"/>
            <a:r>
              <a:rPr altLang="en-US" sz="1800" lang="en-US">
                <a:latin typeface="Comic Sans MS" pitchFamily="66" charset="0"/>
              </a:rPr>
              <a:t>Consider two variants of the matching pennies game. 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In the first variant, player one moves first, and then player two moves second after having observed player one’s action. 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In the second, player two does not observe player one’s action</a:t>
            </a:r>
          </a:p>
        </p:txBody>
      </p:sp>
      <p:pic>
        <p:nvPicPr>
          <p:cNvPr id="2097198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346200" y="3068637"/>
            <a:ext cx="2719387" cy="2370137"/>
          </a:xfrm>
          <a:prstGeom prst="rect"/>
          <a:noFill/>
          <a:ln>
            <a:noFill/>
          </a:ln>
        </p:spPr>
      </p:pic>
      <p:pic>
        <p:nvPicPr>
          <p:cNvPr id="2097199" name="Picture 5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4716462" y="3068637"/>
            <a:ext cx="2887662" cy="22415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4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54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51</a:t>
            </a:fld>
            <a:endParaRPr altLang="en-US" sz="1400" lang="en-US"/>
          </a:p>
        </p:txBody>
      </p:sp>
      <p:sp>
        <p:nvSpPr>
          <p:cNvPr id="1048955" name="TextBox 5"/>
          <p:cNvSpPr txBox="1"/>
          <p:nvPr/>
        </p:nvSpPr>
        <p:spPr>
          <a:xfrm rot="0">
            <a:off x="393700" y="333375"/>
            <a:ext cx="7345362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Subgame </a:t>
            </a:r>
          </a:p>
        </p:txBody>
      </p:sp>
      <p:sp>
        <p:nvSpPr>
          <p:cNvPr id="1048956" name="TextBox 7"/>
          <p:cNvSpPr txBox="1"/>
          <p:nvPr/>
        </p:nvSpPr>
        <p:spPr>
          <a:xfrm rot="0">
            <a:off x="393700" y="982662"/>
            <a:ext cx="7923212" cy="53546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1800" lang="en-US">
                <a:latin typeface="Comic Sans MS" pitchFamily="66" charset="0"/>
              </a:rPr>
              <a:t>A subgame is a part of an extensive-form game that: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Starts at a single decision node (a node where some player has to choose an action).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Includes all successors of that node (all future moves and outcomes that follow from there).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Contains no broken information sets – a subgame can only start at a singleton information set.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When it’s a player’s turn and the relevant information set is singleton, the player knows exactly where they are in the game tree (what has happened so far).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The player can condition their action on that precise history. Also, a proper subgame may start at that node (because starting there doesn’t “break” any information set).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Non-singleton information set = a set with multiple nodes; the player can’t distinguish which node they’re at.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If Player 2 observes Player 1’s move, the two Player-2 nodes (after H and after T) are separate → two singleton info sets.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If Player 2 doesn’t observe Player 1’s move, those two nodes are linked by a dotted line (same info set) → non-singleton.</a:t>
            </a:r>
          </a:p>
        </p:txBody>
      </p:sp>
    </p:spTree>
  </p:cSld>
  <p:clrMapOvr>
    <a:masterClrMapping/>
  </p:clrMapOvr>
  <p:timing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4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60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52</a:t>
            </a:fld>
            <a:endParaRPr altLang="en-US" sz="1400" lang="en-US"/>
          </a:p>
        </p:txBody>
      </p:sp>
      <p:sp>
        <p:nvSpPr>
          <p:cNvPr id="1048961" name="TextBox 5"/>
          <p:cNvSpPr txBox="1"/>
          <p:nvPr/>
        </p:nvSpPr>
        <p:spPr>
          <a:xfrm rot="0">
            <a:off x="393700" y="333375"/>
            <a:ext cx="7345362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Subgame </a:t>
            </a:r>
          </a:p>
        </p:txBody>
      </p:sp>
      <p:pic>
        <p:nvPicPr>
          <p:cNvPr id="2097200" name="Picture 9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627312" y="781050"/>
            <a:ext cx="4248150" cy="3935412"/>
          </a:xfrm>
          <a:prstGeom prst="rect"/>
          <a:noFill/>
          <a:ln>
            <a:noFill/>
          </a:ln>
        </p:spPr>
      </p:pic>
      <p:sp>
        <p:nvSpPr>
          <p:cNvPr id="1048962" name="TextBox 10"/>
          <p:cNvSpPr txBox="1"/>
          <p:nvPr/>
        </p:nvSpPr>
        <p:spPr>
          <a:xfrm rot="0">
            <a:off x="473075" y="4322762"/>
            <a:ext cx="8197850" cy="17541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The game has two subgames:</a:t>
            </a:r>
          </a:p>
          <a:p>
            <a:pPr lvl="0">
              <a:buFont typeface="Times New Roman" pitchFamily="18" charset="0"/>
              <a:buAutoNum type="arabicPeriod" startAt="1"/>
            </a:pPr>
            <a:r>
              <a:rPr altLang="en-US" sz="1800" lang="en-US">
                <a:latin typeface="Comic Sans MS" pitchFamily="66" charset="0"/>
              </a:rPr>
              <a:t>The entire game starting at the root (Player 1’s node).</a:t>
            </a:r>
          </a:p>
          <a:p>
            <a:pPr lvl="0">
              <a:buFont typeface="Times New Roman" pitchFamily="18" charset="0"/>
              <a:buAutoNum type="arabicPeriod" startAt="1"/>
            </a:pPr>
            <a:r>
              <a:rPr altLang="en-US" sz="1800" lang="en-US">
                <a:latin typeface="Comic Sans MS" pitchFamily="66" charset="0"/>
              </a:rPr>
              <a:t>The proper subgame that begins at Player 2’s node (reached after Player 1 plays R), where Player 2 chooses D → (0,0) or U → (3,2).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There is no subgame on the left branch after L, since that node is terminal (no decision to be made).</a:t>
            </a:r>
          </a:p>
        </p:txBody>
      </p:sp>
    </p:spTree>
  </p:cSld>
  <p:clrMapOvr>
    <a:masterClrMapping/>
  </p:clrMapOvr>
  <p:timing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4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66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53</a:t>
            </a:fld>
            <a:endParaRPr altLang="en-US" sz="1400" lang="en-US"/>
          </a:p>
        </p:txBody>
      </p:sp>
      <p:sp>
        <p:nvSpPr>
          <p:cNvPr id="1048967" name="TextBox 5"/>
          <p:cNvSpPr txBox="1"/>
          <p:nvPr/>
        </p:nvSpPr>
        <p:spPr>
          <a:xfrm rot="0">
            <a:off x="393700" y="333375"/>
            <a:ext cx="7345362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Subgame </a:t>
            </a:r>
          </a:p>
        </p:txBody>
      </p:sp>
      <p:sp>
        <p:nvSpPr>
          <p:cNvPr id="1048968" name="TextBox 10"/>
          <p:cNvSpPr txBox="1"/>
          <p:nvPr/>
        </p:nvSpPr>
        <p:spPr>
          <a:xfrm rot="0">
            <a:off x="407987" y="3297237"/>
            <a:ext cx="7548562" cy="23082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1800" lang="en-US">
                <a:latin typeface="Comic Sans MS" pitchFamily="66" charset="0"/>
              </a:rPr>
              <a:t>Thus there are 4 subgames:</a:t>
            </a:r>
          </a:p>
          <a:p>
            <a:pPr algn="just" lvl="0"/>
            <a:endParaRPr altLang="en-US" sz="1800" lang="en-US">
              <a:latin typeface="Comic Sans MS" pitchFamily="66" charset="0"/>
            </a:endParaRP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Whole game starting at the root (Player 1’s first move).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After U: subgame at the upper Player 2 node where Player 2 chooses T or B.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After D: subgame at the lower Player 2 node where Player 2 chooses L or R (and if L, the game continues).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After L: subgame at Player 1’s node where Player 1 chooses p or q.</a:t>
            </a:r>
          </a:p>
        </p:txBody>
      </p:sp>
      <p:pic>
        <p:nvPicPr>
          <p:cNvPr id="2097201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195512" y="815975"/>
            <a:ext cx="3313112" cy="234950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5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72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54</a:t>
            </a:fld>
            <a:endParaRPr altLang="en-US" sz="1400" lang="en-US"/>
          </a:p>
        </p:txBody>
      </p:sp>
      <p:sp>
        <p:nvSpPr>
          <p:cNvPr id="1048973" name="TextBox 5"/>
          <p:cNvSpPr txBox="1"/>
          <p:nvPr/>
        </p:nvSpPr>
        <p:spPr>
          <a:xfrm rot="0">
            <a:off x="393700" y="333375"/>
            <a:ext cx="7345362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Subgame </a:t>
            </a:r>
          </a:p>
        </p:txBody>
      </p:sp>
      <p:sp>
        <p:nvSpPr>
          <p:cNvPr id="1048974" name="TextBox 10"/>
          <p:cNvSpPr txBox="1"/>
          <p:nvPr/>
        </p:nvSpPr>
        <p:spPr>
          <a:xfrm rot="0">
            <a:off x="539750" y="3068637"/>
            <a:ext cx="7546975" cy="31400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-285750" lvl="0" marL="285750">
              <a:buChar char="•"/>
            </a:pPr>
            <a:r>
              <a:rPr altLang="en-US" sz="1800" lang="en-US">
                <a:latin typeface="Comic Sans MS" pitchFamily="66" charset="0"/>
              </a:rPr>
              <a:t>Only one subgame: the entire game (starting at the root).</a:t>
            </a:r>
          </a:p>
          <a:p>
            <a:pPr algn="just" indent="-285750" lvl="0" marL="285750">
              <a:buChar char="•"/>
            </a:pPr>
            <a:r>
              <a:rPr altLang="en-US" sz="1800" lang="en-US">
                <a:latin typeface="Comic Sans MS" pitchFamily="66" charset="0"/>
              </a:rPr>
              <a:t>Player-2 nodes are in the same information set (dotted line). </a:t>
            </a:r>
          </a:p>
          <a:p>
            <a:pPr algn="just" indent="-285750" lvl="0" marL="285750">
              <a:buChar char="•"/>
            </a:pPr>
            <a:r>
              <a:rPr altLang="en-US" sz="1800" lang="en-US">
                <a:latin typeface="Comic Sans MS" pitchFamily="66" charset="0"/>
              </a:rPr>
              <a:t>If two nodes are in the same information set (often drawn with a dotted line):</a:t>
            </a:r>
          </a:p>
          <a:p>
            <a:pPr algn="just" indent="-445770" lvl="1" marL="742950">
              <a:buFont typeface="Wingdings" pitchFamily="2" charset="2"/>
              <a:buChar char="ü"/>
            </a:pPr>
            <a:r>
              <a:rPr altLang="en-US" sz="1800" lang="en-US">
                <a:latin typeface="Comic Sans MS" pitchFamily="66" charset="0"/>
              </a:rPr>
              <a:t>The player doesn’t know which of those nodes they are actually at (i.e., they don’t know exactly what happened earlier in the game).</a:t>
            </a:r>
          </a:p>
          <a:p>
            <a:pPr algn="just" indent="-445770" lvl="1" marL="742950">
              <a:buChar char="•"/>
            </a:pPr>
            <a:r>
              <a:rPr altLang="en-US" sz="1800" lang="en-US">
                <a:latin typeface="Comic Sans MS" pitchFamily="66" charset="0"/>
              </a:rPr>
              <a:t>Player 2’s two nodes are in the same information set, meaning 	Player 2 doesn’t know whether Player 1 played H or T when 	it’s their turn.</a:t>
            </a:r>
          </a:p>
          <a:p>
            <a:pPr algn="just" indent="-445770" lvl="1" marL="742950">
              <a:buChar char="•"/>
            </a:pPr>
            <a:r>
              <a:rPr altLang="en-US" sz="1800" lang="en-US">
                <a:latin typeface="Comic Sans MS" pitchFamily="66" charset="0"/>
              </a:rPr>
              <a:t>This is why no proper subgame can start at those nodes.</a:t>
            </a:r>
          </a:p>
        </p:txBody>
      </p:sp>
      <p:pic>
        <p:nvPicPr>
          <p:cNvPr id="2097202" name="Picture 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987675" y="568325"/>
            <a:ext cx="3168650" cy="235426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5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78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55</a:t>
            </a:fld>
            <a:endParaRPr altLang="en-US" sz="1400" lang="en-US"/>
          </a:p>
        </p:txBody>
      </p:sp>
      <p:sp>
        <p:nvSpPr>
          <p:cNvPr id="1048979" name="TextBox 5"/>
          <p:cNvSpPr txBox="1"/>
          <p:nvPr/>
        </p:nvSpPr>
        <p:spPr>
          <a:xfrm rot="0">
            <a:off x="395287" y="404812"/>
            <a:ext cx="7345362" cy="461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Subgame perfect equilibria</a:t>
            </a:r>
          </a:p>
        </p:txBody>
      </p:sp>
      <p:sp>
        <p:nvSpPr>
          <p:cNvPr id="1048980" name="TextBox 8"/>
          <p:cNvSpPr txBox="1"/>
          <p:nvPr/>
        </p:nvSpPr>
        <p:spPr>
          <a:xfrm rot="0">
            <a:off x="539750" y="1341437"/>
            <a:ext cx="7772400" cy="36925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-285750" lvl="0" marL="285750">
              <a:buChar char="•"/>
            </a:pPr>
            <a:r>
              <a:rPr altLang="en-US" sz="1800" lang="en-US">
                <a:latin typeface="Comic Sans MS" pitchFamily="66" charset="0"/>
              </a:rPr>
              <a:t>A Subgame Perfect Equilibrium (SPE) is a refinement of Nash equilibrium for extensive-form (sequential) games.</a:t>
            </a:r>
          </a:p>
          <a:p>
            <a:pPr algn="just" indent="-285750" lvl="0" marL="285750"/>
            <a:endParaRPr altLang="en-US" sz="1800" lang="en-US">
              <a:latin typeface="Comic Sans MS" pitchFamily="66" charset="0"/>
            </a:endParaRPr>
          </a:p>
          <a:p>
            <a:pPr algn="just" indent="-285750" lvl="0" marL="285750">
              <a:buChar char="•"/>
            </a:pPr>
            <a:r>
              <a:rPr altLang="en-US" sz="1800" lang="en-US">
                <a:latin typeface="Comic Sans MS" pitchFamily="66" charset="0"/>
              </a:rPr>
              <a:t>It is a strategy profile (a complete plan of action for every player) such that:</a:t>
            </a:r>
          </a:p>
          <a:p>
            <a:pPr algn="just" indent="-445770" lvl="1" marL="742950">
              <a:buFont typeface="Wingdings" pitchFamily="2" charset="2"/>
              <a:buChar char="ü"/>
            </a:pPr>
            <a:r>
              <a:rPr altLang="en-US" sz="1800" lang="en-US">
                <a:latin typeface="Comic Sans MS" pitchFamily="66" charset="0"/>
              </a:rPr>
              <a:t>The strategies form a Nash equilibrium in the entire game.</a:t>
            </a:r>
          </a:p>
          <a:p>
            <a:pPr algn="just" indent="-445770" lvl="1" marL="742950">
              <a:buFont typeface="Wingdings" pitchFamily="2" charset="2"/>
              <a:buChar char="ü"/>
            </a:pPr>
            <a:r>
              <a:rPr altLang="en-US" sz="1800" lang="en-US">
                <a:latin typeface="Comic Sans MS" pitchFamily="66" charset="0"/>
              </a:rPr>
              <a:t>And the strategies also form a Nash equilibrium in every subgame of the game.</a:t>
            </a:r>
          </a:p>
          <a:p>
            <a:pPr algn="just" indent="-445770" lvl="1" marL="742950"/>
            <a:endParaRPr altLang="en-US" sz="1800" lang="en-US">
              <a:latin typeface="Comic Sans MS" pitchFamily="66" charset="0"/>
            </a:endParaRPr>
          </a:p>
          <a:p>
            <a:pPr algn="just" indent="-285750" lvl="0" marL="285750">
              <a:buChar char="•"/>
            </a:pPr>
            <a:r>
              <a:rPr altLang="en-US" sz="1800" lang="en-US">
                <a:latin typeface="Comic Sans MS" pitchFamily="66" charset="0"/>
              </a:rPr>
              <a:t>A common technique for identifying subgame perfect equilibria is to start at the end of the game and work back to the front. </a:t>
            </a:r>
          </a:p>
          <a:p>
            <a:pPr algn="just" indent="-285750" lvl="0" marL="285750"/>
            <a:endParaRPr altLang="en-US" sz="1800" lang="en-US">
              <a:latin typeface="Comic Sans MS" pitchFamily="66" charset="0"/>
            </a:endParaRPr>
          </a:p>
          <a:p>
            <a:pPr algn="just" indent="-285750" lvl="0" marL="285750">
              <a:buChar char="•"/>
            </a:pPr>
            <a:r>
              <a:rPr altLang="en-US" sz="1800" lang="en-US">
                <a:latin typeface="Comic Sans MS" pitchFamily="66" charset="0"/>
              </a:rPr>
              <a:t>This process is called backward induction.</a:t>
            </a:r>
          </a:p>
        </p:txBody>
      </p:sp>
    </p:spTree>
  </p:cSld>
  <p:clrMapOvr>
    <a:masterClrMapping/>
  </p:clrMapOvr>
  <p:timing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5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84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56</a:t>
            </a:fld>
            <a:endParaRPr altLang="en-US" sz="1400" lang="en-US"/>
          </a:p>
        </p:txBody>
      </p:sp>
      <p:sp>
        <p:nvSpPr>
          <p:cNvPr id="1048985" name="TextBox 5"/>
          <p:cNvSpPr txBox="1"/>
          <p:nvPr/>
        </p:nvSpPr>
        <p:spPr>
          <a:xfrm rot="0">
            <a:off x="395287" y="333375"/>
            <a:ext cx="7345362" cy="461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Subgame perfect equilibria</a:t>
            </a:r>
          </a:p>
        </p:txBody>
      </p:sp>
      <p:sp>
        <p:nvSpPr>
          <p:cNvPr id="1048986" name="TextBox 5"/>
          <p:cNvSpPr txBox="1"/>
          <p:nvPr/>
        </p:nvSpPr>
        <p:spPr>
          <a:xfrm rot="0">
            <a:off x="612775" y="1212850"/>
            <a:ext cx="7918450" cy="28622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How We Find SPE</a:t>
            </a:r>
          </a:p>
          <a:p>
            <a:pPr lvl="0"/>
            <a:endParaRPr altLang="en-US" sz="1800" lang="en-US">
              <a:latin typeface="Comic Sans MS" pitchFamily="66" charset="0"/>
            </a:endParaRPr>
          </a:p>
          <a:p>
            <a:pPr lvl="0"/>
            <a:r>
              <a:rPr altLang="en-US" sz="1800" lang="en-US">
                <a:latin typeface="Comic Sans MS" pitchFamily="66" charset="0"/>
              </a:rPr>
              <a:t>We usually use backward induction:</a:t>
            </a:r>
          </a:p>
          <a:p>
            <a:pPr lvl="0"/>
            <a:endParaRPr altLang="en-US" sz="1800" lang="en-US">
              <a:latin typeface="Comic Sans MS" pitchFamily="66" charset="0"/>
            </a:endParaRPr>
          </a:p>
          <a:p>
            <a:pPr lvl="0">
              <a:buFont typeface="Times New Roman" pitchFamily="18" charset="0"/>
              <a:buAutoNum type="arabicPeriod" startAt="1"/>
            </a:pPr>
            <a:r>
              <a:rPr altLang="en-US" sz="1800" lang="en-US">
                <a:latin typeface="Comic Sans MS" pitchFamily="66" charset="0"/>
              </a:rPr>
              <a:t>Solve the last subgame first – figure out what players will do there.</a:t>
            </a:r>
          </a:p>
          <a:p>
            <a:pPr lvl="0">
              <a:buFont typeface="Times New Roman" pitchFamily="18" charset="0"/>
              <a:buAutoNum type="arabicPeriod" startAt="1"/>
            </a:pPr>
            <a:r>
              <a:rPr altLang="en-US" sz="1800" lang="en-US">
                <a:latin typeface="Comic Sans MS" pitchFamily="66" charset="0"/>
              </a:rPr>
              <a:t>Replace that subgame with its resulting payoffs.</a:t>
            </a:r>
          </a:p>
          <a:p>
            <a:pPr lvl="0">
              <a:buFont typeface="Times New Roman" pitchFamily="18" charset="0"/>
              <a:buAutoNum type="arabicPeriod" startAt="1"/>
            </a:pPr>
            <a:r>
              <a:rPr altLang="en-US" sz="1800" lang="en-US">
                <a:latin typeface="Comic Sans MS" pitchFamily="66" charset="0"/>
              </a:rPr>
              <a:t>Move one step earlier and solve again.</a:t>
            </a:r>
          </a:p>
          <a:p>
            <a:pPr lvl="0">
              <a:buFont typeface="Times New Roman" pitchFamily="18" charset="0"/>
              <a:buAutoNum type="arabicPeriod" startAt="1"/>
            </a:pPr>
            <a:r>
              <a:rPr altLang="en-US" sz="1800" lang="en-US">
                <a:latin typeface="Comic Sans MS" pitchFamily="66" charset="0"/>
              </a:rPr>
              <a:t>Continue until you reach the root of the game tree.</a:t>
            </a:r>
          </a:p>
          <a:p>
            <a:pPr lvl="0"/>
            <a:endParaRPr altLang="en-US" sz="1800" lang="en-US">
              <a:latin typeface="Comic Sans MS" pitchFamily="66" charset="0"/>
            </a:endParaRPr>
          </a:p>
          <a:p>
            <a:pPr lvl="0"/>
            <a:r>
              <a:rPr altLang="en-US" sz="1800" lang="en-US">
                <a:latin typeface="Comic Sans MS" pitchFamily="66" charset="0"/>
              </a:rPr>
              <a:t>The resulting strategy profile is the SPE.</a:t>
            </a:r>
          </a:p>
        </p:txBody>
      </p:sp>
    </p:spTree>
  </p:cSld>
  <p:clrMapOvr>
    <a:masterClrMapping/>
  </p:clrMapOvr>
  <p:timing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6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90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57</a:t>
            </a:fld>
            <a:endParaRPr altLang="en-US" sz="1400" lang="en-US"/>
          </a:p>
        </p:txBody>
      </p:sp>
      <p:sp>
        <p:nvSpPr>
          <p:cNvPr id="1048991" name="TextBox 5"/>
          <p:cNvSpPr txBox="1"/>
          <p:nvPr/>
        </p:nvSpPr>
        <p:spPr>
          <a:xfrm rot="0">
            <a:off x="395287" y="333375"/>
            <a:ext cx="7345362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Game tree in extensive form-Example-1</a:t>
            </a:r>
          </a:p>
        </p:txBody>
      </p:sp>
      <p:sp>
        <p:nvSpPr>
          <p:cNvPr id="1048992" name="TextBox 7"/>
          <p:cNvSpPr txBox="1"/>
          <p:nvPr/>
        </p:nvSpPr>
        <p:spPr>
          <a:xfrm rot="0">
            <a:off x="373062" y="993775"/>
            <a:ext cx="7848600" cy="25860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1800" lang="en-US">
                <a:latin typeface="Comic Sans MS" pitchFamily="66" charset="0"/>
              </a:rPr>
              <a:t>Consider the following sequential game between Player 1 and Player 2.</a:t>
            </a:r>
          </a:p>
          <a:p>
            <a:pPr algn="just" lvl="0"/>
            <a:endParaRPr altLang="en-US" sz="1800" lang="en-US">
              <a:latin typeface="Comic Sans MS" pitchFamily="66" charset="0"/>
            </a:endParaRP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Player 1 moves first and chooses Left (L) or Right (R).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If Left (L) is chosen, the game ends with payoffs (2, 1) — Player 1 gets 2, Player 2 gets 1.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If Right (R) is chosen, Player 2 then chooses Up (U) or Down (D):</a:t>
            </a:r>
          </a:p>
          <a:p>
            <a:pPr algn="just" indent="-480060" lvl="1" marL="800100">
              <a:buChar char="•"/>
            </a:pPr>
            <a:r>
              <a:rPr altLang="en-US" sz="1800" lang="en-US">
                <a:latin typeface="Comic Sans MS" pitchFamily="66" charset="0"/>
              </a:rPr>
              <a:t>If Up (U) is chosen, payoffs are (3, 2).</a:t>
            </a:r>
          </a:p>
          <a:p>
            <a:pPr algn="just" indent="-480060" lvl="1" marL="800100">
              <a:buChar char="•"/>
            </a:pPr>
            <a:r>
              <a:rPr altLang="en-US" sz="1800" lang="en-US">
                <a:latin typeface="Comic Sans MS" pitchFamily="66" charset="0"/>
              </a:rPr>
              <a:t>If Down (D) is chosen, payoffs are (0, 0).</a:t>
            </a:r>
          </a:p>
          <a:p>
            <a:pPr algn="just" indent="-480060" lvl="1" marL="800100">
              <a:buChar char="•"/>
            </a:pPr>
            <a:endParaRPr altLang="en-US" sz="1800" lang="en-US">
              <a:latin typeface="Comic Sans MS" pitchFamily="66" charset="0"/>
            </a:endParaRPr>
          </a:p>
        </p:txBody>
      </p:sp>
      <p:sp>
        <p:nvSpPr>
          <p:cNvPr id="1048993" name="TextBox 9"/>
          <p:cNvSpPr txBox="1"/>
          <p:nvPr/>
        </p:nvSpPr>
        <p:spPr>
          <a:xfrm rot="0">
            <a:off x="511175" y="3570287"/>
            <a:ext cx="7947025" cy="12319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-457200" lvl="0" marL="457200">
              <a:spcBef>
                <a:spcPct val="0"/>
              </a:spcBef>
              <a:buFont typeface="Times New Roman" pitchFamily="18" charset="0"/>
              <a:buAutoNum type="alphaLcParenR" startAt="1"/>
            </a:pPr>
            <a:r>
              <a:rPr altLang="en-US" sz="1800" lang="en-US">
                <a:latin typeface="Comic Sans MS" pitchFamily="66" charset="0"/>
              </a:rPr>
              <a:t>Represent this game in extensive form (draw the game tree).</a:t>
            </a:r>
          </a:p>
          <a:p>
            <a:pPr indent="-457200" lvl="0" marL="457200">
              <a:spcBef>
                <a:spcPct val="0"/>
              </a:spcBef>
              <a:buFont typeface="Times New Roman" pitchFamily="18" charset="0"/>
              <a:buAutoNum type="alphaLcParenR" startAt="1"/>
            </a:pPr>
            <a:r>
              <a:rPr altLang="en-US" sz="1800" lang="en-US">
                <a:latin typeface="Comic Sans MS" pitchFamily="66" charset="0"/>
              </a:rPr>
              <a:t>Use backward induction to determine the subgame perfect equilibrium (SPE).</a:t>
            </a:r>
            <a:br>
              <a:rPr altLang="en-US" sz="2000" lang="en-US">
                <a:latin typeface="Comic Sans MS" pitchFamily="66" charset="0"/>
              </a:rPr>
            </a:br>
            <a:endParaRPr altLang="en-US" sz="2000" lang="en-US">
              <a:latin typeface="Comic Sans MS" pitchFamily="66" charset="0"/>
            </a:endParaRPr>
          </a:p>
        </p:txBody>
      </p:sp>
    </p:spTree>
  </p:cSld>
  <p:clrMapOvr>
    <a:masterClrMapping/>
  </p:clrMapOvr>
  <p:timing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6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997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58</a:t>
            </a:fld>
            <a:endParaRPr altLang="en-US" sz="1400" lang="en-US"/>
          </a:p>
        </p:txBody>
      </p:sp>
      <p:sp>
        <p:nvSpPr>
          <p:cNvPr id="1048998" name="TextBox 8"/>
          <p:cNvSpPr txBox="1"/>
          <p:nvPr/>
        </p:nvSpPr>
        <p:spPr>
          <a:xfrm rot="0">
            <a:off x="611187" y="3952875"/>
            <a:ext cx="7702550" cy="20320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Solution (Backward Induction → SPE)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Step 1: Solve the last mover’s decision (Player 2).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If Player 1 chooses Right (R), Player 2 chooses between: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Up (U) → payoff to P2 = 2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Down (D) → payoff to P2 = 0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Player 2 prefers U (since 2 &gt; 0).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Optimal action at P2: U.</a:t>
            </a:r>
          </a:p>
        </p:txBody>
      </p:sp>
      <p:sp>
        <p:nvSpPr>
          <p:cNvPr id="1048999" name="TextBox 10"/>
          <p:cNvSpPr txBox="1"/>
          <p:nvPr/>
        </p:nvSpPr>
        <p:spPr>
          <a:xfrm rot="0">
            <a:off x="395287" y="333375"/>
            <a:ext cx="7345362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Game tree in extensive form-Example-1</a:t>
            </a:r>
          </a:p>
        </p:txBody>
      </p:sp>
      <p:pic>
        <p:nvPicPr>
          <p:cNvPr id="2097203" name="Picture 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132137" y="835025"/>
            <a:ext cx="3671887" cy="340360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6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03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59</a:t>
            </a:fld>
            <a:endParaRPr altLang="en-US" sz="1400" lang="en-US"/>
          </a:p>
        </p:txBody>
      </p:sp>
      <p:sp>
        <p:nvSpPr>
          <p:cNvPr id="1049004" name="TextBox 6"/>
          <p:cNvSpPr txBox="1"/>
          <p:nvPr/>
        </p:nvSpPr>
        <p:spPr>
          <a:xfrm rot="0">
            <a:off x="539750" y="4229100"/>
            <a:ext cx="7823200" cy="17541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Step 2: Roll back to Player 1’s decision.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Anticipating P2’s best reply (U), Player 1 compares: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Left (L) → payoffs (2,1) → P1 gets 2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Right (R) then U → payoffs (3,2) → P1 gets 3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Player 1 prefers R (since 3 &gt; 2).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Optimal action at P1: R.</a:t>
            </a:r>
          </a:p>
        </p:txBody>
      </p:sp>
      <p:sp>
        <p:nvSpPr>
          <p:cNvPr id="1049005" name="TextBox 7"/>
          <p:cNvSpPr txBox="1"/>
          <p:nvPr/>
        </p:nvSpPr>
        <p:spPr>
          <a:xfrm rot="0">
            <a:off x="395287" y="333375"/>
            <a:ext cx="7345362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Game tree in extensive form-Example-1</a:t>
            </a:r>
          </a:p>
        </p:txBody>
      </p:sp>
      <p:pic>
        <p:nvPicPr>
          <p:cNvPr id="2097204" name="Picture 4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35262" y="927100"/>
            <a:ext cx="3673475" cy="340360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6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09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60</a:t>
            </a:fld>
            <a:endParaRPr altLang="en-US" sz="1400" lang="en-US"/>
          </a:p>
        </p:txBody>
      </p:sp>
      <p:sp>
        <p:nvSpPr>
          <p:cNvPr id="1049010" name="TextBox 7"/>
          <p:cNvSpPr txBox="1"/>
          <p:nvPr/>
        </p:nvSpPr>
        <p:spPr>
          <a:xfrm rot="0">
            <a:off x="638175" y="4365625"/>
            <a:ext cx="7867650" cy="17541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Subgame Perfect Equilibrium (SPE):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Strategy profile:</a:t>
            </a:r>
          </a:p>
          <a:p>
            <a:pPr indent="-445770" lvl="1" marL="742950">
              <a:buChar char="•"/>
            </a:pPr>
            <a:r>
              <a:rPr altLang="en-US" sz="1800" lang="en-US">
                <a:latin typeface="Comic Sans MS" pitchFamily="66" charset="0"/>
              </a:rPr>
              <a:t>Player 1: R</a:t>
            </a:r>
          </a:p>
          <a:p>
            <a:pPr indent="-445770" lvl="1" marL="742950">
              <a:buChar char="•"/>
            </a:pPr>
            <a:r>
              <a:rPr altLang="en-US" sz="1800" lang="en-US">
                <a:latin typeface="Comic Sans MS" pitchFamily="66" charset="0"/>
              </a:rPr>
              <a:t>Player 2: U (after R)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Equilibrium path: R → U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Equilibrium payoffs: (3, 2)</a:t>
            </a:r>
          </a:p>
        </p:txBody>
      </p:sp>
      <p:sp>
        <p:nvSpPr>
          <p:cNvPr id="1049011" name="TextBox 8"/>
          <p:cNvSpPr txBox="1"/>
          <p:nvPr/>
        </p:nvSpPr>
        <p:spPr>
          <a:xfrm rot="0">
            <a:off x="395287" y="333375"/>
            <a:ext cx="7345362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Game tree in extensive form-Example-1</a:t>
            </a:r>
          </a:p>
        </p:txBody>
      </p:sp>
      <p:pic>
        <p:nvPicPr>
          <p:cNvPr id="2097205" name="Picture 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3068637" y="957262"/>
            <a:ext cx="2765425" cy="310832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7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15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61</a:t>
            </a:fld>
            <a:endParaRPr altLang="en-US" sz="1400" lang="en-US"/>
          </a:p>
        </p:txBody>
      </p:sp>
      <p:sp>
        <p:nvSpPr>
          <p:cNvPr id="1049016" name="TextBox 5"/>
          <p:cNvSpPr txBox="1"/>
          <p:nvPr/>
        </p:nvSpPr>
        <p:spPr>
          <a:xfrm rot="0">
            <a:off x="395287" y="333375"/>
            <a:ext cx="7345362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Game tree in extensive form-Example-2</a:t>
            </a:r>
          </a:p>
        </p:txBody>
      </p:sp>
      <p:sp>
        <p:nvSpPr>
          <p:cNvPr id="1049017" name="TextBox 12"/>
          <p:cNvSpPr txBox="1"/>
          <p:nvPr/>
        </p:nvSpPr>
        <p:spPr>
          <a:xfrm rot="0">
            <a:off x="360362" y="3614737"/>
            <a:ext cx="8308975" cy="25860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Step 1: Solve Player 2’s subgames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After L: Player 2 chooses between</a:t>
            </a:r>
          </a:p>
          <a:p>
            <a:pPr indent="-445770" lvl="1" marL="742950">
              <a:buChar char="•"/>
            </a:pPr>
            <a:r>
              <a:rPr altLang="en-US" sz="1800" lang="en-US">
                <a:latin typeface="Comic Sans MS" pitchFamily="66" charset="0"/>
              </a:rPr>
              <a:t>X → (4, 3) (P2 gets 3)</a:t>
            </a:r>
          </a:p>
          <a:p>
            <a:pPr indent="-445770" lvl="1" marL="742950">
              <a:buChar char="•"/>
            </a:pPr>
            <a:r>
              <a:rPr altLang="en-US" sz="1800" lang="en-US">
                <a:latin typeface="Comic Sans MS" pitchFamily="66" charset="0"/>
              </a:rPr>
              <a:t>Y → (1, 2) (P2 gets 2)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⇒ Best for P2: X.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After R: Player 2 chooses between</a:t>
            </a:r>
          </a:p>
          <a:p>
            <a:pPr indent="-445770" lvl="1" marL="742950">
              <a:buChar char="•"/>
            </a:pPr>
            <a:r>
              <a:rPr altLang="en-US" sz="1800" lang="en-US">
                <a:latin typeface="Comic Sans MS" pitchFamily="66" charset="0"/>
              </a:rPr>
              <a:t>M → (3, 1) (P2 gets 1)</a:t>
            </a:r>
          </a:p>
          <a:p>
            <a:pPr indent="-445770" lvl="1" marL="742950">
              <a:buChar char="•"/>
            </a:pPr>
            <a:r>
              <a:rPr altLang="en-US" sz="1800" lang="en-US">
                <a:latin typeface="Comic Sans MS" pitchFamily="66" charset="0"/>
              </a:rPr>
              <a:t>N → (0, 0) (P2 gets 0)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⇒ Best for P2: M.</a:t>
            </a:r>
          </a:p>
        </p:txBody>
      </p:sp>
      <p:pic>
        <p:nvPicPr>
          <p:cNvPr id="2097206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00337" y="857250"/>
            <a:ext cx="3460750" cy="275748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7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21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62</a:t>
            </a:fld>
            <a:endParaRPr altLang="en-US" sz="1400" lang="en-US"/>
          </a:p>
        </p:txBody>
      </p:sp>
      <p:sp>
        <p:nvSpPr>
          <p:cNvPr id="1049022" name="TextBox 5"/>
          <p:cNvSpPr txBox="1"/>
          <p:nvPr/>
        </p:nvSpPr>
        <p:spPr>
          <a:xfrm rot="0">
            <a:off x="395287" y="333375"/>
            <a:ext cx="7345362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Game tree in extensive form-Example-2</a:t>
            </a:r>
          </a:p>
        </p:txBody>
      </p:sp>
      <p:sp>
        <p:nvSpPr>
          <p:cNvPr id="1049023" name="TextBox 6"/>
          <p:cNvSpPr txBox="1"/>
          <p:nvPr/>
        </p:nvSpPr>
        <p:spPr>
          <a:xfrm rot="0">
            <a:off x="419100" y="4221162"/>
            <a:ext cx="8280400" cy="1477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Step 2: Roll back to Player 1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Anticipating P2’s optimal replies: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	If L, outcome becomes (4, 3).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	If R, outcome becomes (3, 1).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Player 1 compares own payoffs: 4 (via L) vs 3 (via R) ⇒ chooses L.</a:t>
            </a:r>
          </a:p>
        </p:txBody>
      </p:sp>
      <p:pic>
        <p:nvPicPr>
          <p:cNvPr id="2097207" name="Picture 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700337" y="1052512"/>
            <a:ext cx="3460750" cy="275748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7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27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63</a:t>
            </a:fld>
            <a:endParaRPr altLang="en-US" sz="1400" lang="en-US"/>
          </a:p>
        </p:txBody>
      </p:sp>
      <p:sp>
        <p:nvSpPr>
          <p:cNvPr id="1049028" name="TextBox 5"/>
          <p:cNvSpPr txBox="1"/>
          <p:nvPr/>
        </p:nvSpPr>
        <p:spPr>
          <a:xfrm rot="0">
            <a:off x="395287" y="333375"/>
            <a:ext cx="7345362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Game tree in extensive form-Example-2</a:t>
            </a:r>
          </a:p>
        </p:txBody>
      </p:sp>
      <p:sp>
        <p:nvSpPr>
          <p:cNvPr id="1049029" name="TextBox 7"/>
          <p:cNvSpPr txBox="1"/>
          <p:nvPr/>
        </p:nvSpPr>
        <p:spPr>
          <a:xfrm rot="0">
            <a:off x="395287" y="4005262"/>
            <a:ext cx="8153400" cy="17541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Subgame Perfect Equilibrium (SPE)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Strategies</a:t>
            </a:r>
          </a:p>
          <a:p>
            <a:pPr indent="-445770" lvl="1" marL="742950">
              <a:buChar char="•"/>
            </a:pPr>
            <a:r>
              <a:rPr altLang="en-US" sz="1800" lang="en-US">
                <a:latin typeface="Comic Sans MS" pitchFamily="66" charset="0"/>
              </a:rPr>
              <a:t>Player 1: L.</a:t>
            </a:r>
          </a:p>
          <a:p>
            <a:pPr indent="-445770" lvl="1" marL="742950">
              <a:buChar char="•"/>
            </a:pPr>
            <a:r>
              <a:rPr altLang="en-US" sz="1800" lang="en-US">
                <a:latin typeface="Comic Sans MS" pitchFamily="66" charset="0"/>
              </a:rPr>
              <a:t>Player 2: X after L; M after R.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Equilibrium path: L → X.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Equilibrium payoffs: (4, 3).</a:t>
            </a:r>
          </a:p>
        </p:txBody>
      </p:sp>
      <p:pic>
        <p:nvPicPr>
          <p:cNvPr id="2097208" name="Picture 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411412" y="889000"/>
            <a:ext cx="3462337" cy="275748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8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33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64</a:t>
            </a:fld>
            <a:endParaRPr altLang="en-US" sz="1400" lang="en-US"/>
          </a:p>
        </p:txBody>
      </p:sp>
      <p:sp>
        <p:nvSpPr>
          <p:cNvPr id="1049034" name="TextBox 5"/>
          <p:cNvSpPr txBox="1"/>
          <p:nvPr/>
        </p:nvSpPr>
        <p:spPr>
          <a:xfrm rot="0">
            <a:off x="395287" y="333375"/>
            <a:ext cx="7345362" cy="460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400" lang="en-US">
                <a:latin typeface="Comic Sans MS" pitchFamily="66" charset="0"/>
              </a:rPr>
              <a:t>Game tree in extensive form-Example-3</a:t>
            </a:r>
          </a:p>
        </p:txBody>
      </p:sp>
      <p:pic>
        <p:nvPicPr>
          <p:cNvPr id="2097209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39750" y="938212"/>
            <a:ext cx="7489825" cy="531018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8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38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65</a:t>
            </a:fld>
            <a:endParaRPr altLang="en-US" sz="1400" lang="en-US"/>
          </a:p>
        </p:txBody>
      </p:sp>
      <p:sp>
        <p:nvSpPr>
          <p:cNvPr id="1049039" name="TextBox 5"/>
          <p:cNvSpPr txBox="1"/>
          <p:nvPr/>
        </p:nvSpPr>
        <p:spPr>
          <a:xfrm rot="0">
            <a:off x="395287" y="333375"/>
            <a:ext cx="7848600" cy="7699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Game tree in extensive form-Example-4-the centipede game</a:t>
            </a:r>
          </a:p>
        </p:txBody>
      </p:sp>
      <p:pic>
        <p:nvPicPr>
          <p:cNvPr id="2097210" name="Picture 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843212" y="1052512"/>
            <a:ext cx="4598987" cy="1296987"/>
          </a:xfrm>
          <a:prstGeom prst="rect"/>
          <a:noFill/>
          <a:ln>
            <a:noFill/>
          </a:ln>
        </p:spPr>
      </p:pic>
      <p:sp>
        <p:nvSpPr>
          <p:cNvPr id="1049040" name="TextBox 7"/>
          <p:cNvSpPr txBox="1"/>
          <p:nvPr/>
        </p:nvSpPr>
        <p:spPr>
          <a:xfrm rot="0">
            <a:off x="319087" y="2108200"/>
            <a:ext cx="8505825" cy="39703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SPE (by backward induction):</a:t>
            </a:r>
          </a:p>
          <a:p>
            <a:pPr lvl="0"/>
            <a:endParaRPr altLang="en-US" sz="1800" lang="en-US">
              <a:latin typeface="Comic Sans MS" pitchFamily="66" charset="0"/>
            </a:endParaRP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At the 4th node (Player B): compare Take → (8,32) vs Pass → (64,16).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B prefers 32&gt;16 ⇒ B takes.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At the 3rd node (Player A):  compare Take → (16,4) vs Pass → (8,32).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A prefers 16&gt;8 ⇒ A takes.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At the 2nd node (Player B): compare Take → (2,8) vs Pass →  (16,4).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B prefers 8&gt;4 ⇒ B takes.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At the 1st node (Player A): compare Take → (4,2) vs Pass → (2,8).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A prefers 4&gt;2 ⇒ A takes.</a:t>
            </a:r>
          </a:p>
          <a:p>
            <a:pPr lvl="0"/>
            <a:endParaRPr altLang="en-US" sz="1800" lang="en-US">
              <a:latin typeface="Comic Sans MS" pitchFamily="66" charset="0"/>
            </a:endParaRPr>
          </a:p>
          <a:p>
            <a:pPr lvl="0"/>
            <a:r>
              <a:rPr altLang="en-US" sz="1800" lang="en-US">
                <a:latin typeface="Comic Sans MS" pitchFamily="66" charset="0"/>
              </a:rPr>
              <a:t>Equilibrium path and payoff:</a:t>
            </a:r>
          </a:p>
          <a:p>
            <a:pPr lvl="0"/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A takes immediately → (4,2).</a:t>
            </a:r>
          </a:p>
        </p:txBody>
      </p:sp>
    </p:spTree>
  </p:cSld>
  <p:clrMapOvr>
    <a:masterClrMapping/>
  </p:clrMapOvr>
  <p:timing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8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44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66</a:t>
            </a:fld>
            <a:endParaRPr altLang="en-US" sz="1400" lang="en-US"/>
          </a:p>
        </p:txBody>
      </p:sp>
      <p:sp>
        <p:nvSpPr>
          <p:cNvPr id="1049045" name="TextBox 5"/>
          <p:cNvSpPr txBox="1"/>
          <p:nvPr/>
        </p:nvSpPr>
        <p:spPr>
          <a:xfrm rot="0">
            <a:off x="395287" y="333375"/>
            <a:ext cx="7345362" cy="430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The Normal Form and Nash Equilibrium</a:t>
            </a:r>
          </a:p>
        </p:txBody>
      </p:sp>
      <p:sp>
        <p:nvSpPr>
          <p:cNvPr id="1049046" name="TextBox 5"/>
          <p:cNvSpPr txBox="1"/>
          <p:nvPr/>
        </p:nvSpPr>
        <p:spPr>
          <a:xfrm rot="0">
            <a:off x="684212" y="908050"/>
            <a:ext cx="7704137" cy="12017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-342900" lvl="0" marL="342900">
              <a:spcBef>
                <a:spcPct val="0"/>
              </a:spcBef>
            </a:pPr>
            <a:r>
              <a:rPr altLang="en-US" sz="1800" lang="en-US">
                <a:latin typeface="Comic Sans MS" pitchFamily="66" charset="0"/>
              </a:rPr>
              <a:t>Any extensive form game can also be represented in the normal form. </a:t>
            </a:r>
          </a:p>
          <a:p>
            <a:pPr indent="-342900" lvl="0" marL="342900">
              <a:spcBef>
                <a:spcPct val="0"/>
              </a:spcBef>
            </a:pPr>
            <a:r>
              <a:rPr altLang="en-US" sz="1800" lang="en-US">
                <a:latin typeface="Comic Sans MS" pitchFamily="66" charset="0"/>
              </a:rPr>
              <a:t>If we adopt a normal form representation, we can solve for the Nash equilibrium.</a:t>
            </a:r>
          </a:p>
        </p:txBody>
      </p:sp>
      <p:pic>
        <p:nvPicPr>
          <p:cNvPr id="2097211" name="Picture 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763712" y="2636837"/>
            <a:ext cx="2144712" cy="1868487"/>
          </a:xfrm>
          <a:prstGeom prst="rect"/>
          <a:noFill/>
          <a:ln>
            <a:noFill/>
          </a:ln>
        </p:spPr>
      </p:pic>
      <p:pic>
        <p:nvPicPr>
          <p:cNvPr id="2097212" name="Picture 3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4427537" y="3059112"/>
            <a:ext cx="2835275" cy="739775"/>
          </a:xfrm>
          <a:prstGeom prst="rect"/>
          <a:noFill/>
          <a:ln>
            <a:noFill/>
          </a:ln>
        </p:spPr>
      </p:pic>
      <p:sp>
        <p:nvSpPr>
          <p:cNvPr id="1049047" name="TextBox 10"/>
          <p:cNvSpPr txBox="1"/>
          <p:nvPr/>
        </p:nvSpPr>
        <p:spPr>
          <a:xfrm rot="0">
            <a:off x="669925" y="4714875"/>
            <a:ext cx="7845425" cy="120015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The columns (HH, HT, TH, TT) are Player 2’s contingent strategies—what Player 2 will do after each possible move of Player 1: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First letter = P2’s action if P1 played H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Second letter = P2’s action if P1 played T</a:t>
            </a:r>
          </a:p>
        </p:txBody>
      </p:sp>
      <p:sp>
        <p:nvSpPr>
          <p:cNvPr id="1049048" name="TextBox 11"/>
          <p:cNvSpPr txBox="1"/>
          <p:nvPr/>
        </p:nvSpPr>
        <p:spPr>
          <a:xfrm rot="0">
            <a:off x="395287" y="2338387"/>
            <a:ext cx="7704137" cy="3698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 u="sng">
                <a:latin typeface="Comic Sans MS" pitchFamily="66" charset="0"/>
              </a:rPr>
              <a:t>Player two does observes player one’s action:.</a:t>
            </a:r>
          </a:p>
        </p:txBody>
      </p:sp>
    </p:spTree>
  </p:cSld>
  <p:clrMapOvr>
    <a:masterClrMapping/>
  </p:clrMapOvr>
  <p:timing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9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52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67</a:t>
            </a:fld>
            <a:endParaRPr altLang="en-US" sz="1400" lang="en-US"/>
          </a:p>
        </p:txBody>
      </p:sp>
      <p:sp>
        <p:nvSpPr>
          <p:cNvPr id="1049053" name="TextBox 5"/>
          <p:cNvSpPr txBox="1"/>
          <p:nvPr/>
        </p:nvSpPr>
        <p:spPr>
          <a:xfrm rot="0">
            <a:off x="395287" y="333375"/>
            <a:ext cx="7345362" cy="430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The Normal Form and Nash Equilibrium</a:t>
            </a:r>
          </a:p>
        </p:txBody>
      </p:sp>
      <p:sp>
        <p:nvSpPr>
          <p:cNvPr id="1049054" name="TextBox 6"/>
          <p:cNvSpPr txBox="1"/>
          <p:nvPr/>
        </p:nvSpPr>
        <p:spPr>
          <a:xfrm rot="0">
            <a:off x="576262" y="3336925"/>
            <a:ext cx="7991475" cy="31400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Row H (P1 plays H: use first letter of P2’s plan)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(H, HH): P2’s first letter = H → same (H vs H) → (1, −1)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(H, HT): P2’s first letter = H → same (H vs H) → (1, −1)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(H, TH): P2’s first letter = T → different (H vs T) → (−1, 1)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(H, TT): P2’s first letter = T → different (H vs T) → (−1, 1)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endParaRPr altLang="en-US" sz="1800" lang="en-US">
              <a:latin typeface="Comic Sans MS" pitchFamily="66" charset="0"/>
            </a:endParaRP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Row T (P1 plays T: use second letter of P2’s plan)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(T, HH): P2’s second letter = H → different (T vs H) → (−1, 1)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(T, HT): P2’s second letter = T → same (T vs T) → (1, −1)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(T, TH): P2’s second letter = H → different (T vs H) → (−1, 1)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(T, TT): P2’s second letter = T → same (T vs T) → (1, −1)</a:t>
            </a:r>
          </a:p>
        </p:txBody>
      </p:sp>
      <p:pic>
        <p:nvPicPr>
          <p:cNvPr id="2097213" name="Picture 7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292725" y="1131887"/>
            <a:ext cx="2835275" cy="739775"/>
          </a:xfrm>
          <a:prstGeom prst="rect"/>
          <a:noFill/>
          <a:ln>
            <a:noFill/>
          </a:ln>
        </p:spPr>
      </p:pic>
      <p:pic>
        <p:nvPicPr>
          <p:cNvPr id="2097214" name="Picture 6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1706562" y="1052512"/>
            <a:ext cx="2360612" cy="2055812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9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58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68</a:t>
            </a:fld>
            <a:endParaRPr altLang="en-US" sz="1400" lang="en-US"/>
          </a:p>
        </p:txBody>
      </p:sp>
      <p:sp>
        <p:nvSpPr>
          <p:cNvPr id="1049059" name="TextBox 5"/>
          <p:cNvSpPr txBox="1"/>
          <p:nvPr/>
        </p:nvSpPr>
        <p:spPr>
          <a:xfrm rot="0">
            <a:off x="395287" y="333375"/>
            <a:ext cx="7345362" cy="430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The Normal Form and Nash Equilibrium</a:t>
            </a:r>
          </a:p>
        </p:txBody>
      </p:sp>
      <p:sp>
        <p:nvSpPr>
          <p:cNvPr id="1049060" name="TextBox 8"/>
          <p:cNvSpPr txBox="1"/>
          <p:nvPr/>
        </p:nvSpPr>
        <p:spPr>
          <a:xfrm rot="0">
            <a:off x="539750" y="977900"/>
            <a:ext cx="7704137" cy="3683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 u="sng">
                <a:latin typeface="Comic Sans MS" pitchFamily="66" charset="0"/>
              </a:rPr>
              <a:t>Player two does not observe player one’s action.</a:t>
            </a:r>
          </a:p>
        </p:txBody>
      </p:sp>
      <p:pic>
        <p:nvPicPr>
          <p:cNvPr id="2097215" name="Picture 3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042987" y="3652837"/>
            <a:ext cx="2789237" cy="2071687"/>
          </a:xfrm>
          <a:prstGeom prst="rect"/>
          <a:noFill/>
          <a:ln>
            <a:noFill/>
          </a:ln>
        </p:spPr>
      </p:pic>
      <p:pic>
        <p:nvPicPr>
          <p:cNvPr id="2097216" name="Picture 9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4572000" y="3987800"/>
            <a:ext cx="2206625" cy="957262"/>
          </a:xfrm>
          <a:prstGeom prst="rect"/>
          <a:noFill/>
          <a:ln>
            <a:noFill/>
          </a:ln>
        </p:spPr>
      </p:pic>
      <p:sp>
        <p:nvSpPr>
          <p:cNvPr id="1049061" name="TextBox 7"/>
          <p:cNvSpPr txBox="1"/>
          <p:nvPr/>
        </p:nvSpPr>
        <p:spPr>
          <a:xfrm rot="0">
            <a:off x="539750" y="1374775"/>
            <a:ext cx="7918450" cy="17541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-285750" lvl="0" marL="285750">
              <a:buChar char="•"/>
            </a:pPr>
            <a:r>
              <a:rPr altLang="en-US" sz="1800" lang="en-US">
                <a:latin typeface="Comic Sans MS" pitchFamily="66" charset="0"/>
              </a:rPr>
              <a:t>Because of the dotted line, Player 2’s two decision nodes belong to the same information set </a:t>
            </a:r>
          </a:p>
          <a:p>
            <a:pPr algn="just" indent="-285750" lvl="0" marL="285750"/>
            <a:r>
              <a:rPr altLang="en-US" sz="1800" lang="en-US">
                <a:latin typeface="Comic Sans MS" pitchFamily="66" charset="0"/>
              </a:rPr>
              <a:t>	⇒ P2 cannot see whether P1 played H or T. </a:t>
            </a:r>
          </a:p>
          <a:p>
            <a:pPr algn="just" indent="-285750" lvl="0" marL="285750">
              <a:buChar char="•"/>
            </a:pPr>
            <a:r>
              <a:rPr altLang="en-US" sz="1800" lang="en-US">
                <a:latin typeface="Comic Sans MS" pitchFamily="66" charset="0"/>
              </a:rPr>
              <a:t>Therefore P2 must choose one action for both nodes. </a:t>
            </a:r>
          </a:p>
          <a:p>
            <a:pPr algn="just" indent="-285750" lvl="0" marL="285750">
              <a:buChar char="•"/>
            </a:pPr>
            <a:r>
              <a:rPr altLang="en-US" sz="1800" lang="en-US">
                <a:latin typeface="Comic Sans MS" pitchFamily="66" charset="0"/>
              </a:rPr>
              <a:t>So P2’s pure strategies are only H or T (not HH, HT, …).</a:t>
            </a:r>
          </a:p>
          <a:p>
            <a:pPr algn="just" indent="-285750" lvl="0" marL="285750">
              <a:buChar char="•"/>
            </a:pPr>
            <a:r>
              <a:rPr altLang="en-US" sz="1800" lang="en-US">
                <a:latin typeface="Comic Sans MS" pitchFamily="66" charset="0"/>
              </a:rPr>
              <a:t> P1’s pure strategies are H or T.</a:t>
            </a:r>
          </a:p>
        </p:txBody>
      </p:sp>
    </p:spTree>
  </p:cSld>
  <p:clrMapOvr>
    <a:masterClrMapping/>
  </p:clrMapOvr>
  <p:timing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9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65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69</a:t>
            </a:fld>
            <a:endParaRPr altLang="en-US" sz="1400" lang="en-US"/>
          </a:p>
        </p:txBody>
      </p:sp>
      <p:sp>
        <p:nvSpPr>
          <p:cNvPr id="1049066" name="TextBox 5"/>
          <p:cNvSpPr txBox="1"/>
          <p:nvPr/>
        </p:nvSpPr>
        <p:spPr>
          <a:xfrm rot="0">
            <a:off x="395287" y="333375"/>
            <a:ext cx="7345362" cy="430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The Normal Form and Nash Equilibrium</a:t>
            </a:r>
          </a:p>
        </p:txBody>
      </p:sp>
      <p:sp>
        <p:nvSpPr>
          <p:cNvPr id="1049067" name="TextBox 8"/>
          <p:cNvSpPr txBox="1"/>
          <p:nvPr/>
        </p:nvSpPr>
        <p:spPr>
          <a:xfrm rot="0">
            <a:off x="539750" y="977900"/>
            <a:ext cx="7704137" cy="3683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 u="sng">
                <a:latin typeface="Comic Sans MS" pitchFamily="66" charset="0"/>
              </a:rPr>
              <a:t>Player two does not observe player one’s action.</a:t>
            </a:r>
          </a:p>
        </p:txBody>
      </p:sp>
      <p:pic>
        <p:nvPicPr>
          <p:cNvPr id="2097217" name="Picture 3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042987" y="3652837"/>
            <a:ext cx="2789237" cy="2071687"/>
          </a:xfrm>
          <a:prstGeom prst="rect"/>
          <a:noFill/>
          <a:ln>
            <a:noFill/>
          </a:ln>
        </p:spPr>
      </p:pic>
      <p:pic>
        <p:nvPicPr>
          <p:cNvPr id="2097218" name="Picture 9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4538662" y="3908425"/>
            <a:ext cx="2378075" cy="1033462"/>
          </a:xfrm>
          <a:prstGeom prst="rect"/>
          <a:noFill/>
          <a:ln>
            <a:noFill/>
          </a:ln>
        </p:spPr>
      </p:pic>
      <p:sp>
        <p:nvSpPr>
          <p:cNvPr id="1049068" name="TextBox 10"/>
          <p:cNvSpPr txBox="1"/>
          <p:nvPr/>
        </p:nvSpPr>
        <p:spPr>
          <a:xfrm rot="0">
            <a:off x="757237" y="1355725"/>
            <a:ext cx="7918450" cy="23082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How each entry is computed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(H, H): P1 plays H; P2 must also play H at her information set ⇒ coins match ⇒ P1 wins: (1, −1).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(H, T): P1 plays H; P2 plays T ⇒ coins differ ⇒ P2 wins: (−1, 1).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(T, H): P1 plays T; P2 plays H ⇒ coins differ ⇒ (−1, 1).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(T, T): Both play T ⇒ coins match ⇒ (1, −1).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So, with imperfect information (P2 doesn’t observe P1), the normal form reduces to the standard 2×2 matching-pennies payoff matrix.</a:t>
            </a:r>
          </a:p>
        </p:txBody>
      </p:sp>
    </p:spTree>
  </p:cSld>
  <p:clrMapOvr>
    <a:masterClrMapping/>
  </p:clrMapOvr>
  <p:timing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29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72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70</a:t>
            </a:fld>
            <a:endParaRPr altLang="en-US" sz="1400" lang="en-US"/>
          </a:p>
        </p:txBody>
      </p:sp>
      <p:sp>
        <p:nvSpPr>
          <p:cNvPr id="1049073" name="TextBox 5"/>
          <p:cNvSpPr txBox="1"/>
          <p:nvPr/>
        </p:nvSpPr>
        <p:spPr>
          <a:xfrm rot="0">
            <a:off x="395287" y="333375"/>
            <a:ext cx="7345362" cy="430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Subgame perfect equilibrium</a:t>
            </a:r>
          </a:p>
        </p:txBody>
      </p:sp>
      <p:pic>
        <p:nvPicPr>
          <p:cNvPr id="2097219" name="Picture 7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580062" y="1811337"/>
            <a:ext cx="2432050" cy="2119312"/>
          </a:xfrm>
          <a:prstGeom prst="rect"/>
          <a:noFill/>
          <a:ln>
            <a:noFill/>
          </a:ln>
        </p:spPr>
      </p:pic>
      <p:sp>
        <p:nvSpPr>
          <p:cNvPr id="1049074" name="TextBox 11"/>
          <p:cNvSpPr txBox="1"/>
          <p:nvPr/>
        </p:nvSpPr>
        <p:spPr>
          <a:xfrm rot="0">
            <a:off x="395287" y="4117975"/>
            <a:ext cx="7993062" cy="20320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 u="sng">
                <a:latin typeface="Comic Sans MS" pitchFamily="66" charset="0"/>
              </a:rPr>
              <a:t>Route(s) of the SPE:</a:t>
            </a:r>
          </a:p>
          <a:p>
            <a:pPr lvl="0"/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Player 2 always plays the opposite of Player 1’s move. So: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If Player 1 plays H, Player 2 plays T → path H → T, payoff (−1, 1).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If Player 1 plays T, Player 2 plays H → path T → H, payoff (−1, 1).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(Player 1 is indifferent at the root since either way they get −1, so both routes are consistent with the subgame-perfect strategies.)</a:t>
            </a:r>
          </a:p>
        </p:txBody>
      </p:sp>
      <p:sp>
        <p:nvSpPr>
          <p:cNvPr id="1049075" name="TextBox 12"/>
          <p:cNvSpPr txBox="1"/>
          <p:nvPr/>
        </p:nvSpPr>
        <p:spPr>
          <a:xfrm rot="0">
            <a:off x="395287" y="871537"/>
            <a:ext cx="4824412" cy="31400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 u="sng">
                <a:latin typeface="Comic Sans MS" pitchFamily="66" charset="0"/>
              </a:rPr>
              <a:t>Backward induction</a:t>
            </a:r>
          </a:p>
          <a:p>
            <a:pPr lvl="0"/>
            <a:endParaRPr altLang="en-US" sz="1800" lang="en-US">
              <a:latin typeface="Comic Sans MS" pitchFamily="66" charset="0"/>
            </a:endParaRP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If Player 1 plays </a:t>
            </a:r>
            <a:r>
              <a:rPr altLang="en-US" b="1" sz="1800" lang="en-US">
                <a:latin typeface="Comic Sans MS" pitchFamily="66" charset="0"/>
              </a:rPr>
              <a:t>H</a:t>
            </a:r>
            <a:r>
              <a:rPr altLang="en-US" sz="1800" lang="en-US">
                <a:latin typeface="Comic Sans MS" pitchFamily="66" charset="0"/>
              </a:rPr>
              <a:t>, Player 2 compares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	H → (1, −1) and • T → (−1, 1).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Best for P2 is </a:t>
            </a:r>
            <a:r>
              <a:rPr altLang="en-US" b="1" sz="1800" lang="en-US">
                <a:latin typeface="Comic Sans MS" pitchFamily="66" charset="0"/>
              </a:rPr>
              <a:t>T</a:t>
            </a:r>
            <a:r>
              <a:rPr altLang="en-US" sz="1800" lang="en-US">
                <a:latin typeface="Comic Sans MS" pitchFamily="66" charset="0"/>
              </a:rPr>
              <a:t>.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If Player 1 plays </a:t>
            </a:r>
            <a:r>
              <a:rPr altLang="en-US" b="1" sz="1800" lang="en-US">
                <a:latin typeface="Comic Sans MS" pitchFamily="66" charset="0"/>
              </a:rPr>
              <a:t>T</a:t>
            </a:r>
            <a:r>
              <a:rPr altLang="en-US" sz="1800" lang="en-US">
                <a:latin typeface="Comic Sans MS" pitchFamily="66" charset="0"/>
              </a:rPr>
              <a:t>, Player 2 compares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	H → (−1, 1) and • T → (1, −1).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Best for P2 is </a:t>
            </a:r>
            <a:r>
              <a:rPr altLang="en-US" b="1" sz="1800" lang="en-US">
                <a:latin typeface="Comic Sans MS" pitchFamily="66" charset="0"/>
              </a:rPr>
              <a:t>H</a:t>
            </a:r>
            <a:r>
              <a:rPr altLang="en-US" sz="1800" lang="en-US">
                <a:latin typeface="Comic Sans MS" pitchFamily="66" charset="0"/>
              </a:rPr>
              <a:t>.</a:t>
            </a:r>
          </a:p>
          <a:p>
            <a:pPr lvl="0"/>
            <a:endParaRPr altLang="en-US" sz="1800" lang="en-US">
              <a:latin typeface="Comic Sans MS" pitchFamily="66" charset="0"/>
            </a:endParaRPr>
          </a:p>
          <a:p>
            <a:pPr lvl="0"/>
            <a:r>
              <a:rPr altLang="en-US" sz="1800" lang="en-US">
                <a:latin typeface="Comic Sans MS" pitchFamily="66" charset="0"/>
              </a:rPr>
              <a:t>Player 1’s payoff is −1 whether she plays H or T, so she is indifferent.</a:t>
            </a:r>
          </a:p>
        </p:txBody>
      </p:sp>
    </p:spTree>
  </p:cSld>
  <p:clrMapOvr>
    <a:masterClrMapping/>
  </p:clrMapOvr>
  <p:timing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0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79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71</a:t>
            </a:fld>
            <a:endParaRPr altLang="en-US" sz="1400" lang="en-US"/>
          </a:p>
        </p:txBody>
      </p:sp>
      <p:sp>
        <p:nvSpPr>
          <p:cNvPr id="1049080" name="TextBox 5"/>
          <p:cNvSpPr txBox="1"/>
          <p:nvPr/>
        </p:nvSpPr>
        <p:spPr>
          <a:xfrm rot="0">
            <a:off x="395287" y="333375"/>
            <a:ext cx="7345362" cy="430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Battle of the Sexes Reconsidered</a:t>
            </a:r>
          </a:p>
        </p:txBody>
      </p:sp>
      <p:sp>
        <p:nvSpPr>
          <p:cNvPr id="1049081" name="TextBox 11"/>
          <p:cNvSpPr txBox="1"/>
          <p:nvPr/>
        </p:nvSpPr>
        <p:spPr>
          <a:xfrm rot="0">
            <a:off x="519112" y="720725"/>
            <a:ext cx="7705725" cy="3698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 u="sng">
                <a:latin typeface="Comic Sans MS" pitchFamily="66" charset="0"/>
              </a:rPr>
              <a:t>Harry knows Sally’s move:</a:t>
            </a:r>
          </a:p>
        </p:txBody>
      </p:sp>
      <p:sp>
        <p:nvSpPr>
          <p:cNvPr id="1049082" name="TextBox 15"/>
          <p:cNvSpPr txBox="1"/>
          <p:nvPr/>
        </p:nvSpPr>
        <p:spPr>
          <a:xfrm rot="0">
            <a:off x="377825" y="3043237"/>
            <a:ext cx="7989887" cy="36941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Row LL (Sally plays LL: use first letter of Harry’s plan)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LL, (LL,LL): Harry’s  first letter =LL → same (LL vs LL) → (1, 2)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LL, (LL, SB): Harry’s  first letter =LL → same (LL vs LL) → (1, 2)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LL, (SB, LL): Harry’s  first letter =SB → different (LL vs SB) → (0, 0)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LL, (SB, SB): Harry’s  first letter =SB → different (LL vs SB) → (0, 0)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endParaRPr altLang="en-US" sz="1800" lang="en-US">
              <a:latin typeface="Comic Sans MS" pitchFamily="66" charset="0"/>
            </a:endParaRP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Row SB (Sally plays SB: use second letter of Harry’s plan)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SB, (LL,LL): Harry’s  second letter =LL → same (SB vs LL) → (0,0)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SB, (LL, SB): Harry’s  second letter=SB → same (SB vs SB) → (2,1)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SB, (SB, LL): Harry’s  second letter =LL → different (SB vs LL) → (0, 0)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SB, (SB, SB):Harry’s  second letter =SB → different (SB vs SB) → (2, 1)</a:t>
            </a:r>
          </a:p>
          <a:p>
            <a:pPr algn="just" indent="0" lvl="0" marL="0">
              <a:spcBef>
                <a:spcPct val="0"/>
              </a:spcBef>
              <a:buFontTx/>
              <a:buNone/>
            </a:pPr>
            <a:endParaRPr altLang="en-US" sz="1800" lang="en-US">
              <a:latin typeface="Comic Sans MS" pitchFamily="66" charset="0"/>
            </a:endParaRPr>
          </a:p>
          <a:p>
            <a:pPr algn="just" indent="0" lvl="0" marL="0">
              <a:spcBef>
                <a:spcPct val="0"/>
              </a:spcBef>
              <a:buFontTx/>
              <a:buNone/>
            </a:pPr>
            <a:endParaRPr altLang="en-US" sz="1800" lang="en-US">
              <a:latin typeface="Comic Sans MS" pitchFamily="66" charset="0"/>
            </a:endParaRPr>
          </a:p>
        </p:txBody>
      </p:sp>
      <p:pic>
        <p:nvPicPr>
          <p:cNvPr id="2097220" name="Picture 17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580062" y="1017587"/>
            <a:ext cx="3248025" cy="1649412"/>
          </a:xfrm>
          <a:prstGeom prst="rect"/>
          <a:noFill/>
          <a:ln>
            <a:noFill/>
          </a:ln>
        </p:spPr>
      </p:pic>
      <p:pic>
        <p:nvPicPr>
          <p:cNvPr id="2097221" name="Picture 4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611187" y="1273175"/>
            <a:ext cx="4124325" cy="15811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0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86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72</a:t>
            </a:fld>
            <a:endParaRPr altLang="en-US" sz="1400" lang="en-US"/>
          </a:p>
        </p:txBody>
      </p:sp>
      <p:sp>
        <p:nvSpPr>
          <p:cNvPr id="1049087" name="TextBox 5"/>
          <p:cNvSpPr txBox="1"/>
          <p:nvPr/>
        </p:nvSpPr>
        <p:spPr>
          <a:xfrm rot="0">
            <a:off x="395287" y="333375"/>
            <a:ext cx="7345362" cy="430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Battle of the Sexes Reconsidered</a:t>
            </a:r>
          </a:p>
        </p:txBody>
      </p:sp>
      <p:sp>
        <p:nvSpPr>
          <p:cNvPr id="1049088" name="TextBox 11"/>
          <p:cNvSpPr txBox="1"/>
          <p:nvPr/>
        </p:nvSpPr>
        <p:spPr>
          <a:xfrm rot="0">
            <a:off x="468312" y="3136900"/>
            <a:ext cx="7704137" cy="36988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 u="sng">
                <a:latin typeface="Comic Sans MS" pitchFamily="66" charset="0"/>
              </a:rPr>
              <a:t>Harry doesn’t know Sally’s move :</a:t>
            </a:r>
          </a:p>
        </p:txBody>
      </p:sp>
      <p:pic>
        <p:nvPicPr>
          <p:cNvPr id="2097222" name="Picture 3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476375" y="1219200"/>
            <a:ext cx="1871662" cy="1441450"/>
          </a:xfrm>
          <a:prstGeom prst="rect"/>
          <a:noFill/>
          <a:ln>
            <a:noFill/>
          </a:ln>
        </p:spPr>
      </p:pic>
      <p:pic>
        <p:nvPicPr>
          <p:cNvPr id="2097223" name="Picture 6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3492500" y="1219200"/>
            <a:ext cx="4432300" cy="1255712"/>
          </a:xfrm>
          <a:prstGeom prst="rect"/>
          <a:noFill/>
          <a:ln>
            <a:noFill/>
          </a:ln>
        </p:spPr>
      </p:pic>
      <p:sp>
        <p:nvSpPr>
          <p:cNvPr id="1049089" name="TextBox 10"/>
          <p:cNvSpPr txBox="1"/>
          <p:nvPr/>
        </p:nvSpPr>
        <p:spPr>
          <a:xfrm rot="0">
            <a:off x="484187" y="3602037"/>
            <a:ext cx="7610475" cy="28622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Harry must choose one action to use no matter what Sally did.</a:t>
            </a:r>
          </a:p>
          <a:p>
            <a:pPr lvl="0"/>
            <a:r>
              <a:rPr altLang="en-US" b="1" sz="1800" lang="en-US">
                <a:latin typeface="Comic Sans MS" pitchFamily="66" charset="0"/>
              </a:rPr>
              <a:t>Strategies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Sally: { </a:t>
            </a:r>
            <a:r>
              <a:rPr altLang="en-US" b="1" sz="1800" lang="en-US">
                <a:latin typeface="Comic Sans MS" pitchFamily="66" charset="0"/>
              </a:rPr>
              <a:t>LL</a:t>
            </a:r>
            <a:r>
              <a:rPr altLang="en-US" sz="1800" lang="en-US">
                <a:latin typeface="Comic Sans MS" pitchFamily="66" charset="0"/>
              </a:rPr>
              <a:t>, </a:t>
            </a:r>
            <a:r>
              <a:rPr altLang="en-US" b="1" sz="1800" lang="en-US">
                <a:latin typeface="Comic Sans MS" pitchFamily="66" charset="0"/>
              </a:rPr>
              <a:t>SB</a:t>
            </a:r>
            <a:r>
              <a:rPr altLang="en-US" sz="1800" lang="en-US">
                <a:latin typeface="Comic Sans MS" pitchFamily="66" charset="0"/>
              </a:rPr>
              <a:t> }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Harry: { </a:t>
            </a:r>
            <a:r>
              <a:rPr altLang="en-US" b="1" sz="1800" lang="en-US">
                <a:latin typeface="Comic Sans MS" pitchFamily="66" charset="0"/>
              </a:rPr>
              <a:t>LL</a:t>
            </a:r>
            <a:r>
              <a:rPr altLang="en-US" sz="1800" lang="en-US">
                <a:latin typeface="Comic Sans MS" pitchFamily="66" charset="0"/>
              </a:rPr>
              <a:t>, </a:t>
            </a:r>
            <a:r>
              <a:rPr altLang="en-US" b="1" sz="1800" lang="en-US">
                <a:latin typeface="Comic Sans MS" pitchFamily="66" charset="0"/>
              </a:rPr>
              <a:t>SB</a:t>
            </a:r>
            <a:r>
              <a:rPr altLang="en-US" sz="1800" lang="en-US">
                <a:latin typeface="Comic Sans MS" pitchFamily="66" charset="0"/>
              </a:rPr>
              <a:t> }</a:t>
            </a:r>
          </a:p>
          <a:p>
            <a:pPr lvl="0">
              <a:buChar char="•"/>
            </a:pPr>
            <a:endParaRPr altLang="en-US" sz="1800" lang="en-US">
              <a:latin typeface="Comic Sans MS" pitchFamily="66" charset="0"/>
            </a:endParaRPr>
          </a:p>
          <a:p>
            <a:pPr lvl="0"/>
            <a:r>
              <a:rPr altLang="en-US" sz="1800" lang="en-US">
                <a:latin typeface="Comic Sans MS" pitchFamily="66" charset="0"/>
              </a:rPr>
              <a:t>(Entries come directly from the leaves of the tree: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LL–LL → (1,2); 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LL–SB → (0,0); 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SB–LL → (0,0); 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SB–SB → (2,1).)</a:t>
            </a:r>
          </a:p>
        </p:txBody>
      </p:sp>
    </p:spTree>
  </p:cSld>
  <p:clrMapOvr>
    <a:masterClrMapping/>
  </p:clrMapOvr>
  <p:timing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0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93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73</a:t>
            </a:fld>
            <a:endParaRPr altLang="en-US" sz="1400" lang="en-US"/>
          </a:p>
        </p:txBody>
      </p:sp>
      <p:sp>
        <p:nvSpPr>
          <p:cNvPr id="1049094" name="TextBox 5"/>
          <p:cNvSpPr txBox="1"/>
          <p:nvPr/>
        </p:nvSpPr>
        <p:spPr>
          <a:xfrm rot="0">
            <a:off x="395287" y="333375"/>
            <a:ext cx="7345362" cy="430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Battle of the Sexes-subgame perfect equilibrium</a:t>
            </a:r>
          </a:p>
        </p:txBody>
      </p:sp>
      <p:sp>
        <p:nvSpPr>
          <p:cNvPr id="1049095" name="TextBox 8"/>
          <p:cNvSpPr txBox="1"/>
          <p:nvPr/>
        </p:nvSpPr>
        <p:spPr>
          <a:xfrm rot="0">
            <a:off x="395287" y="1028700"/>
            <a:ext cx="6480175" cy="48006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 u="sng">
                <a:latin typeface="Comic Sans MS" pitchFamily="66" charset="0"/>
              </a:rPr>
              <a:t>Solve Harry’s subgames</a:t>
            </a:r>
          </a:p>
          <a:p>
            <a:pPr indent="-445770" lvl="1" marL="742950">
              <a:spcBef>
                <a:spcPct val="0"/>
              </a:spcBef>
              <a:buChar char="•"/>
            </a:pPr>
            <a:r>
              <a:rPr altLang="en-US" sz="1800" lang="en-US">
                <a:latin typeface="Comic Sans MS" pitchFamily="66" charset="0"/>
              </a:rPr>
              <a:t>	If Sally played LL (left node):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		Harry compares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	 	LL → (1,2) (Harry gets 2)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		SB → (0,0) (Harry gets 0)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		⇒ Best reply: LL.</a:t>
            </a:r>
          </a:p>
          <a:p>
            <a:pPr indent="-445770" lvl="1" marL="742950">
              <a:spcBef>
                <a:spcPct val="0"/>
              </a:spcBef>
              <a:buChar char="•"/>
            </a:pPr>
            <a:r>
              <a:rPr altLang="en-US" sz="1800" lang="en-US">
                <a:latin typeface="Comic Sans MS" pitchFamily="66" charset="0"/>
              </a:rPr>
              <a:t>If Sally played SB (right node):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		Harry compares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		LL → (0,0) (Harry gets 0)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		SB → (2,1) (Harry gets 1)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		⇒ Best reply: SB.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 u="sng">
                <a:latin typeface="Comic Sans MS" pitchFamily="66" charset="0"/>
              </a:rPr>
              <a:t>Roll back to Sally’s initial move</a:t>
            </a:r>
          </a:p>
          <a:p>
            <a:pPr indent="-445770" lvl="1" marL="742950">
              <a:spcBef>
                <a:spcPct val="0"/>
              </a:spcBef>
              <a:buChar char="•"/>
            </a:pPr>
            <a:r>
              <a:rPr altLang="en-US" sz="1800" lang="en-US">
                <a:latin typeface="Comic Sans MS" pitchFamily="66" charset="0"/>
              </a:rPr>
              <a:t>	If Sally chooses LL, induced outcome is (1,2).</a:t>
            </a:r>
          </a:p>
          <a:p>
            <a:pPr indent="-445770" lvl="1" marL="742950">
              <a:spcBef>
                <a:spcPct val="0"/>
              </a:spcBef>
              <a:buChar char="•"/>
            </a:pPr>
            <a:r>
              <a:rPr altLang="en-US" sz="1800" lang="en-US">
                <a:latin typeface="Comic Sans MS" pitchFamily="66" charset="0"/>
              </a:rPr>
              <a:t>	If Sally chooses SB, induced outcome is (2,1).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	Sally prefers 2 to 1 ⇒ choose SB.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 u="sng">
                <a:latin typeface="Comic Sans MS" pitchFamily="66" charset="0"/>
              </a:rPr>
              <a:t>Equilibrium path &amp; payoff:</a:t>
            </a:r>
          </a:p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	 SB → SB with payoff (2,1) (Sally, Harry).</a:t>
            </a:r>
          </a:p>
        </p:txBody>
      </p:sp>
      <p:pic>
        <p:nvPicPr>
          <p:cNvPr id="2097224" name="Picture 9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5780087" y="1982787"/>
            <a:ext cx="3000375" cy="152400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1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099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74</a:t>
            </a:fld>
            <a:endParaRPr altLang="en-US" sz="1400" lang="en-US"/>
          </a:p>
        </p:txBody>
      </p:sp>
      <p:sp>
        <p:nvSpPr>
          <p:cNvPr id="1049100" name="TextBox 5"/>
          <p:cNvSpPr txBox="1"/>
          <p:nvPr/>
        </p:nvSpPr>
        <p:spPr>
          <a:xfrm rot="0">
            <a:off x="395287" y="333375"/>
            <a:ext cx="7345362" cy="4302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Battle of the Sexes-subgame perfect equilibrium</a:t>
            </a:r>
          </a:p>
        </p:txBody>
      </p:sp>
      <p:sp>
        <p:nvSpPr>
          <p:cNvPr id="1049101" name="TextBox 8"/>
          <p:cNvSpPr txBox="1"/>
          <p:nvPr/>
        </p:nvSpPr>
        <p:spPr>
          <a:xfrm rot="0">
            <a:off x="827087" y="3660775"/>
            <a:ext cx="7200900" cy="147637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just" lvl="0"/>
            <a:r>
              <a:rPr altLang="en-US" sz="1800" lang="en-US" u="sng">
                <a:latin typeface="Comic Sans MS" pitchFamily="66" charset="0"/>
              </a:rPr>
              <a:t>You can’t use backward induction here.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Because Harry’s two decision nodes are linked by a single information set (dotted line), there is no proper subgame starting at Harry. </a:t>
            </a:r>
          </a:p>
          <a:p>
            <a:pPr algn="just" lvl="0">
              <a:buChar char="•"/>
            </a:pPr>
            <a:r>
              <a:rPr altLang="en-US" sz="1800" lang="en-US">
                <a:latin typeface="Comic Sans MS" pitchFamily="66" charset="0"/>
              </a:rPr>
              <a:t>Backward induction needs proper subgames, so it doesn’t apply. </a:t>
            </a:r>
          </a:p>
        </p:txBody>
      </p:sp>
      <p:pic>
        <p:nvPicPr>
          <p:cNvPr id="2097225" name="Picture 5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916237" y="1325562"/>
            <a:ext cx="2303462" cy="1773237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1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05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75</a:t>
            </a:fld>
            <a:endParaRPr altLang="en-US" sz="1400" lang="en-US"/>
          </a:p>
        </p:txBody>
      </p:sp>
      <p:sp>
        <p:nvSpPr>
          <p:cNvPr id="1049106" name="TextBox 14"/>
          <p:cNvSpPr txBox="1"/>
          <p:nvPr/>
        </p:nvSpPr>
        <p:spPr>
          <a:xfrm rot="0">
            <a:off x="360362" y="863600"/>
            <a:ext cx="8027987" cy="6461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Construct the normal form (payoff matrix) for this game when Rocky doesn’t  know the girl’s moves.</a:t>
            </a:r>
          </a:p>
        </p:txBody>
      </p:sp>
      <p:sp>
        <p:nvSpPr>
          <p:cNvPr id="1049107" name="TextBox 5"/>
          <p:cNvSpPr txBox="1"/>
          <p:nvPr/>
        </p:nvSpPr>
        <p:spPr>
          <a:xfrm rot="0">
            <a:off x="360362" y="244475"/>
            <a:ext cx="7345362" cy="4318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Avoiding Rocky</a:t>
            </a:r>
          </a:p>
        </p:txBody>
      </p:sp>
      <p:pic>
        <p:nvPicPr>
          <p:cNvPr id="2097226" name="Picture 23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20687" y="2525712"/>
            <a:ext cx="3952875" cy="1649412"/>
          </a:xfrm>
          <a:prstGeom prst="rect"/>
          <a:noFill/>
          <a:ln>
            <a:noFill/>
          </a:ln>
        </p:spPr>
      </p:pic>
      <p:pic>
        <p:nvPicPr>
          <p:cNvPr id="2097227" name="Picture 29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4373562" y="2276475"/>
            <a:ext cx="2971800" cy="1981200"/>
          </a:xfrm>
          <a:prstGeom prst="rect"/>
          <a:noFill/>
          <a:ln>
            <a:noFill/>
          </a:ln>
        </p:spPr>
      </p:pic>
      <p:sp>
        <p:nvSpPr>
          <p:cNvPr id="1049108" name="TextBox 35"/>
          <p:cNvSpPr txBox="1"/>
          <p:nvPr/>
        </p:nvSpPr>
        <p:spPr>
          <a:xfrm rot="0">
            <a:off x="557212" y="5030787"/>
            <a:ext cx="8029575" cy="923925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-285750" lvl="0" marL="285750">
              <a:spcBef>
                <a:spcPct val="0"/>
              </a:spcBef>
            </a:pPr>
            <a:r>
              <a:rPr altLang="en-US" sz="1800" lang="it-IT">
                <a:latin typeface="Comic Sans MS" pitchFamily="66" charset="0"/>
              </a:rPr>
              <a:t>Game has no pure strategy Nash equilibria</a:t>
            </a:r>
          </a:p>
          <a:p>
            <a:pPr indent="-285750" lvl="0" marL="285750">
              <a:spcBef>
                <a:spcPct val="0"/>
              </a:spcBef>
            </a:pPr>
            <a:r>
              <a:rPr altLang="en-US" sz="1800" lang="en-US">
                <a:latin typeface="Comic Sans MS" pitchFamily="66" charset="0"/>
              </a:rPr>
              <a:t>Game has one mixed strategy Nash equilibrium in which Rocky and Girl meet with probability 7/12</a:t>
            </a:r>
          </a:p>
        </p:txBody>
      </p:sp>
    </p:spTree>
  </p:cSld>
  <p:clrMapOvr>
    <a:masterClrMapping/>
  </p:clrMapOvr>
  <p:timing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1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12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76</a:t>
            </a:fld>
            <a:endParaRPr altLang="en-US" sz="1400" lang="en-US"/>
          </a:p>
        </p:txBody>
      </p:sp>
      <p:sp>
        <p:nvSpPr>
          <p:cNvPr id="1049113" name="TextBox 5"/>
          <p:cNvSpPr txBox="1"/>
          <p:nvPr/>
        </p:nvSpPr>
        <p:spPr>
          <a:xfrm rot="0">
            <a:off x="360362" y="244475"/>
            <a:ext cx="7345362" cy="4318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Avoiding Rocky</a:t>
            </a:r>
          </a:p>
        </p:txBody>
      </p:sp>
      <p:sp>
        <p:nvSpPr>
          <p:cNvPr id="1049114" name="TextBox 27"/>
          <p:cNvSpPr txBox="1"/>
          <p:nvPr/>
        </p:nvSpPr>
        <p:spPr>
          <a:xfrm rot="0">
            <a:off x="430212" y="936625"/>
            <a:ext cx="8027987" cy="64611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>
                <a:latin typeface="Comic Sans MS" pitchFamily="66" charset="0"/>
              </a:rPr>
              <a:t>Construct the normal form (payoff matrix) for this game when Rocky   knows the girl’s moves.</a:t>
            </a:r>
          </a:p>
        </p:txBody>
      </p:sp>
      <p:pic>
        <p:nvPicPr>
          <p:cNvPr id="2097228" name="Picture 28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411412" y="1773237"/>
            <a:ext cx="3717925" cy="1598612"/>
          </a:xfrm>
          <a:prstGeom prst="rect"/>
          <a:noFill/>
          <a:ln>
            <a:noFill/>
          </a:ln>
        </p:spPr>
      </p:pic>
      <p:pic>
        <p:nvPicPr>
          <p:cNvPr id="2097229" name="Picture 33"/>
          <p:cNvPicPr>
            <a:picLocks/>
          </p:cNvPicPr>
          <p:nvPr/>
        </p:nvPicPr>
        <p:blipFill>
          <a:blip xmlns:r="http://schemas.openxmlformats.org/officeDocument/2006/relationships" r:embed="rId2"/>
          <a:srcRect l="0" t="0" r="0" b="0"/>
          <a:stretch>
            <a:fillRect/>
          </a:stretch>
        </p:blipFill>
        <p:spPr>
          <a:xfrm rot="0">
            <a:off x="793750" y="3600450"/>
            <a:ext cx="7556500" cy="2517775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2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18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77</a:t>
            </a:fld>
            <a:endParaRPr altLang="en-US" sz="1400" lang="en-US"/>
          </a:p>
        </p:txBody>
      </p:sp>
      <p:sp>
        <p:nvSpPr>
          <p:cNvPr id="1049119" name="TextBox 5"/>
          <p:cNvSpPr txBox="1"/>
          <p:nvPr/>
        </p:nvSpPr>
        <p:spPr>
          <a:xfrm rot="0">
            <a:off x="360362" y="244475"/>
            <a:ext cx="7345362" cy="4318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Avoiding Rocky</a:t>
            </a:r>
          </a:p>
        </p:txBody>
      </p:sp>
      <p:sp>
        <p:nvSpPr>
          <p:cNvPr id="1049120" name="TextBox 15"/>
          <p:cNvSpPr txBox="1"/>
          <p:nvPr/>
        </p:nvSpPr>
        <p:spPr>
          <a:xfrm rot="0">
            <a:off x="360362" y="863600"/>
            <a:ext cx="8027987" cy="3683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 u="sng">
                <a:latin typeface="Comic Sans MS" pitchFamily="66" charset="0"/>
              </a:rPr>
              <a:t>Subgame perfect equilibrium:</a:t>
            </a:r>
          </a:p>
        </p:txBody>
      </p:sp>
      <p:pic>
        <p:nvPicPr>
          <p:cNvPr id="2097230" name="Picture 17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4716462" y="1449387"/>
            <a:ext cx="4316412" cy="1855787"/>
          </a:xfrm>
          <a:prstGeom prst="rect"/>
          <a:noFill/>
          <a:ln>
            <a:noFill/>
          </a:ln>
        </p:spPr>
      </p:pic>
      <p:sp>
        <p:nvSpPr>
          <p:cNvPr id="1049121" name="TextBox 19"/>
          <p:cNvSpPr txBox="1"/>
          <p:nvPr/>
        </p:nvSpPr>
        <p:spPr>
          <a:xfrm rot="0">
            <a:off x="522287" y="1619250"/>
            <a:ext cx="4681537" cy="28622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Evaluate Rocky’s payoff (second number in each pair) at each node.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Left subgame (Girl chose P1):</a:t>
            </a:r>
          </a:p>
          <a:p>
            <a:pPr indent="-445770" lvl="1" marL="742950">
              <a:buChar char="•"/>
            </a:pPr>
            <a:r>
              <a:rPr altLang="en-US" sz="1800" lang="en-US">
                <a:latin typeface="Comic Sans MS" pitchFamily="66" charset="0"/>
              </a:rPr>
              <a:t>Rocky plays P1 → payoff = 15 (outcome (5, 15))</a:t>
            </a:r>
          </a:p>
          <a:p>
            <a:pPr indent="-445770" lvl="1" marL="742950">
              <a:buChar char="•"/>
            </a:pPr>
            <a:r>
              <a:rPr altLang="en-US" sz="1800" lang="en-US">
                <a:latin typeface="Comic Sans MS" pitchFamily="66" charset="0"/>
              </a:rPr>
              <a:t>Rocky plays P2 → payoff = 10 (outcome (20, 10))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⇒ Best response: P1 (since 15 &gt; 10).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Subgame value to Girl if she plays P1: 5.</a:t>
            </a:r>
          </a:p>
        </p:txBody>
      </p:sp>
      <p:sp>
        <p:nvSpPr>
          <p:cNvPr id="1049122" name="TextBox 20"/>
          <p:cNvSpPr txBox="1"/>
          <p:nvPr/>
        </p:nvSpPr>
        <p:spPr>
          <a:xfrm rot="0">
            <a:off x="522287" y="4475162"/>
            <a:ext cx="6805612" cy="1477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-285750" lvl="0" marL="285750">
              <a:spcBef>
                <a:spcPct val="0"/>
              </a:spcBef>
            </a:pPr>
            <a:r>
              <a:rPr altLang="en-US" sz="1800" lang="en-US">
                <a:latin typeface="Comic Sans MS" pitchFamily="66" charset="0"/>
              </a:rPr>
              <a:t>Right subgame (Girl chose P2):</a:t>
            </a:r>
          </a:p>
          <a:p>
            <a:pPr indent="-445770" lvl="1" marL="742950">
              <a:spcBef>
                <a:spcPct val="0"/>
              </a:spcBef>
              <a:buChar char="•"/>
            </a:pPr>
            <a:r>
              <a:rPr altLang="en-US" sz="1800" lang="en-US">
                <a:latin typeface="Comic Sans MS" pitchFamily="66" charset="0"/>
              </a:rPr>
              <a:t>Rocky plays P2 → payoff = 20 (outcome (0, 20))</a:t>
            </a:r>
          </a:p>
          <a:p>
            <a:pPr indent="-445770" lvl="1" marL="742950">
              <a:spcBef>
                <a:spcPct val="0"/>
              </a:spcBef>
              <a:buChar char="•"/>
            </a:pPr>
            <a:r>
              <a:rPr altLang="en-US" sz="1800" lang="en-US">
                <a:latin typeface="Comic Sans MS" pitchFamily="66" charset="0"/>
              </a:rPr>
              <a:t>Rocky plays P1 → payoff = 5 (outcome (15, 5))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⇒ Best response: P2 (since 20 &gt; 5).</a:t>
            </a:r>
            <a:br>
              <a:rPr altLang="en-US" sz="1800" lang="en-US">
                <a:latin typeface="Comic Sans MS" pitchFamily="66" charset="0"/>
              </a:rPr>
            </a:br>
            <a:r>
              <a:rPr altLang="en-US" sz="1800" lang="en-US">
                <a:latin typeface="Comic Sans MS" pitchFamily="66" charset="0"/>
              </a:rPr>
              <a:t>Subgame value to Girl if she plays P2: 0.</a:t>
            </a:r>
          </a:p>
        </p:txBody>
      </p:sp>
    </p:spTree>
  </p:cSld>
  <p:clrMapOvr>
    <a:masterClrMapping/>
  </p:clrMapOvr>
  <p:timing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9126" name="Slide Number Placeholder 1"/>
          <p:cNvSpPr txBox="1"/>
          <p:nvPr/>
        </p:nvSpPr>
        <p:spPr>
          <a:xfrm rot="0">
            <a:off x="6553200" y="6248400"/>
            <a:ext cx="19050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algn="r" eaLnBrk="1" hangingPunct="1" indent="0" lvl="0" marL="0">
              <a:spcBef>
                <a:spcPct val="0"/>
              </a:spcBef>
              <a:buFontTx/>
              <a:buNone/>
            </a:pPr>
            <a:fld id="{566ABCEB-ACFC-4714-9973-3DA970169C29}" type="slidenum">
              <a:rPr altLang="en-US" sz="1400" lang="en-US"/>
              <a:pPr algn="r" eaLnBrk="1" hangingPunct="1" indent="0" lvl="0" marL="0">
                <a:spcBef>
                  <a:spcPct val="0"/>
                </a:spcBef>
                <a:buFontTx/>
                <a:buNone/>
              </a:pPr>
              <a:t>78</a:t>
            </a:fld>
            <a:endParaRPr altLang="en-US" sz="1400" lang="en-US"/>
          </a:p>
        </p:txBody>
      </p:sp>
      <p:sp>
        <p:nvSpPr>
          <p:cNvPr id="1049127" name="TextBox 5"/>
          <p:cNvSpPr txBox="1"/>
          <p:nvPr/>
        </p:nvSpPr>
        <p:spPr>
          <a:xfrm rot="0">
            <a:off x="360362" y="244475"/>
            <a:ext cx="7345362" cy="4318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2200" lang="en-US">
                <a:latin typeface="Comic Sans MS" pitchFamily="66" charset="0"/>
              </a:rPr>
              <a:t>Avoiding Rocky</a:t>
            </a:r>
          </a:p>
        </p:txBody>
      </p:sp>
      <p:sp>
        <p:nvSpPr>
          <p:cNvPr id="1049128" name="TextBox 15"/>
          <p:cNvSpPr txBox="1"/>
          <p:nvPr/>
        </p:nvSpPr>
        <p:spPr>
          <a:xfrm rot="0">
            <a:off x="360362" y="863600"/>
            <a:ext cx="8027987" cy="368300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-342900" latinLnBrk="0" marL="3429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32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-285750" latinLnBrk="0" marL="74295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8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-228600" latinLnBrk="0" marL="11430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•"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-228600" latinLnBrk="0" marL="16002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–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-228600" latinLnBrk="0" marL="205740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100000"/>
              <a:buFontTx/>
              <a:buChar char="»"/>
              <a:defRPr baseline="0" b="0" sz="20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indent="0" lvl="0" marL="0">
              <a:spcBef>
                <a:spcPct val="0"/>
              </a:spcBef>
              <a:buFontTx/>
              <a:buNone/>
            </a:pPr>
            <a:r>
              <a:rPr altLang="en-US" sz="1800" lang="en-US" u="sng">
                <a:latin typeface="Comic Sans MS" pitchFamily="66" charset="0"/>
              </a:rPr>
              <a:t>Subgame perfect equilibrium:</a:t>
            </a:r>
          </a:p>
        </p:txBody>
      </p:sp>
      <p:pic>
        <p:nvPicPr>
          <p:cNvPr id="2097231" name="Picture 17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413000" y="1395412"/>
            <a:ext cx="4318000" cy="1855787"/>
          </a:xfrm>
          <a:prstGeom prst="rect"/>
          <a:noFill/>
          <a:ln>
            <a:noFill/>
          </a:ln>
        </p:spPr>
      </p:pic>
      <p:sp>
        <p:nvSpPr>
          <p:cNvPr id="1049129" name="TextBox 19"/>
          <p:cNvSpPr txBox="1"/>
          <p:nvPr/>
        </p:nvSpPr>
        <p:spPr>
          <a:xfrm rot="0">
            <a:off x="539750" y="3595687"/>
            <a:ext cx="7918450" cy="1477962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Roll back to Girl’s initial choice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Girl compares her induced payoffs from Step 2: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If P1, she gets 5 (because Rocky will respond P1).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If P2, she gets 0 (because Rocky will respond P2).</a:t>
            </a:r>
          </a:p>
          <a:p>
            <a:pPr lvl="0"/>
            <a:r>
              <a:rPr altLang="en-US" sz="1800" lang="en-US">
                <a:latin typeface="Comic Sans MS" pitchFamily="66" charset="0"/>
              </a:rPr>
              <a:t>⇒ Girl’s optimal move: P1 (since 5 &gt; 0).</a:t>
            </a:r>
          </a:p>
        </p:txBody>
      </p:sp>
      <p:sp>
        <p:nvSpPr>
          <p:cNvPr id="1049130" name="TextBox 8"/>
          <p:cNvSpPr txBox="1"/>
          <p:nvPr/>
        </p:nvSpPr>
        <p:spPr>
          <a:xfrm rot="0">
            <a:off x="539750" y="5060950"/>
            <a:ext cx="7561262" cy="922337"/>
          </a:xfrm>
          <a:prstGeom prst="rect"/>
          <a:noFill/>
          <a:ln>
            <a:noFill/>
          </a:ln>
        </p:spPr>
        <p:txBody>
          <a:bodyPr anchor="t" bIns="45720" lIns="91440" rIns="91440" tIns="45720" vert="horz">
            <a:spAutoFit/>
          </a:bodyPr>
          <a:lstStyle>
            <a:lvl1pPr algn="l" eaLnBrk="0" fontAlgn="base" hangingPunct="0" indent="0" latinLnBrk="0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1pPr>
            <a:lvl2pPr algn="l" eaLnBrk="0" fontAlgn="base" hangingPunct="0" indent="0" latinLnBrk="0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2pPr>
            <a:lvl3pPr algn="l" eaLnBrk="0" fontAlgn="base" hangingPunct="0" indent="0" latinLnBrk="0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3pPr>
            <a:lvl4pPr algn="l" eaLnBrk="0" fontAlgn="base" hangingPunct="0" indent="0" latinLnBrk="0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4pPr>
            <a:lvl5pPr algn="l" eaLnBrk="0" fontAlgn="base" hangingPunct="0" indent="0" latinLnBrk="0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2400" i="0" u="none">
                <a:solidFill>
                  <a:schemeClr val="dk1"/>
                </a:solidFill>
                <a:latin typeface="Times New Roman" pitchFamily="18" charset="0"/>
                <a:sym typeface="Times New Roman" pitchFamily="18" charset="0"/>
              </a:defRPr>
            </a:lvl5pPr>
          </a:lstStyle>
          <a:p>
            <a:pPr lvl="0"/>
            <a:r>
              <a:rPr altLang="en-US" sz="1800" lang="en-US">
                <a:latin typeface="Comic Sans MS" pitchFamily="66" charset="0"/>
              </a:rPr>
              <a:t>Outcome on the equilibrium path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Play: P1 → P1</a:t>
            </a:r>
          </a:p>
          <a:p>
            <a:pPr lvl="0">
              <a:buChar char="•"/>
            </a:pPr>
            <a:r>
              <a:rPr altLang="en-US" sz="1800" lang="en-US">
                <a:latin typeface="Comic Sans MS" pitchFamily="66" charset="0"/>
              </a:rPr>
              <a:t>Payoffs: (5, 15) (Girl, Rocky).</a:t>
            </a:r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FFFFFF"/>
        </a:dk1>
        <a:lt1>
          <a:srgbClr val="0000FF"/>
        </a:lt1>
        <a:dk2>
          <a:srgbClr val="000000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</a:extraClrScheme>
    <a:extraClrScheme>
      <a:clrScheme name="Default Color Scheme 2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</a:extraClrScheme>
    <a:extraClrScheme>
      <a:clrScheme name="Default Color Scheme 3">
        <a:dk1>
          <a:srgbClr val="000000"/>
        </a:dk1>
        <a:lt1>
          <a:srgbClr val="FFFFFF"/>
        </a:lt1>
        <a:dk2>
          <a:srgbClr val="333333"/>
        </a:dk2>
        <a:lt2>
          <a:srgbClr val="000000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</a:extraClrScheme>
    <a:extraClrScheme>
      <a:clrScheme name="Default Color Scheme 4">
        <a:dk1>
          <a:srgbClr val="000000"/>
        </a:dk1>
        <a:lt1>
          <a:srgbClr val="FFFFCC"/>
        </a:lt1>
        <a:dk2>
          <a:srgbClr val="6666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</a:extraClrScheme>
    <a:extraClrScheme>
      <a:clrScheme name="Default Color Scheme 5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</a:extraClrScheme>
    <a:extraClrScheme>
      <a:clrScheme name="Default Color Scheme 6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</a:extraClrScheme>
    <a:extraClrScheme>
      <a:clrScheme name="Default Color Scheme 7">
        <a:dk1>
          <a:srgbClr val="000000"/>
        </a:dk1>
        <a:lt1>
          <a:srgbClr val="FFFFFF"/>
        </a:lt1>
        <a:dk2>
          <a:srgbClr val="808080"/>
        </a:dk2>
        <a:lt2>
          <a:srgbClr val="00000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4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ECE 220 Signals and Systems Instructor Nayeema Islam Office AH 607</dc:title>
  <dc:creator>nayeema</dc:creator>
  <cp:lastModifiedBy>Nayeema</cp:lastModifiedBy>
  <dcterms:created xsi:type="dcterms:W3CDTF">2006-01-23T22:08:18Z</dcterms:created>
  <dcterms:modified xsi:type="dcterms:W3CDTF">2026-09-08T02:03:42Z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2f64a7177914446986c0b157bcf3d017_23</vt:lpwstr>
  </property>
</Properties>
</file>