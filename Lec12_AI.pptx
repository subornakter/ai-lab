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Slides/notesSlide6.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heme/theme4.xml" ContentType="application/vnd.openxmlformats-officedocument.theme+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firstSlideNum="1" rtl="0" saveSubsetFonts="0" serverZoom="0" showSpecialPlsOnTitleSld="1">
  <p:sldMasterIdLst>
    <p:sldMasterId id="2147483648" r:id="rId1"/>
  </p:sldMasterIdLst>
  <p:notesMasterIdLst>
    <p:notesMasterId r:id="rId2"/>
  </p:notesMasterIdLst>
  <p:handoutMasterIdLst>
    <p:handoutMasterId r:id="rId3"/>
  </p:handout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Lst>
  <p:sldSz type="screen4x3" cy="6858000" cx="9144000"/>
  <p:notesSz cx="6858000" cy="9144000"/>
  <p:defaultTextStyle>
    <a:lvl1pPr algn="l" eaLnBrk="0" fontAlgn="base" hangingPunct="0" indent="0" latinLnBrk="0" marL="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1pPr>
    <a:lvl2pPr algn="l" eaLnBrk="0" fontAlgn="base" hangingPunct="0" indent="0" latinLnBrk="0" marL="4572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2pPr>
    <a:lvl3pPr algn="l" eaLnBrk="0" fontAlgn="base" hangingPunct="0" indent="0" latinLnBrk="0" marL="9144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3pPr>
    <a:lvl4pPr algn="l" eaLnBrk="0" fontAlgn="base" hangingPunct="0" indent="0" latinLnBrk="0" marL="13716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4pPr>
    <a:lvl5pPr algn="l" eaLnBrk="0" fontAlgn="base" hangingPunct="0" indent="0" latinLnBrk="0" marL="18288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5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View">
  <p:normalViewPr showOutlineIcons="1" snapVertSplitter="0" vertBarState="restored" horzBarState="maximized" preferSingleView="0">
    <p:restoredLeft sz="20428" autoAdjust="0"/>
    <p:restoredTop sz="86683" autoAdjust="0"/>
  </p:normalViewPr>
  <p:slideViewPr>
    <p:cSldViewPr showGuides="0" snapToGrid="1" snapToObjects="0">
      <p:cViewPr varScale="1">
        <p:scale>
          <a:sx n="82" d="100"/>
          <a:sy n="82" d="100"/>
        </p:scale>
        <p:origin x="1253" y="77"/>
      </p:cViewPr>
      <p:guideLst>
        <p:guide orient="horz" pos="2160"/>
        <p:guide orient="vert" pos="2880"/>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tableStyles" Target="tableStyles.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120" name=""/>
        <p:cNvGrpSpPr/>
        <p:nvPr/>
      </p:nvGrpSpPr>
      <p:grpSpPr>
        <a:xfrm rot="0">
          <a:off x="0" y="0"/>
          <a:ext cx="0" cy="0"/>
          <a:chOff x="0" y="0"/>
          <a:chExt cx="0" cy="0"/>
        </a:xfrm>
      </p:grpSpPr>
      <p:sp>
        <p:nvSpPr>
          <p:cNvPr id="1048790" name="Rectangle 2"/>
          <p:cNvSpPr/>
          <p:nvPr>
            <p:ph type="hdr" sz="quarter" idx="0"/>
          </p:nvPr>
        </p:nvSpPr>
        <p:spPr>
          <a:xfrm rot="0">
            <a:off x="0" y="0"/>
            <a:ext cx="2971800" cy="457200"/>
          </a:xfrm>
          <a:prstGeom prst="rect"/>
          <a:noFill/>
          <a:ln>
            <a:noFill/>
          </a:ln>
        </p:spPr>
        <p:txBody>
          <a:bodyPr anchor="t" bIns="45720" lIns="91440" rIns="91440" tIns="45720" vert="horz"/>
          <a:p>
            <a:pPr eaLnBrk="1" hangingPunct="1" lvl="0"/>
            <a:endParaRPr altLang="en-US" sz="1200" lang="en-US"/>
          </a:p>
        </p:txBody>
      </p:sp>
      <p:sp>
        <p:nvSpPr>
          <p:cNvPr id="1048791" name="Rectangle 3"/>
          <p:cNvSpPr/>
          <p:nvPr>
            <p:ph type="dt" sz="quarter" idx="1"/>
          </p:nvPr>
        </p:nvSpPr>
        <p:spPr>
          <a:xfrm rot="0">
            <a:off x="3886200" y="0"/>
            <a:ext cx="2971800" cy="457200"/>
          </a:xfrm>
          <a:prstGeom prst="rect"/>
          <a:noFill/>
          <a:ln>
            <a:noFill/>
          </a:ln>
        </p:spPr>
        <p:txBody>
          <a:bodyPr anchor="t" bIns="45720" lIns="91440" rIns="91440" tIns="45720" vert="horz"/>
          <a:p>
            <a:pPr algn="r" eaLnBrk="1" hangingPunct="1" lvl="0"/>
            <a:endParaRPr altLang="en-US" sz="1200" lang="en-US"/>
          </a:p>
        </p:txBody>
      </p:sp>
      <p:sp>
        <p:nvSpPr>
          <p:cNvPr id="1048792" name="Rectangle 4"/>
          <p:cNvSpPr/>
          <p:nvPr>
            <p:ph type="ftr" sz="quarter" idx="2"/>
          </p:nvPr>
        </p:nvSpPr>
        <p:spPr>
          <a:xfrm rot="0">
            <a:off x="0" y="8686800"/>
            <a:ext cx="2971800" cy="457200"/>
          </a:xfrm>
          <a:prstGeom prst="rect"/>
          <a:noFill/>
          <a:ln>
            <a:noFill/>
          </a:ln>
        </p:spPr>
        <p:txBody>
          <a:bodyPr anchor="b" bIns="45720" lIns="91440" rIns="91440" tIns="45720" vert="horz"/>
          <a:p>
            <a:pPr eaLnBrk="1" hangingPunct="1" lvl="0"/>
            <a:endParaRPr altLang="en-US" sz="1200" lang="en-US"/>
          </a:p>
        </p:txBody>
      </p:sp>
      <p:sp>
        <p:nvSpPr>
          <p:cNvPr id="1048793" name="Rectangle 5"/>
          <p:cNvSpPr/>
          <p:nvPr>
            <p:ph type="sldNum" sz="quarter" idx="3"/>
          </p:nvPr>
        </p:nvSpPr>
        <p:spPr>
          <a:xfrm rot="0">
            <a:off x="3886200" y="8686800"/>
            <a:ext cx="2971800" cy="457200"/>
          </a:xfrm>
          <a:prstGeom prst="rect"/>
          <a:noFill/>
          <a:ln>
            <a:noFill/>
          </a:ln>
        </p:spPr>
        <p:txBody>
          <a:bodyPr anchor="b" bIns="45720" lIns="91440" rIns="91440" tIns="45720" vert="horz"/>
          <a:p>
            <a:pPr algn="r" eaLnBrk="1" hangingPunct="1" lvl="0"/>
            <a:fld id="{566ABCEB-ACFC-4714-9973-3DA970169C29}" type="slidenum">
              <a:rPr altLang="en-US" sz="1200" lang="en-US"/>
              <a:pPr algn="r" eaLnBrk="1" hangingPunct="1" lvl="0"/>
            </a:fld>
            <a:endParaRPr altLang="en-US" sz="1200" lang="en-US"/>
          </a:p>
        </p:txBody>
      </p:sp>
    </p:spTree>
  </p:cSld>
  <p:clrMap accent1="dk1" accent2="dk1" accent3="dk1" accent4="dk1" accent5="dk1" accent6="dk1" bg1="dk1" bg2="dk1" tx1="dk1" tx2="dk1" hlink="dk1" folHlink="dk1"/>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18" name=""/>
        <p:cNvGrpSpPr/>
        <p:nvPr/>
      </p:nvGrpSpPr>
      <p:grpSpPr>
        <a:xfrm rot="0">
          <a:off x="0" y="0"/>
          <a:ext cx="0" cy="0"/>
          <a:chOff x="0" y="0"/>
          <a:chExt cx="0" cy="0"/>
        </a:xfrm>
      </p:grpSpPr>
      <p:sp>
        <p:nvSpPr>
          <p:cNvPr id="1048784" name="Header Placeholder 1"/>
          <p:cNvSpPr/>
          <p:nvPr>
            <p:ph type="hdr" sz="quarter" idx="0"/>
          </p:nvPr>
        </p:nvSpPr>
        <p:spPr>
          <a:xfrm rot="0">
            <a:off x="0" y="0"/>
            <a:ext cx="2971800" cy="458787"/>
          </a:xfrm>
          <a:prstGeom prst="rect"/>
          <a:noFill/>
          <a:ln>
            <a:noFill/>
          </a:ln>
        </p:spPr>
        <p:txBody>
          <a:bodyPr anchor="t" bIns="45720" lIns="91440" rIns="91440" tIns="45720" vert="horz"/>
          <a:p>
            <a:pPr lvl="0"/>
            <a:endParaRPr altLang="en-US" sz="1200" lang="en-US"/>
          </a:p>
        </p:txBody>
      </p:sp>
      <p:sp>
        <p:nvSpPr>
          <p:cNvPr id="1048785" name="Date Placeholder 2"/>
          <p:cNvSpPr/>
          <p:nvPr>
            <p:ph type="dt" sz="full" idx="1"/>
          </p:nvPr>
        </p:nvSpPr>
        <p:spPr>
          <a:xfrm rot="0">
            <a:off x="3884612" y="0"/>
            <a:ext cx="2971800" cy="458787"/>
          </a:xfrm>
          <a:prstGeom prst="rect"/>
          <a:noFill/>
          <a:ln>
            <a:noFill/>
          </a:ln>
        </p:spPr>
        <p:txBody>
          <a:bodyPr anchor="t" bIns="45720" lIns="91440" rIns="91440" tIns="45720" vert="horz"/>
          <a:p>
            <a:pPr algn="r" lvl="0"/>
            <a:fld id="{566ABCEB-ACFC-4714-9973-3DA970169C29}" type="datetime1">
              <a:rPr altLang="en-US" sz="1200" lang="en-US"/>
              <a:pPr algn="r" lvl="0"/>
            </a:fld>
            <a:endParaRPr altLang="en-US" sz="1200" lang="en-US"/>
          </a:p>
        </p:txBody>
      </p:sp>
      <p:sp>
        <p:nvSpPr>
          <p:cNvPr id="1048786" name="Slide Image Placeholder 3"/>
          <p:cNvSpPr/>
          <p:nvPr>
            <p:ph type="sldImg" sz="full" idx="2"/>
          </p:nvPr>
        </p:nvSpPr>
        <p:spPr>
          <a:xfrm rot="0">
            <a:off x="1371600" y="1143000"/>
            <a:ext cx="4114800" cy="3086100"/>
          </a:xfrm>
          <a:prstGeom prst="rect"/>
          <a:noFill/>
          <a:ln w="12700" cap="flat" cmpd="sng">
            <a:solidFill>
              <a:srgbClr val="000000">
                <a:alpha val="100000"/>
              </a:srgbClr>
            </a:solidFill>
            <a:prstDash val="solid"/>
            <a:round/>
          </a:ln>
        </p:spPr>
        <p:txBody>
          <a:bodyPr anchor="ctr" bIns="45720" lIns="91440" rIns="91440" tIns="45720" vert="horz"/>
          <a:p/>
        </p:txBody>
      </p:sp>
      <p:sp>
        <p:nvSpPr>
          <p:cNvPr id="1048787" name="Notes Placeholder 4"/>
          <p:cNvSpPr/>
          <p:nvPr>
            <p:ph type="body" sz="quarter" idx="3"/>
          </p:nvPr>
        </p:nvSpPr>
        <p:spPr>
          <a:xfrm rot="0">
            <a:off x="685800" y="4400550"/>
            <a:ext cx="5486400" cy="3600450"/>
          </a:xfrm>
          <a:prstGeom prst="rect"/>
          <a:noFill/>
          <a:ln>
            <a:noFill/>
          </a:ln>
        </p:spPr>
        <p:txBody>
          <a:bodyPr anchor="t" bIns="45720" lIns="91440" rIns="91440" tIns="45720" vert="horz"/>
          <a:p>
            <a:pPr lvl="0"/>
            <a:r>
              <a:rPr altLang="en-US" lang="en-US"/>
              <a:t>Edit Master text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8788" name="Footer Placeholder 5"/>
          <p:cNvSpPr/>
          <p:nvPr>
            <p:ph type="ftr" sz="quarter" idx="4"/>
          </p:nvPr>
        </p:nvSpPr>
        <p:spPr>
          <a:xfrm rot="0">
            <a:off x="0" y="8685212"/>
            <a:ext cx="2971800" cy="458787"/>
          </a:xfrm>
          <a:prstGeom prst="rect"/>
          <a:noFill/>
          <a:ln>
            <a:noFill/>
          </a:ln>
        </p:spPr>
        <p:txBody>
          <a:bodyPr anchor="b" bIns="45720" lIns="91440" rIns="91440" tIns="45720" vert="horz"/>
          <a:p>
            <a:pPr lvl="0"/>
            <a:endParaRPr altLang="en-US" sz="1200" lang="en-US"/>
          </a:p>
        </p:txBody>
      </p:sp>
      <p:sp>
        <p:nvSpPr>
          <p:cNvPr id="1048789" name="Slide Number Placeholder 6"/>
          <p:cNvSpPr/>
          <p:nvPr>
            <p:ph type="sldNum" sz="quarter" idx="5"/>
          </p:nvPr>
        </p:nvSpPr>
        <p:spPr>
          <a:xfrm rot="0">
            <a:off x="3884612" y="8685212"/>
            <a:ext cx="2971800" cy="458787"/>
          </a:xfrm>
          <a:prstGeom prst="rect"/>
          <a:noFill/>
          <a:ln>
            <a:noFill/>
          </a:ln>
        </p:spPr>
        <p:txBody>
          <a:bodyPr anchor="b" bIns="45720" lIns="91440" rIns="91440" tIns="45720" vert="horz"/>
          <a:p>
            <a:pPr algn="r" lvl="0"/>
            <a:fld id="{566ABCEB-ACFC-4714-9973-3DA970169C29}" type="slidenum">
              <a:rPr altLang="en-US" sz="1200" lang="en-US"/>
              <a:pPr algn="r" lvl="0"/>
            </a:fld>
            <a:endParaRPr altLang="en-US" sz="1200" lang="en-US"/>
          </a:p>
        </p:txBody>
      </p:sp>
    </p:spTree>
  </p:cSld>
  <p:clrMap accent1="dk1" accent2="dk1" accent3="dk1" accent4="dk1" accent5="dk1" accent6="dk1" bg1="dk1" bg2="dk1" tx1="dk1" tx2="dk1" hlink="dk1" folHlink="dk1"/>
  <p:notesStyle>
    <a:lvl1pPr algn="l" eaLnBrk="0" fontAlgn="base" hangingPunct="0" indent="0" latinLnBrk="0" marL="0" rtl="0">
      <a:lnSpc>
        <a:spcPct val="100000"/>
      </a:lnSpc>
      <a:spcBef>
        <a:spcPct val="30000"/>
      </a:spcBef>
      <a:spcAft>
        <a:spcPct val="0"/>
      </a:spcAft>
      <a:buFontTx/>
      <a:buNone/>
      <a:defRPr baseline="0" b="0" sz="1200" i="0" u="none">
        <a:solidFill>
          <a:schemeClr val="dk1"/>
        </a:solidFill>
        <a:latin typeface="Calibri" pitchFamily="34" charset="0"/>
        <a:sym typeface="Times New Roman" pitchFamily="18" charset="0"/>
      </a:defRPr>
    </a:lvl1pPr>
    <a:lvl2pPr algn="l" eaLnBrk="0" fontAlgn="base" hangingPunct="0" indent="0" latinLnBrk="0" marL="457200" rtl="0">
      <a:lnSpc>
        <a:spcPct val="100000"/>
      </a:lnSpc>
      <a:spcBef>
        <a:spcPct val="30000"/>
      </a:spcBef>
      <a:spcAft>
        <a:spcPct val="0"/>
      </a:spcAft>
      <a:buFontTx/>
      <a:buNone/>
      <a:defRPr baseline="0" b="0" sz="1200" i="0" u="none">
        <a:solidFill>
          <a:schemeClr val="dk1"/>
        </a:solidFill>
        <a:latin typeface="Calibri" pitchFamily="34" charset="0"/>
        <a:sym typeface="Times New Roman" pitchFamily="18" charset="0"/>
      </a:defRPr>
    </a:lvl2pPr>
    <a:lvl3pPr algn="l" eaLnBrk="0" fontAlgn="base" hangingPunct="0" indent="0" latinLnBrk="0" marL="914400" rtl="0">
      <a:lnSpc>
        <a:spcPct val="100000"/>
      </a:lnSpc>
      <a:spcBef>
        <a:spcPct val="30000"/>
      </a:spcBef>
      <a:spcAft>
        <a:spcPct val="0"/>
      </a:spcAft>
      <a:buFontTx/>
      <a:buNone/>
      <a:defRPr baseline="0" b="0" sz="1200" i="0" u="none">
        <a:solidFill>
          <a:schemeClr val="dk1"/>
        </a:solidFill>
        <a:latin typeface="Calibri" pitchFamily="34" charset="0"/>
        <a:sym typeface="Times New Roman" pitchFamily="18" charset="0"/>
      </a:defRPr>
    </a:lvl3pPr>
    <a:lvl4pPr algn="l" eaLnBrk="0" fontAlgn="base" hangingPunct="0" indent="0" latinLnBrk="0" marL="1371600" rtl="0">
      <a:lnSpc>
        <a:spcPct val="100000"/>
      </a:lnSpc>
      <a:spcBef>
        <a:spcPct val="30000"/>
      </a:spcBef>
      <a:spcAft>
        <a:spcPct val="0"/>
      </a:spcAft>
      <a:buFontTx/>
      <a:buNone/>
      <a:defRPr baseline="0" b="0" sz="1200" i="0" u="none">
        <a:solidFill>
          <a:schemeClr val="dk1"/>
        </a:solidFill>
        <a:latin typeface="Calibri" pitchFamily="34" charset="0"/>
        <a:sym typeface="Times New Roman" pitchFamily="18" charset="0"/>
      </a:defRPr>
    </a:lvl4pPr>
    <a:lvl5pPr algn="l" eaLnBrk="0" fontAlgn="base" hangingPunct="0" indent="0" latinLnBrk="0" marL="1828800" rtl="0">
      <a:lnSpc>
        <a:spcPct val="100000"/>
      </a:lnSpc>
      <a:spcBef>
        <a:spcPct val="30000"/>
      </a:spcBef>
      <a:spcAft>
        <a:spcPct val="0"/>
      </a:spcAft>
      <a:buFontTx/>
      <a:buNone/>
      <a:defRPr baseline="0" b="0" sz="1200" i="0" u="none">
        <a:solidFill>
          <a:schemeClr val="dk1"/>
        </a:solidFill>
        <a:latin typeface="Calibri" pitchFamily="34" charset="0"/>
        <a:sym typeface="Times New Roman" pitchFamily="18" charset="0"/>
      </a:defRPr>
    </a:lvl5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64" name=""/>
        <p:cNvGrpSpPr/>
        <p:nvPr/>
      </p:nvGrpSpPr>
      <p:grpSpPr>
        <a:xfrm rot="0">
          <a:off x="0" y="0"/>
          <a:ext cx="0" cy="0"/>
          <a:chOff x="0" y="0"/>
          <a:chExt cx="0" cy="0"/>
        </a:xfrm>
      </p:grpSpPr>
      <p:sp>
        <p:nvSpPr>
          <p:cNvPr id="1048606" name="Slide Image Placeholder 1"/>
          <p:cNvSpPr/>
          <p:nvPr>
            <p:ph type="sldImg" sz="full" idx="0"/>
          </p:nvPr>
        </p:nvSpPr>
        <p:spPr bwMode="auto">
          <a:xfrm rot="0">
            <a:off x="1371600" y="1143000"/>
            <a:ext cx="4114800" cy="3086100"/>
          </a:xfrm>
          <a:prstGeom prst="rect"/>
          <a:noFill/>
          <a:ln w="9525" cap="flat" cmpd="sng">
            <a:solidFill>
              <a:srgbClr val="000000">
                <a:alpha val="100000"/>
              </a:srgbClr>
            </a:solidFill>
            <a:prstDash val="solid"/>
            <a:miter/>
          </a:ln>
        </p:spPr>
        <p:txBody>
          <a:bodyPr anchor="ctr" bIns="45720" lIns="91440" rIns="91440" tIns="45720" vert="horz"/>
          <a:p/>
        </p:txBody>
      </p:sp>
      <p:sp>
        <p:nvSpPr>
          <p:cNvPr id="1048607" name="Notes Placeholder 2"/>
          <p:cNvSpPr/>
          <p:nvPr>
            <p:ph type="body" sz="full" idx="1"/>
          </p:nvPr>
        </p:nvSpPr>
        <p:spPr bwMode="auto">
          <a:xfrm rot="0">
            <a:off x="685800" y="4400550"/>
            <a:ext cx="5486400" cy="3600450"/>
          </a:xfrm>
          <a:prstGeom prst="rect"/>
          <a:noFill/>
          <a:ln>
            <a:noFill/>
          </a:ln>
        </p:spPr>
        <p:txBody>
          <a:bodyPr anchor="t" bIns="45720" lIns="91440" rIns="91440" tIns="45720" vert="horz"/>
          <a:p>
            <a:endParaRPr altLang="en-US" lang="en-US"/>
          </a:p>
        </p:txBody>
      </p:sp>
      <p:sp>
        <p:nvSpPr>
          <p:cNvPr id="1048608" name="Slide Number Placeholder 3"/>
          <p:cNvSpPr txBox="1"/>
          <p:nvPr/>
        </p:nvSpPr>
        <p:spPr>
          <a:xfrm rot="0">
            <a:off x="3884612" y="8685212"/>
            <a:ext cx="2971800" cy="458787"/>
          </a:xfrm>
          <a:prstGeom prst="rect"/>
          <a:noFill/>
          <a:ln>
            <a:noFill/>
          </a:ln>
        </p:spPr>
        <p:txBody>
          <a:bodyPr anchor="b" bIns="45720" lIns="91440" rIns="91440" tIns="45720" vert="horz"/>
          <a:p>
            <a:pPr algn="r" lvl="0"/>
            <a:fld id="{566ABCEB-ACFC-4714-9973-3DA970169C29}" type="slidenum">
              <a:rPr altLang="en-US" sz="1200" lang="en-US"/>
              <a:pPr algn="r" lvl="0"/>
            </a:fld>
            <a:endParaRPr altLang="en-US" sz="1200"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67" name=""/>
        <p:cNvGrpSpPr/>
        <p:nvPr/>
      </p:nvGrpSpPr>
      <p:grpSpPr>
        <a:xfrm rot="0">
          <a:off x="0" y="0"/>
          <a:ext cx="0" cy="0"/>
          <a:chOff x="0" y="0"/>
          <a:chExt cx="0" cy="0"/>
        </a:xfrm>
      </p:grpSpPr>
      <p:sp>
        <p:nvSpPr>
          <p:cNvPr id="1048612" name="Slide Image Placeholder 1"/>
          <p:cNvSpPr/>
          <p:nvPr>
            <p:ph type="sldImg" sz="full" idx="0"/>
          </p:nvPr>
        </p:nvSpPr>
        <p:spPr bwMode="auto">
          <a:xfrm rot="0">
            <a:off x="1371600" y="1143000"/>
            <a:ext cx="4114800" cy="3086100"/>
          </a:xfrm>
          <a:prstGeom prst="rect"/>
          <a:noFill/>
          <a:ln w="9525" cap="flat" cmpd="sng">
            <a:solidFill>
              <a:srgbClr val="000000">
                <a:alpha val="100000"/>
              </a:srgbClr>
            </a:solidFill>
            <a:prstDash val="solid"/>
            <a:miter/>
          </a:ln>
        </p:spPr>
        <p:txBody>
          <a:bodyPr anchor="ctr" bIns="45720" lIns="91440" rIns="91440" tIns="45720" vert="horz"/>
          <a:p/>
        </p:txBody>
      </p:sp>
      <p:sp>
        <p:nvSpPr>
          <p:cNvPr id="1048613" name="Notes Placeholder 2"/>
          <p:cNvSpPr/>
          <p:nvPr>
            <p:ph type="body" sz="full" idx="1"/>
          </p:nvPr>
        </p:nvSpPr>
        <p:spPr bwMode="auto">
          <a:xfrm rot="0">
            <a:off x="685800" y="4400550"/>
            <a:ext cx="5486400" cy="3600450"/>
          </a:xfrm>
          <a:prstGeom prst="rect"/>
          <a:noFill/>
          <a:ln>
            <a:noFill/>
          </a:ln>
        </p:spPr>
        <p:txBody>
          <a:bodyPr anchor="t" bIns="45720" lIns="91440" rIns="91440" tIns="45720" vert="horz"/>
          <a:p>
            <a:endParaRPr altLang="en-US" lang="en-US"/>
          </a:p>
        </p:txBody>
      </p:sp>
      <p:sp>
        <p:nvSpPr>
          <p:cNvPr id="1048614" name="Slide Number Placeholder 3"/>
          <p:cNvSpPr txBox="1"/>
          <p:nvPr/>
        </p:nvSpPr>
        <p:spPr>
          <a:xfrm rot="0">
            <a:off x="3884612" y="8685212"/>
            <a:ext cx="2971800" cy="458787"/>
          </a:xfrm>
          <a:prstGeom prst="rect"/>
          <a:noFill/>
          <a:ln>
            <a:noFill/>
          </a:ln>
        </p:spPr>
        <p:txBody>
          <a:bodyPr anchor="b" bIns="45720" lIns="91440" rIns="91440" tIns="45720" vert="horz"/>
          <a:p>
            <a:pPr algn="r" lvl="0"/>
            <a:fld id="{566ABCEB-ACFC-4714-9973-3DA970169C29}" type="slidenum">
              <a:rPr altLang="en-US" sz="1200" lang="en-US"/>
              <a:pPr algn="r" lvl="0"/>
            </a:fld>
            <a:endParaRPr altLang="en-US" sz="1200"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70" name=""/>
        <p:cNvGrpSpPr/>
        <p:nvPr/>
      </p:nvGrpSpPr>
      <p:grpSpPr>
        <a:xfrm rot="0">
          <a:off x="0" y="0"/>
          <a:ext cx="0" cy="0"/>
          <a:chOff x="0" y="0"/>
          <a:chExt cx="0" cy="0"/>
        </a:xfrm>
      </p:grpSpPr>
      <p:sp>
        <p:nvSpPr>
          <p:cNvPr id="1048618" name="Slide Image Placeholder 1"/>
          <p:cNvSpPr/>
          <p:nvPr>
            <p:ph type="sldImg" sz="full" idx="0"/>
          </p:nvPr>
        </p:nvSpPr>
        <p:spPr bwMode="auto">
          <a:xfrm rot="0">
            <a:off x="1371600" y="1143000"/>
            <a:ext cx="4114800" cy="3086100"/>
          </a:xfrm>
          <a:prstGeom prst="rect"/>
          <a:noFill/>
          <a:ln w="9525" cap="flat" cmpd="sng">
            <a:solidFill>
              <a:srgbClr val="000000">
                <a:alpha val="100000"/>
              </a:srgbClr>
            </a:solidFill>
            <a:prstDash val="solid"/>
            <a:miter/>
          </a:ln>
        </p:spPr>
        <p:txBody>
          <a:bodyPr anchor="ctr" bIns="45720" lIns="91440" rIns="91440" tIns="45720" vert="horz"/>
          <a:p/>
        </p:txBody>
      </p:sp>
      <p:sp>
        <p:nvSpPr>
          <p:cNvPr id="1048619" name="Notes Placeholder 2"/>
          <p:cNvSpPr/>
          <p:nvPr>
            <p:ph type="body" sz="full" idx="1"/>
          </p:nvPr>
        </p:nvSpPr>
        <p:spPr bwMode="auto">
          <a:xfrm rot="0">
            <a:off x="685800" y="4400550"/>
            <a:ext cx="5486400" cy="3600450"/>
          </a:xfrm>
          <a:prstGeom prst="rect"/>
          <a:noFill/>
          <a:ln>
            <a:noFill/>
          </a:ln>
        </p:spPr>
        <p:txBody>
          <a:bodyPr anchor="t" bIns="45720" lIns="91440" rIns="91440" tIns="45720" vert="horz"/>
          <a:p>
            <a:endParaRPr altLang="en-US" lang="en-US"/>
          </a:p>
        </p:txBody>
      </p:sp>
      <p:sp>
        <p:nvSpPr>
          <p:cNvPr id="1048620" name="Slide Number Placeholder 3"/>
          <p:cNvSpPr txBox="1"/>
          <p:nvPr/>
        </p:nvSpPr>
        <p:spPr>
          <a:xfrm rot="0">
            <a:off x="3884612" y="8685212"/>
            <a:ext cx="2971800" cy="458787"/>
          </a:xfrm>
          <a:prstGeom prst="rect"/>
          <a:noFill/>
          <a:ln>
            <a:noFill/>
          </a:ln>
        </p:spPr>
        <p:txBody>
          <a:bodyPr anchor="b" bIns="45720" lIns="91440" rIns="91440" tIns="45720" vert="horz"/>
          <a:p>
            <a:pPr algn="r" lvl="0"/>
            <a:fld id="{566ABCEB-ACFC-4714-9973-3DA970169C29}" type="slidenum">
              <a:rPr altLang="en-US" sz="1200" lang="en-US"/>
              <a:pPr algn="r" lvl="0"/>
            </a:fld>
            <a:endParaRPr altLang="en-US" sz="1200"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73" name=""/>
        <p:cNvGrpSpPr/>
        <p:nvPr/>
      </p:nvGrpSpPr>
      <p:grpSpPr>
        <a:xfrm rot="0">
          <a:off x="0" y="0"/>
          <a:ext cx="0" cy="0"/>
          <a:chOff x="0" y="0"/>
          <a:chExt cx="0" cy="0"/>
        </a:xfrm>
      </p:grpSpPr>
      <p:sp>
        <p:nvSpPr>
          <p:cNvPr id="1048625" name="Slide Image Placeholder 1"/>
          <p:cNvSpPr/>
          <p:nvPr>
            <p:ph type="sldImg" sz="full" idx="0"/>
          </p:nvPr>
        </p:nvSpPr>
        <p:spPr bwMode="auto">
          <a:xfrm rot="0">
            <a:off x="1371600" y="1143000"/>
            <a:ext cx="4114800" cy="3086100"/>
          </a:xfrm>
          <a:prstGeom prst="rect"/>
          <a:noFill/>
          <a:ln w="9525" cap="flat" cmpd="sng">
            <a:solidFill>
              <a:srgbClr val="000000">
                <a:alpha val="100000"/>
              </a:srgbClr>
            </a:solidFill>
            <a:prstDash val="solid"/>
            <a:miter/>
          </a:ln>
        </p:spPr>
        <p:txBody>
          <a:bodyPr anchor="ctr" bIns="45720" lIns="91440" rIns="91440" tIns="45720" vert="horz"/>
          <a:p/>
        </p:txBody>
      </p:sp>
      <p:sp>
        <p:nvSpPr>
          <p:cNvPr id="1048626" name="Notes Placeholder 2"/>
          <p:cNvSpPr/>
          <p:nvPr>
            <p:ph type="body" sz="full" idx="1"/>
          </p:nvPr>
        </p:nvSpPr>
        <p:spPr bwMode="auto">
          <a:xfrm rot="0">
            <a:off x="685800" y="4400550"/>
            <a:ext cx="5486400" cy="3600450"/>
          </a:xfrm>
          <a:prstGeom prst="rect"/>
          <a:noFill/>
          <a:ln>
            <a:noFill/>
          </a:ln>
        </p:spPr>
        <p:txBody>
          <a:bodyPr anchor="t" bIns="45720" lIns="91440" rIns="91440" tIns="45720" vert="horz"/>
          <a:p>
            <a:endParaRPr altLang="en-US" lang="en-US"/>
          </a:p>
        </p:txBody>
      </p:sp>
      <p:sp>
        <p:nvSpPr>
          <p:cNvPr id="1048627" name="Slide Number Placeholder 3"/>
          <p:cNvSpPr txBox="1"/>
          <p:nvPr/>
        </p:nvSpPr>
        <p:spPr>
          <a:xfrm rot="0">
            <a:off x="3884612" y="8685212"/>
            <a:ext cx="2971800" cy="458787"/>
          </a:xfrm>
          <a:prstGeom prst="rect"/>
          <a:noFill/>
          <a:ln>
            <a:noFill/>
          </a:ln>
        </p:spPr>
        <p:txBody>
          <a:bodyPr anchor="b" bIns="45720" lIns="91440" rIns="91440" tIns="45720" vert="horz"/>
          <a:p>
            <a:pPr algn="r" lvl="0"/>
            <a:fld id="{566ABCEB-ACFC-4714-9973-3DA970169C29}" type="slidenum">
              <a:rPr altLang="en-US" sz="1200" lang="en-US"/>
              <a:pPr algn="r" lvl="0"/>
            </a:fld>
            <a:endParaRPr altLang="en-US" sz="1200"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76" name=""/>
        <p:cNvGrpSpPr/>
        <p:nvPr/>
      </p:nvGrpSpPr>
      <p:grpSpPr>
        <a:xfrm rot="0">
          <a:off x="0" y="0"/>
          <a:ext cx="0" cy="0"/>
          <a:chOff x="0" y="0"/>
          <a:chExt cx="0" cy="0"/>
        </a:xfrm>
      </p:grpSpPr>
      <p:sp>
        <p:nvSpPr>
          <p:cNvPr id="1048632" name="Slide Image Placeholder 1"/>
          <p:cNvSpPr/>
          <p:nvPr>
            <p:ph type="sldImg" sz="full" idx="0"/>
          </p:nvPr>
        </p:nvSpPr>
        <p:spPr bwMode="auto">
          <a:xfrm rot="0">
            <a:off x="1371600" y="1143000"/>
            <a:ext cx="4114800" cy="3086100"/>
          </a:xfrm>
          <a:prstGeom prst="rect"/>
          <a:noFill/>
          <a:ln w="9525" cap="flat" cmpd="sng">
            <a:solidFill>
              <a:srgbClr val="000000">
                <a:alpha val="100000"/>
              </a:srgbClr>
            </a:solidFill>
            <a:prstDash val="solid"/>
            <a:miter/>
          </a:ln>
        </p:spPr>
        <p:txBody>
          <a:bodyPr anchor="ctr" bIns="45720" lIns="91440" rIns="91440" tIns="45720" vert="horz"/>
          <a:p/>
        </p:txBody>
      </p:sp>
      <p:sp>
        <p:nvSpPr>
          <p:cNvPr id="1048633" name="Notes Placeholder 2"/>
          <p:cNvSpPr/>
          <p:nvPr>
            <p:ph type="body" sz="full" idx="1"/>
          </p:nvPr>
        </p:nvSpPr>
        <p:spPr bwMode="auto">
          <a:xfrm rot="0">
            <a:off x="685800" y="4400550"/>
            <a:ext cx="5486400" cy="3600450"/>
          </a:xfrm>
          <a:prstGeom prst="rect"/>
          <a:noFill/>
          <a:ln>
            <a:noFill/>
          </a:ln>
        </p:spPr>
        <p:txBody>
          <a:bodyPr anchor="t" bIns="45720" lIns="91440" rIns="91440" tIns="45720" vert="horz"/>
          <a:p>
            <a:endParaRPr altLang="en-US" lang="en-US"/>
          </a:p>
        </p:txBody>
      </p:sp>
      <p:sp>
        <p:nvSpPr>
          <p:cNvPr id="1048634" name="Slide Number Placeholder 3"/>
          <p:cNvSpPr txBox="1"/>
          <p:nvPr/>
        </p:nvSpPr>
        <p:spPr>
          <a:xfrm rot="0">
            <a:off x="3884612" y="8685212"/>
            <a:ext cx="2971800" cy="458787"/>
          </a:xfrm>
          <a:prstGeom prst="rect"/>
          <a:noFill/>
          <a:ln>
            <a:noFill/>
          </a:ln>
        </p:spPr>
        <p:txBody>
          <a:bodyPr anchor="b" bIns="45720" lIns="91440" rIns="91440" tIns="45720" vert="horz"/>
          <a:p>
            <a:pPr algn="r" lvl="0"/>
            <a:fld id="{566ABCEB-ACFC-4714-9973-3DA970169C29}" type="slidenum">
              <a:rPr altLang="en-US" sz="1200" lang="en-US"/>
              <a:pPr algn="r" lvl="0"/>
            </a:fld>
            <a:endParaRPr altLang="en-US" sz="1200"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08" name=""/>
        <p:cNvGrpSpPr/>
        <p:nvPr/>
      </p:nvGrpSpPr>
      <p:grpSpPr>
        <a:xfrm rot="0">
          <a:off x="0" y="0"/>
          <a:ext cx="0" cy="0"/>
          <a:chOff x="0" y="0"/>
          <a:chExt cx="0" cy="0"/>
        </a:xfrm>
      </p:grpSpPr>
      <p:sp>
        <p:nvSpPr>
          <p:cNvPr id="1048760" name="Slide Image Placeholder 1"/>
          <p:cNvSpPr/>
          <p:nvPr>
            <p:ph type="sldImg" sz="full" idx="0"/>
          </p:nvPr>
        </p:nvSpPr>
        <p:spPr bwMode="auto">
          <a:xfrm rot="0">
            <a:off x="1371600" y="1143000"/>
            <a:ext cx="4114800" cy="3086100"/>
          </a:xfrm>
          <a:prstGeom prst="rect"/>
          <a:noFill/>
          <a:ln w="9525" cap="flat" cmpd="sng">
            <a:solidFill>
              <a:srgbClr val="000000">
                <a:alpha val="100000"/>
              </a:srgbClr>
            </a:solidFill>
            <a:prstDash val="solid"/>
            <a:miter/>
          </a:ln>
        </p:spPr>
        <p:txBody>
          <a:bodyPr anchor="ctr" bIns="45720" lIns="91440" rIns="91440" tIns="45720" vert="horz"/>
          <a:p/>
        </p:txBody>
      </p:sp>
      <p:sp>
        <p:nvSpPr>
          <p:cNvPr id="1048761" name="Notes Placeholder 2"/>
          <p:cNvSpPr/>
          <p:nvPr>
            <p:ph type="body" sz="full" idx="1"/>
          </p:nvPr>
        </p:nvSpPr>
        <p:spPr bwMode="auto">
          <a:xfrm rot="0">
            <a:off x="685800" y="4400550"/>
            <a:ext cx="5486400" cy="3600450"/>
          </a:xfrm>
          <a:prstGeom prst="rect"/>
          <a:noFill/>
          <a:ln>
            <a:noFill/>
          </a:ln>
        </p:spPr>
        <p:txBody>
          <a:bodyPr anchor="t" bIns="45720" lIns="91440" rIns="91440" tIns="45720" vert="horz"/>
          <a:p>
            <a:pPr eaLnBrk="1" hangingPunct="1" lvl="0">
              <a:spcBef>
                <a:spcPct val="0"/>
              </a:spcBef>
            </a:pPr>
            <a:endParaRPr altLang="en-US" lang="en-US"/>
          </a:p>
        </p:txBody>
      </p:sp>
      <p:sp>
        <p:nvSpPr>
          <p:cNvPr id="1048762" name="Slide Number Placeholder 3"/>
          <p:cNvSpPr txBox="1"/>
          <p:nvPr/>
        </p:nvSpPr>
        <p:spPr>
          <a:xfrm rot="0">
            <a:off x="3884612" y="8685212"/>
            <a:ext cx="2971800" cy="458787"/>
          </a:xfrm>
          <a:prstGeom prst="rect"/>
          <a:noFill/>
          <a:ln>
            <a:noFill/>
          </a:ln>
        </p:spPr>
        <p:txBody>
          <a:bodyPr anchor="b" bIns="45720" lIns="91440" rIns="91440" tIns="45720" vert="horz"/>
          <a:p>
            <a:pPr algn="r" lvl="0"/>
            <a:fld id="{566ABCEB-ACFC-4714-9973-3DA970169C29}" type="slidenum">
              <a:rPr altLang="en-US" sz="1200" lang="en-US"/>
              <a:pPr algn="r" lvl="0"/>
            </a:fld>
            <a:endParaRPr altLang="en-US" sz="1200"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62" name=""/>
        <p:cNvGrpSpPr/>
        <p:nvPr/>
      </p:nvGrpSpPr>
      <p:grpSpPr>
        <a:xfrm>
          <a:off x="0" y="0"/>
          <a:ext cx="0" cy="0"/>
          <a:chOff x="0" y="0"/>
          <a:chExt cx="0" cy="0"/>
        </a:xfrm>
      </p:grpSpPr>
      <p:sp>
        <p:nvSpPr>
          <p:cNvPr id="1048604" name="Title 1"/>
          <p:cNvSpPr>
            <a:spLocks noGrp="1"/>
          </p:cNvSpPr>
          <p:nvPr>
            <p:ph type="ctrTitle"/>
          </p:nvPr>
        </p:nvSpPr>
        <p:spPr>
          <a:xfrm>
            <a:off x="685800" y="2130425"/>
            <a:ext cx="7772400" cy="1470025"/>
          </a:xfrm>
        </p:spPr>
        <p:txBody>
          <a:bodyPr/>
          <a:p>
            <a:r>
              <a:rPr lang="en-US"/>
              <a:t>Click to edit Master title style</a:t>
            </a:r>
            <a:endParaRPr lang="en-GB"/>
          </a:p>
        </p:txBody>
      </p:sp>
      <p:sp>
        <p:nvSpPr>
          <p:cNvPr id="1048605" name="Subtitle 2"/>
          <p:cNvSpPr>
            <a:spLocks noGrp="1"/>
          </p:cNvSpPr>
          <p:nvPr>
            <p:ph type="subTitle" idx="1"/>
          </p:nvPr>
        </p:nvSpPr>
        <p:spPr>
          <a:xfrm>
            <a:off x="1371600" y="3886200"/>
            <a:ext cx="6400800" cy="1752600"/>
          </a:xfrm>
        </p:spPr>
        <p:txBody>
          <a:bodyPr/>
          <a:lstStyle>
            <a:lvl1pPr algn="ctr" indent="0" marL="0">
              <a:buNone/>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lang="en-US"/>
              <a:t>Click to edit Master subtitle style</a:t>
            </a:r>
            <a:endParaRPr lang="en-GB"/>
          </a:p>
        </p:txBody>
      </p:sp>
      <p:sp>
        <p:nvSpPr>
          <p:cNvPr id="1048578" name="Rectangle 4"/>
          <p:cNvSpPr/>
          <p:nvPr>
            <p:ph type="dt" sz="half" idx="2"/>
          </p:nvPr>
        </p:nvSpPr>
        <p:spPr>
          <a:xfrm rot="0">
            <a:off x="6858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eaLnBrk="1" hangingPunct="1" lvl="0"/>
            <a:endParaRPr altLang="en-US" sz="1400" lang="en-US"/>
          </a:p>
        </p:txBody>
      </p:sp>
      <p:sp>
        <p:nvSpPr>
          <p:cNvPr id="1048580" name="Rectangle 6"/>
          <p:cNvSpPr/>
          <p:nvPr>
            <p:ph type="sldNum" sz="quarter" idx="4"/>
          </p:nvPr>
        </p:nvSpPr>
        <p:spPr>
          <a:xfrm rot="0">
            <a:off x="65532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579" name="Rectangle 5"/>
          <p:cNvSpPr/>
          <p:nvPr>
            <p:ph type="ftr" sz="quarter" idx="3"/>
          </p:nvPr>
        </p:nvSpPr>
        <p:spPr>
          <a:xfrm rot="0">
            <a:off x="3124200" y="62484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eaLnBrk="1" hangingPunct="1" lvl="0"/>
            <a:endParaRPr altLang="en-US" sz="140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2" name=""/>
        <p:cNvGrpSpPr/>
        <p:nvPr/>
      </p:nvGrpSpPr>
      <p:grpSpPr>
        <a:xfrm>
          <a:off x="0" y="0"/>
          <a:ext cx="0" cy="0"/>
          <a:chOff x="0" y="0"/>
          <a:chExt cx="0" cy="0"/>
        </a:xfrm>
      </p:grpSpPr>
      <p:sp>
        <p:nvSpPr>
          <p:cNvPr id="1048584" name="Title 1"/>
          <p:cNvSpPr>
            <a:spLocks noGrp="1"/>
          </p:cNvSpPr>
          <p:nvPr>
            <p:ph type="title"/>
          </p:nvPr>
        </p:nvSpPr>
        <p:spPr/>
        <p:txBody>
          <a:bodyPr/>
          <a:p>
            <a:r>
              <a:rPr lang="en-US"/>
              <a:t>Click to edit Master title style</a:t>
            </a:r>
            <a:endParaRPr lang="en-GB"/>
          </a:p>
        </p:txBody>
      </p:sp>
      <p:sp>
        <p:nvSpPr>
          <p:cNvPr id="1048585"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578" name="Rectangle 4"/>
          <p:cNvSpPr/>
          <p:nvPr>
            <p:ph type="dt" sz="half" idx="2"/>
          </p:nvPr>
        </p:nvSpPr>
        <p:spPr>
          <a:xfrm rot="0">
            <a:off x="6858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eaLnBrk="1" hangingPunct="1" lvl="0"/>
            <a:endParaRPr altLang="en-US" sz="1400" lang="en-US"/>
          </a:p>
        </p:txBody>
      </p:sp>
      <p:sp>
        <p:nvSpPr>
          <p:cNvPr id="1048580" name="Rectangle 6"/>
          <p:cNvSpPr/>
          <p:nvPr>
            <p:ph type="sldNum" sz="quarter" idx="4"/>
          </p:nvPr>
        </p:nvSpPr>
        <p:spPr>
          <a:xfrm rot="0">
            <a:off x="65532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579" name="Rectangle 5"/>
          <p:cNvSpPr/>
          <p:nvPr>
            <p:ph type="ftr" sz="quarter" idx="3"/>
          </p:nvPr>
        </p:nvSpPr>
        <p:spPr>
          <a:xfrm rot="0">
            <a:off x="3124200" y="62484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eaLnBrk="1" hangingPunct="1" lvl="0"/>
            <a:endParaRPr altLang="en-US" sz="140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09" name=""/>
        <p:cNvGrpSpPr/>
        <p:nvPr/>
      </p:nvGrpSpPr>
      <p:grpSpPr>
        <a:xfrm>
          <a:off x="0" y="0"/>
          <a:ext cx="0" cy="0"/>
          <a:chOff x="0" y="0"/>
          <a:chExt cx="0" cy="0"/>
        </a:xfrm>
      </p:grpSpPr>
      <p:sp>
        <p:nvSpPr>
          <p:cNvPr id="1048763" name="Title 1"/>
          <p:cNvSpPr>
            <a:spLocks noGrp="1"/>
          </p:cNvSpPr>
          <p:nvPr>
            <p:ph type="title"/>
          </p:nvPr>
        </p:nvSpPr>
        <p:spPr>
          <a:xfrm>
            <a:off x="722313" y="4406900"/>
            <a:ext cx="7772400" cy="1362075"/>
          </a:xfrm>
        </p:spPr>
        <p:txBody>
          <a:bodyPr anchor="t"/>
          <a:lstStyle>
            <a:lvl1pPr algn="l">
              <a:defRPr b="1" cap="all" sz="4000"/>
            </a:lvl1pPr>
          </a:lstStyle>
          <a:p>
            <a:r>
              <a:rPr lang="en-US"/>
              <a:t>Click to edit Master title style</a:t>
            </a:r>
            <a:endParaRPr lang="en-GB"/>
          </a:p>
        </p:txBody>
      </p:sp>
      <p:sp>
        <p:nvSpPr>
          <p:cNvPr id="1048764" name="Text Placeholder 2"/>
          <p:cNvSpPr>
            <a:spLocks noGrp="1"/>
          </p:cNvSpPr>
          <p:nvPr>
            <p:ph type="body" idx="1"/>
          </p:nvPr>
        </p:nvSpPr>
        <p:spPr>
          <a:xfrm>
            <a:off x="722313" y="2906713"/>
            <a:ext cx="7772400" cy="1500187"/>
          </a:xfrm>
        </p:spPr>
        <p:txBody>
          <a:bodyPr anchor="b"/>
          <a:lstStyle>
            <a:lvl1pPr indent="0" marL="0">
              <a:buNone/>
              <a:defRPr sz="2000"/>
            </a:lvl1pPr>
            <a:lvl2pPr indent="0" marL="457200">
              <a:buNone/>
              <a:defRPr sz="1800"/>
            </a:lvl2pPr>
            <a:lvl3pPr indent="0" marL="914400">
              <a:buNone/>
              <a:defRPr sz="1600"/>
            </a:lvl3pPr>
            <a:lvl4pPr indent="0" marL="1371600">
              <a:buNone/>
              <a:defRPr sz="1400"/>
            </a:lvl4pPr>
            <a:lvl5pPr indent="0" marL="1828800">
              <a:buNone/>
              <a:defRPr sz="1400"/>
            </a:lvl5pPr>
            <a:lvl6pPr indent="0" marL="2286000">
              <a:buNone/>
              <a:defRPr sz="1400"/>
            </a:lvl6pPr>
            <a:lvl7pPr indent="0" marL="2743200">
              <a:buNone/>
              <a:defRPr sz="1400"/>
            </a:lvl7pPr>
            <a:lvl8pPr indent="0" marL="3200400">
              <a:buNone/>
              <a:defRPr sz="1400"/>
            </a:lvl8pPr>
            <a:lvl9pPr indent="0" marL="3657600">
              <a:buNone/>
              <a:defRPr sz="1400"/>
            </a:lvl9pPr>
          </a:lstStyle>
          <a:p>
            <a:pPr lvl="0"/>
            <a:r>
              <a:rPr lang="en-US"/>
              <a:t>Click to edit Master text styles</a:t>
            </a:r>
          </a:p>
        </p:txBody>
      </p:sp>
      <p:sp>
        <p:nvSpPr>
          <p:cNvPr id="1048578" name="Rectangle 4"/>
          <p:cNvSpPr/>
          <p:nvPr>
            <p:ph type="dt" sz="half" idx="2"/>
          </p:nvPr>
        </p:nvSpPr>
        <p:spPr>
          <a:xfrm rot="0">
            <a:off x="6858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eaLnBrk="1" hangingPunct="1" lvl="0"/>
            <a:endParaRPr altLang="en-US" sz="1400" lang="en-US"/>
          </a:p>
        </p:txBody>
      </p:sp>
      <p:sp>
        <p:nvSpPr>
          <p:cNvPr id="1048580" name="Rectangle 6"/>
          <p:cNvSpPr/>
          <p:nvPr>
            <p:ph type="sldNum" sz="quarter" idx="4"/>
          </p:nvPr>
        </p:nvSpPr>
        <p:spPr>
          <a:xfrm rot="0">
            <a:off x="65532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579" name="Rectangle 5"/>
          <p:cNvSpPr/>
          <p:nvPr>
            <p:ph type="ftr" sz="quarter" idx="3"/>
          </p:nvPr>
        </p:nvSpPr>
        <p:spPr>
          <a:xfrm rot="0">
            <a:off x="3124200" y="62484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eaLnBrk="1" hangingPunct="1" lvl="0"/>
            <a:endParaRPr altLang="en-US" sz="140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10" name=""/>
        <p:cNvGrpSpPr/>
        <p:nvPr/>
      </p:nvGrpSpPr>
      <p:grpSpPr>
        <a:xfrm>
          <a:off x="0" y="0"/>
          <a:ext cx="0" cy="0"/>
          <a:chOff x="0" y="0"/>
          <a:chExt cx="0" cy="0"/>
        </a:xfrm>
      </p:grpSpPr>
      <p:sp>
        <p:nvSpPr>
          <p:cNvPr id="1048765" name="Title 1"/>
          <p:cNvSpPr>
            <a:spLocks noGrp="1"/>
          </p:cNvSpPr>
          <p:nvPr>
            <p:ph type="title"/>
          </p:nvPr>
        </p:nvSpPr>
        <p:spPr/>
        <p:txBody>
          <a:bodyPr/>
          <a:p>
            <a:r>
              <a:rPr lang="en-US"/>
              <a:t>Click to edit Master title style</a:t>
            </a:r>
            <a:endParaRPr lang="en-GB"/>
          </a:p>
        </p:txBody>
      </p:sp>
      <p:sp>
        <p:nvSpPr>
          <p:cNvPr id="1048766"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67"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578" name="Rectangle 4"/>
          <p:cNvSpPr/>
          <p:nvPr>
            <p:ph type="dt" sz="half" idx="2"/>
          </p:nvPr>
        </p:nvSpPr>
        <p:spPr>
          <a:xfrm rot="0">
            <a:off x="6858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eaLnBrk="1" hangingPunct="1" lvl="0"/>
            <a:endParaRPr altLang="en-US" sz="1400" lang="en-US"/>
          </a:p>
        </p:txBody>
      </p:sp>
      <p:sp>
        <p:nvSpPr>
          <p:cNvPr id="1048580" name="Rectangle 6"/>
          <p:cNvSpPr/>
          <p:nvPr>
            <p:ph type="sldNum" sz="quarter" idx="4"/>
          </p:nvPr>
        </p:nvSpPr>
        <p:spPr>
          <a:xfrm rot="0">
            <a:off x="65532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579" name="Rectangle 5"/>
          <p:cNvSpPr/>
          <p:nvPr>
            <p:ph type="ftr" sz="quarter" idx="3"/>
          </p:nvPr>
        </p:nvSpPr>
        <p:spPr>
          <a:xfrm rot="0">
            <a:off x="3124200" y="62484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eaLnBrk="1" hangingPunct="1" lvl="0"/>
            <a:endParaRPr altLang="en-US" sz="140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11" name=""/>
        <p:cNvGrpSpPr/>
        <p:nvPr/>
      </p:nvGrpSpPr>
      <p:grpSpPr>
        <a:xfrm>
          <a:off x="0" y="0"/>
          <a:ext cx="0" cy="0"/>
          <a:chOff x="0" y="0"/>
          <a:chExt cx="0" cy="0"/>
        </a:xfrm>
      </p:grpSpPr>
      <p:sp>
        <p:nvSpPr>
          <p:cNvPr id="1048768" name="Title 1"/>
          <p:cNvSpPr>
            <a:spLocks noGrp="1"/>
          </p:cNvSpPr>
          <p:nvPr>
            <p:ph type="title"/>
          </p:nvPr>
        </p:nvSpPr>
        <p:spPr>
          <a:xfrm>
            <a:off x="457200" y="274638"/>
            <a:ext cx="8229600" cy="1143000"/>
          </a:xfrm>
        </p:spPr>
        <p:txBody>
          <a:bodyPr/>
          <a:p>
            <a:r>
              <a:rPr lang="en-US"/>
              <a:t>Click to edit Master title style</a:t>
            </a:r>
            <a:endParaRPr lang="en-GB"/>
          </a:p>
        </p:txBody>
      </p:sp>
      <p:sp>
        <p:nvSpPr>
          <p:cNvPr id="1048769"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70"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71"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72"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578" name="Rectangle 4"/>
          <p:cNvSpPr/>
          <p:nvPr>
            <p:ph type="dt" sz="half" idx="2"/>
          </p:nvPr>
        </p:nvSpPr>
        <p:spPr>
          <a:xfrm rot="0">
            <a:off x="6858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eaLnBrk="1" hangingPunct="1" lvl="0"/>
            <a:endParaRPr altLang="en-US" sz="1400" lang="en-US"/>
          </a:p>
        </p:txBody>
      </p:sp>
      <p:sp>
        <p:nvSpPr>
          <p:cNvPr id="1048580" name="Rectangle 6"/>
          <p:cNvSpPr/>
          <p:nvPr>
            <p:ph type="sldNum" sz="quarter" idx="4"/>
          </p:nvPr>
        </p:nvSpPr>
        <p:spPr>
          <a:xfrm rot="0">
            <a:off x="65532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579" name="Rectangle 5"/>
          <p:cNvSpPr/>
          <p:nvPr>
            <p:ph type="ftr" sz="quarter" idx="3"/>
          </p:nvPr>
        </p:nvSpPr>
        <p:spPr>
          <a:xfrm rot="0">
            <a:off x="3124200" y="62484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eaLnBrk="1" hangingPunct="1" lvl="0"/>
            <a:endParaRPr altLang="en-US" sz="140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12" name=""/>
        <p:cNvGrpSpPr/>
        <p:nvPr/>
      </p:nvGrpSpPr>
      <p:grpSpPr>
        <a:xfrm>
          <a:off x="0" y="0"/>
          <a:ext cx="0" cy="0"/>
          <a:chOff x="0" y="0"/>
          <a:chExt cx="0" cy="0"/>
        </a:xfrm>
      </p:grpSpPr>
      <p:sp>
        <p:nvSpPr>
          <p:cNvPr id="1048773" name="Title 1"/>
          <p:cNvSpPr>
            <a:spLocks noGrp="1"/>
          </p:cNvSpPr>
          <p:nvPr>
            <p:ph type="title"/>
          </p:nvPr>
        </p:nvSpPr>
        <p:spPr/>
        <p:txBody>
          <a:bodyPr/>
          <a:p>
            <a:r>
              <a:rPr lang="en-US"/>
              <a:t>Click to edit Master title style</a:t>
            </a:r>
            <a:endParaRPr lang="en-GB"/>
          </a:p>
        </p:txBody>
      </p:sp>
      <p:sp>
        <p:nvSpPr>
          <p:cNvPr id="1048578" name="Rectangle 4"/>
          <p:cNvSpPr/>
          <p:nvPr>
            <p:ph type="dt" sz="half" idx="2"/>
          </p:nvPr>
        </p:nvSpPr>
        <p:spPr>
          <a:xfrm rot="0">
            <a:off x="6858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eaLnBrk="1" hangingPunct="1" lvl="0"/>
            <a:endParaRPr altLang="en-US" sz="1400" lang="en-US"/>
          </a:p>
        </p:txBody>
      </p:sp>
      <p:sp>
        <p:nvSpPr>
          <p:cNvPr id="1048580" name="Rectangle 6"/>
          <p:cNvSpPr/>
          <p:nvPr>
            <p:ph type="sldNum" sz="quarter" idx="4"/>
          </p:nvPr>
        </p:nvSpPr>
        <p:spPr>
          <a:xfrm rot="0">
            <a:off x="65532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579" name="Rectangle 5"/>
          <p:cNvSpPr/>
          <p:nvPr>
            <p:ph type="ftr" sz="quarter" idx="3"/>
          </p:nvPr>
        </p:nvSpPr>
        <p:spPr>
          <a:xfrm rot="0">
            <a:off x="3124200" y="62484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eaLnBrk="1" hangingPunct="1" lvl="0"/>
            <a:endParaRPr altLang="en-US" sz="140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06" name=""/>
        <p:cNvGrpSpPr/>
        <p:nvPr/>
      </p:nvGrpSpPr>
      <p:grpSpPr>
        <a:xfrm>
          <a:off x="0" y="0"/>
          <a:ext cx="0" cy="0"/>
          <a:chOff x="0" y="0"/>
          <a:chExt cx="0" cy="0"/>
        </a:xfrm>
      </p:grpSpPr>
      <p:sp>
        <p:nvSpPr>
          <p:cNvPr id="1048578" name="Rectangle 4"/>
          <p:cNvSpPr/>
          <p:nvPr>
            <p:ph type="dt" sz="half" idx="2"/>
          </p:nvPr>
        </p:nvSpPr>
        <p:spPr>
          <a:xfrm rot="0">
            <a:off x="6858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eaLnBrk="1" hangingPunct="1" lvl="0"/>
            <a:endParaRPr altLang="en-US" sz="1400" lang="en-US"/>
          </a:p>
        </p:txBody>
      </p:sp>
      <p:sp>
        <p:nvSpPr>
          <p:cNvPr id="1048580" name="Rectangle 6"/>
          <p:cNvSpPr/>
          <p:nvPr>
            <p:ph type="sldNum" sz="quarter" idx="4"/>
          </p:nvPr>
        </p:nvSpPr>
        <p:spPr>
          <a:xfrm rot="0">
            <a:off x="65532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579" name="Rectangle 5"/>
          <p:cNvSpPr/>
          <p:nvPr>
            <p:ph type="ftr" sz="quarter" idx="3"/>
          </p:nvPr>
        </p:nvSpPr>
        <p:spPr>
          <a:xfrm rot="0">
            <a:off x="3124200" y="62484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eaLnBrk="1" hangingPunct="1" lvl="0"/>
            <a:endParaRPr altLang="en-US" sz="140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13" name=""/>
        <p:cNvGrpSpPr/>
        <p:nvPr/>
      </p:nvGrpSpPr>
      <p:grpSpPr>
        <a:xfrm>
          <a:off x="0" y="0"/>
          <a:ext cx="0" cy="0"/>
          <a:chOff x="0" y="0"/>
          <a:chExt cx="0" cy="0"/>
        </a:xfrm>
      </p:grpSpPr>
      <p:sp>
        <p:nvSpPr>
          <p:cNvPr id="1048774" name="Title 1"/>
          <p:cNvSpPr>
            <a:spLocks noGrp="1"/>
          </p:cNvSpPr>
          <p:nvPr>
            <p:ph type="title"/>
          </p:nvPr>
        </p:nvSpPr>
        <p:spPr>
          <a:xfrm>
            <a:off x="457200" y="273050"/>
            <a:ext cx="3008313" cy="1162050"/>
          </a:xfrm>
        </p:spPr>
        <p:txBody>
          <a:bodyPr anchor="b"/>
          <a:lstStyle>
            <a:lvl1pPr algn="l">
              <a:defRPr b="1" sz="2000"/>
            </a:lvl1pPr>
          </a:lstStyle>
          <a:p>
            <a:r>
              <a:rPr lang="en-US"/>
              <a:t>Click to edit Master title style</a:t>
            </a:r>
            <a:endParaRPr lang="en-GB"/>
          </a:p>
        </p:txBody>
      </p:sp>
      <p:sp>
        <p:nvSpPr>
          <p:cNvPr id="1048775"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76"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578" name="Rectangle 4"/>
          <p:cNvSpPr/>
          <p:nvPr>
            <p:ph type="dt" sz="half" idx="2"/>
          </p:nvPr>
        </p:nvSpPr>
        <p:spPr>
          <a:xfrm rot="0">
            <a:off x="6858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eaLnBrk="1" hangingPunct="1" lvl="0"/>
            <a:endParaRPr altLang="en-US" sz="1400" lang="en-US"/>
          </a:p>
        </p:txBody>
      </p:sp>
      <p:sp>
        <p:nvSpPr>
          <p:cNvPr id="1048580" name="Rectangle 6"/>
          <p:cNvSpPr/>
          <p:nvPr>
            <p:ph type="sldNum" sz="quarter" idx="4"/>
          </p:nvPr>
        </p:nvSpPr>
        <p:spPr>
          <a:xfrm rot="0">
            <a:off x="65532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579" name="Rectangle 5"/>
          <p:cNvSpPr/>
          <p:nvPr>
            <p:ph type="ftr" sz="quarter" idx="3"/>
          </p:nvPr>
        </p:nvSpPr>
        <p:spPr>
          <a:xfrm rot="0">
            <a:off x="3124200" y="62484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eaLnBrk="1" hangingPunct="1" lvl="0"/>
            <a:endParaRPr altLang="en-US" sz="140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14" name=""/>
        <p:cNvGrpSpPr/>
        <p:nvPr/>
      </p:nvGrpSpPr>
      <p:grpSpPr>
        <a:xfrm>
          <a:off x="0" y="0"/>
          <a:ext cx="0" cy="0"/>
          <a:chOff x="0" y="0"/>
          <a:chExt cx="0" cy="0"/>
        </a:xfrm>
      </p:grpSpPr>
      <p:sp>
        <p:nvSpPr>
          <p:cNvPr id="1048777" name="Title 1"/>
          <p:cNvSpPr>
            <a:spLocks noGrp="1"/>
          </p:cNvSpPr>
          <p:nvPr>
            <p:ph type="title"/>
          </p:nvPr>
        </p:nvSpPr>
        <p:spPr>
          <a:xfrm>
            <a:off x="1792288" y="4800600"/>
            <a:ext cx="5486400" cy="566738"/>
          </a:xfrm>
        </p:spPr>
        <p:txBody>
          <a:bodyPr anchor="b"/>
          <a:lstStyle>
            <a:lvl1pPr algn="l">
              <a:defRPr b="1" sz="2000"/>
            </a:lvl1pPr>
          </a:lstStyle>
          <a:p>
            <a:r>
              <a:rPr lang="en-US"/>
              <a:t>Click to edit Master title style</a:t>
            </a:r>
            <a:endParaRPr lang="en-GB"/>
          </a:p>
        </p:txBody>
      </p:sp>
      <p:sp>
        <p:nvSpPr>
          <p:cNvPr id="1048778" name="Picture Placeholder 2"/>
          <p:cNvSpPr>
            <a:spLocks noGrp="1"/>
          </p:cNvSpPr>
          <p:nvPr>
            <p:ph type="pic" idx="1"/>
          </p:nvPr>
        </p:nvSpPr>
        <p:spPr>
          <a:xfrm>
            <a:off x="1792288" y="612775"/>
            <a:ext cx="5486400" cy="4114800"/>
          </a:xfrm>
        </p:spPr>
        <p:txBody>
          <a:bodyPr anchor="t" anchorCtr="0" bIns="45720" compatLnSpc="1" lIns="91440" numCol="1" rIns="91440" tIns="45720" vert="horz" wrap="square">
            <a:prstTxWarp prst="textNoShape"/>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l" defTabSz="914400" eaLnBrk="0" fontAlgn="base" hangingPunct="0" indent="0" latinLnBrk="0" lvl="0" marL="0" marR="0" rtl="0">
              <a:lnSpc>
                <a:spcPct val="100000"/>
              </a:lnSpc>
              <a:spcBef>
                <a:spcPct val="20000"/>
              </a:spcBef>
              <a:spcAft>
                <a:spcPct val="0"/>
              </a:spcAft>
              <a:buClrTx/>
              <a:buSzTx/>
              <a:buFontTx/>
              <a:buNone/>
            </a:pPr>
            <a:endParaRPr baseline="0" b="0" cap="none" sz="3200" i="0" kern="0" kumimoji="0" lang="en-GB" noProof="0" normalizeH="0" spc="0" strike="noStrike" u="none">
              <a:ln>
                <a:noFill/>
              </a:ln>
              <a:solidFill>
                <a:schemeClr val="tx1"/>
              </a:solidFill>
              <a:effectLst/>
              <a:uLnTx/>
              <a:uFillTx/>
              <a:latin typeface="+mn-lt"/>
              <a:ea typeface="+mn-ea"/>
              <a:cs typeface="+mn-cs"/>
            </a:endParaRPr>
          </a:p>
        </p:txBody>
      </p:sp>
      <p:sp>
        <p:nvSpPr>
          <p:cNvPr id="1048779"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578" name="Rectangle 4"/>
          <p:cNvSpPr/>
          <p:nvPr>
            <p:ph type="dt" sz="half" idx="2"/>
          </p:nvPr>
        </p:nvSpPr>
        <p:spPr>
          <a:xfrm rot="0">
            <a:off x="6858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eaLnBrk="1" hangingPunct="1" lvl="0"/>
            <a:endParaRPr altLang="en-US" sz="1400" lang="en-US"/>
          </a:p>
        </p:txBody>
      </p:sp>
      <p:sp>
        <p:nvSpPr>
          <p:cNvPr id="1048580" name="Rectangle 6"/>
          <p:cNvSpPr/>
          <p:nvPr>
            <p:ph type="sldNum" sz="quarter" idx="4"/>
          </p:nvPr>
        </p:nvSpPr>
        <p:spPr>
          <a:xfrm rot="0">
            <a:off x="65532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579" name="Rectangle 5"/>
          <p:cNvSpPr/>
          <p:nvPr>
            <p:ph type="ftr" sz="quarter" idx="3"/>
          </p:nvPr>
        </p:nvSpPr>
        <p:spPr>
          <a:xfrm rot="0">
            <a:off x="3124200" y="62484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eaLnBrk="1" hangingPunct="1" lvl="0"/>
            <a:endParaRPr altLang="en-US" sz="140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15" name=""/>
        <p:cNvGrpSpPr/>
        <p:nvPr/>
      </p:nvGrpSpPr>
      <p:grpSpPr>
        <a:xfrm>
          <a:off x="0" y="0"/>
          <a:ext cx="0" cy="0"/>
          <a:chOff x="0" y="0"/>
          <a:chExt cx="0" cy="0"/>
        </a:xfrm>
      </p:grpSpPr>
      <p:sp>
        <p:nvSpPr>
          <p:cNvPr id="1048780" name="Title 1"/>
          <p:cNvSpPr>
            <a:spLocks noGrp="1"/>
          </p:cNvSpPr>
          <p:nvPr>
            <p:ph type="title"/>
          </p:nvPr>
        </p:nvSpPr>
        <p:spPr/>
        <p:txBody>
          <a:bodyPr/>
          <a:p>
            <a:r>
              <a:rPr lang="en-US"/>
              <a:t>Click to edit Master title style</a:t>
            </a:r>
            <a:endParaRPr lang="en-GB"/>
          </a:p>
        </p:txBody>
      </p:sp>
      <p:sp>
        <p:nvSpPr>
          <p:cNvPr id="1048781"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578" name="Rectangle 4"/>
          <p:cNvSpPr/>
          <p:nvPr>
            <p:ph type="dt" sz="half" idx="2"/>
          </p:nvPr>
        </p:nvSpPr>
        <p:spPr>
          <a:xfrm rot="0">
            <a:off x="6858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eaLnBrk="1" hangingPunct="1" lvl="0"/>
            <a:endParaRPr altLang="en-US" sz="1400" lang="en-US"/>
          </a:p>
        </p:txBody>
      </p:sp>
      <p:sp>
        <p:nvSpPr>
          <p:cNvPr id="1048580" name="Rectangle 6"/>
          <p:cNvSpPr/>
          <p:nvPr>
            <p:ph type="sldNum" sz="quarter" idx="4"/>
          </p:nvPr>
        </p:nvSpPr>
        <p:spPr>
          <a:xfrm rot="0">
            <a:off x="65532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579" name="Rectangle 5"/>
          <p:cNvSpPr/>
          <p:nvPr>
            <p:ph type="ftr" sz="quarter" idx="3"/>
          </p:nvPr>
        </p:nvSpPr>
        <p:spPr>
          <a:xfrm rot="0">
            <a:off x="3124200" y="62484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eaLnBrk="1" hangingPunct="1" lvl="0"/>
            <a:endParaRPr altLang="en-US" sz="140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16" name=""/>
        <p:cNvGrpSpPr/>
        <p:nvPr/>
      </p:nvGrpSpPr>
      <p:grpSpPr>
        <a:xfrm>
          <a:off x="0" y="0"/>
          <a:ext cx="0" cy="0"/>
          <a:chOff x="0" y="0"/>
          <a:chExt cx="0" cy="0"/>
        </a:xfrm>
      </p:grpSpPr>
      <p:sp>
        <p:nvSpPr>
          <p:cNvPr id="1048782" name="Vertical Title 1"/>
          <p:cNvSpPr>
            <a:spLocks noGrp="1"/>
          </p:cNvSpPr>
          <p:nvPr>
            <p:ph type="title" orient="vert"/>
          </p:nvPr>
        </p:nvSpPr>
        <p:spPr>
          <a:xfrm>
            <a:off x="6515100" y="609600"/>
            <a:ext cx="1943100" cy="5486400"/>
          </a:xfrm>
        </p:spPr>
        <p:txBody>
          <a:bodyPr vert="eaVert"/>
          <a:p>
            <a:r>
              <a:rPr lang="en-US"/>
              <a:t>Click to edit Master title style</a:t>
            </a:r>
            <a:endParaRPr lang="en-GB"/>
          </a:p>
        </p:txBody>
      </p:sp>
      <p:sp>
        <p:nvSpPr>
          <p:cNvPr id="1048783" name="Vertical Text Placeholder 2"/>
          <p:cNvSpPr>
            <a:spLocks noGrp="1"/>
          </p:cNvSpPr>
          <p:nvPr>
            <p:ph type="body" orient="vert" idx="1"/>
          </p:nvPr>
        </p:nvSpPr>
        <p:spPr>
          <a:xfrm>
            <a:off x="685800" y="609600"/>
            <a:ext cx="5676900" cy="5486400"/>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578" name="Rectangle 4"/>
          <p:cNvSpPr/>
          <p:nvPr>
            <p:ph type="dt" sz="half" idx="2"/>
          </p:nvPr>
        </p:nvSpPr>
        <p:spPr>
          <a:xfrm rot="0">
            <a:off x="6858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eaLnBrk="1" hangingPunct="1" lvl="0"/>
            <a:endParaRPr altLang="en-US" sz="1400" lang="en-US"/>
          </a:p>
        </p:txBody>
      </p:sp>
      <p:sp>
        <p:nvSpPr>
          <p:cNvPr id="1048580" name="Rectangle 6"/>
          <p:cNvSpPr/>
          <p:nvPr>
            <p:ph type="sldNum" sz="quarter" idx="4"/>
          </p:nvPr>
        </p:nvSpPr>
        <p:spPr>
          <a:xfrm rot="0">
            <a:off x="65532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eaLnBrk="1" hangingPunct="1" lvl="0"/>
            <a:fld id="{566ABCEB-ACFC-4714-9973-3DA970169C29}" type="slidenum">
              <a:rPr altLang="en-US" sz="1400" lang="en-US"/>
              <a:pPr algn="r" eaLnBrk="1" hangingPunct="1" lvl="0"/>
            </a:fld>
            <a:endParaRPr altLang="en-US" sz="1400" lang="en-US"/>
          </a:p>
        </p:txBody>
      </p:sp>
      <p:sp>
        <p:nvSpPr>
          <p:cNvPr id="1048579" name="Rectangle 5"/>
          <p:cNvSpPr/>
          <p:nvPr>
            <p:ph type="ftr" sz="quarter" idx="3"/>
          </p:nvPr>
        </p:nvSpPr>
        <p:spPr>
          <a:xfrm rot="0">
            <a:off x="3124200" y="62484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eaLnBrk="1" hangingPunct="1" lvl="0"/>
            <a:endParaRPr altLang="en-US" sz="1400"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40" name=""/>
        <p:cNvGrpSpPr/>
        <p:nvPr/>
      </p:nvGrpSpPr>
      <p:grpSpPr>
        <a:xfrm rot="0">
          <a:off x="0" y="0"/>
          <a:ext cx="0" cy="0"/>
          <a:chOff x="0" y="0"/>
          <a:chExt cx="0" cy="0"/>
        </a:xfrm>
      </p:grpSpPr>
      <p:sp>
        <p:nvSpPr>
          <p:cNvPr id="1048576" name="Rectangle 2"/>
          <p:cNvSpPr/>
          <p:nvPr>
            <p:ph type="title" sz="full" idx="0"/>
          </p:nvPr>
        </p:nvSpPr>
        <p:spPr>
          <a:xfrm rot="0">
            <a:off x="685800" y="609600"/>
            <a:ext cx="7772400" cy="1143000"/>
          </a:xfrm>
          <a:prstGeom prst="rect"/>
          <a:noFill/>
          <a:ln>
            <a:noFill/>
          </a:ln>
        </p:spPr>
        <p:txBody>
          <a:bodyPr anchor="ctr" bIns="45720" lIns="91440" rIns="91440" tIns="45720" vert="horz"/>
          <a:p>
            <a:pPr lvl="0"/>
            <a:r>
              <a:rPr altLang="en-US" lang="en-US"/>
              <a:t>Click to edit Master title style</a:t>
            </a:r>
          </a:p>
        </p:txBody>
      </p:sp>
      <p:sp>
        <p:nvSpPr>
          <p:cNvPr id="1048577" name="Rectangle 3"/>
          <p:cNvSpPr/>
          <p:nvPr>
            <p:ph type="body" sz="full" idx="1"/>
          </p:nvPr>
        </p:nvSpPr>
        <p:spPr>
          <a:xfrm rot="0">
            <a:off x="685800" y="1981200"/>
            <a:ext cx="7772400" cy="4114800"/>
          </a:xfrm>
          <a:prstGeom prst="rect"/>
          <a:noFill/>
          <a:ln>
            <a:noFill/>
          </a:ln>
        </p:spPr>
        <p:txBody>
          <a:bodyPr anchor="t" bIns="45720" lIns="91440" rIns="91440" tIns="45720" vert="horz"/>
          <a:p>
            <a:pPr lvl="0"/>
            <a:r>
              <a:rPr altLang="en-US" lang="en-US"/>
              <a:t>Click to edit Master text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8578" name="Rectangle 4"/>
          <p:cNvSpPr/>
          <p:nvPr>
            <p:ph type="dt" sz="half" idx="2"/>
          </p:nvPr>
        </p:nvSpPr>
        <p:spPr>
          <a:xfrm rot="0">
            <a:off x="6858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eaLnBrk="1" hangingPunct="1" lvl="0"/>
            <a:endParaRPr altLang="en-US" sz="1400" lang="en-US"/>
          </a:p>
        </p:txBody>
      </p:sp>
      <p:sp>
        <p:nvSpPr>
          <p:cNvPr id="1048579" name="Rectangle 5"/>
          <p:cNvSpPr/>
          <p:nvPr>
            <p:ph type="ftr" sz="quarter" idx="3"/>
          </p:nvPr>
        </p:nvSpPr>
        <p:spPr>
          <a:xfrm rot="0">
            <a:off x="3124200" y="6248400"/>
            <a:ext cx="28956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ctr" eaLnBrk="1" hangingPunct="1" lvl="0"/>
            <a:endParaRPr altLang="en-US" sz="1400" lang="en-US"/>
          </a:p>
        </p:txBody>
      </p:sp>
      <p:sp>
        <p:nvSpPr>
          <p:cNvPr id="1048580" name="Rectangle 6"/>
          <p:cNvSpPr/>
          <p:nvPr>
            <p:ph type="sldNum" sz="quarter" idx="4"/>
          </p:nvPr>
        </p:nvSpPr>
        <p:spPr>
          <a:xfrm rot="0">
            <a:off x="6553200" y="6248400"/>
            <a:ext cx="1905000" cy="45720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Times New Roman" pitchFamily="18" charset="0"/>
                <a:sym typeface="Times New Roman" pitchFamily="18" charset="0"/>
              </a:defRPr>
            </a:lvl5pPr>
          </a:lstStyle>
          <a:p>
            <a:pPr algn="r" eaLnBrk="1" hangingPunct="1" lvl="0"/>
            <a:fld id="{566ABCEB-ACFC-4714-9973-3DA970169C29}" type="slidenum">
              <a:rPr altLang="en-US" sz="1400" lang="en-US"/>
              <a:pPr algn="r" eaLnBrk="1" hangingPunct="1" lvl="0"/>
            </a:fld>
            <a:endParaRPr altLang="en-US" sz="1400" lang="en-US"/>
          </a:p>
        </p:txBody>
      </p:sp>
    </p:spTree>
  </p:cSld>
  <p:clrMap accent1="accent1" accent2="accent2" accent3="accent3" accent4="accent4" accent5="accent5" accent6="accent6" bg1="lt1" bg2="dk2" tx1="dk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1"/>
  <p:txStyles>
    <p:titleStyle>
      <a:lvl1pPr algn="ctr" eaLnBrk="0" fontAlgn="base" hangingPunct="0" rtl="0">
        <a:spcBef>
          <a:spcPct val="0"/>
        </a:spcBef>
        <a:spcAft>
          <a:spcPct val="0"/>
        </a:spcAft>
        <a:defRPr sz="4400">
          <a:solidFill>
            <a:schemeClr val="tx2"/>
          </a:solidFill>
          <a:latin typeface="+mj-lt"/>
          <a:ea typeface="+mj-ea"/>
          <a:cs typeface="+mj-cs"/>
        </a:defRPr>
      </a:lvl1pPr>
      <a:lvl2pPr algn="ctr" eaLnBrk="0" fontAlgn="base" hangingPunct="0" rtl="0">
        <a:spcBef>
          <a:spcPct val="0"/>
        </a:spcBef>
        <a:spcAft>
          <a:spcPct val="0"/>
        </a:spcAft>
        <a:defRPr sz="4400">
          <a:solidFill>
            <a:schemeClr val="tx2"/>
          </a:solidFill>
          <a:latin typeface="Times New Roman" charset="0"/>
        </a:defRPr>
      </a:lvl2pPr>
      <a:lvl3pPr algn="ctr" eaLnBrk="0" fontAlgn="base" hangingPunct="0" rtl="0">
        <a:spcBef>
          <a:spcPct val="0"/>
        </a:spcBef>
        <a:spcAft>
          <a:spcPct val="0"/>
        </a:spcAft>
        <a:defRPr sz="4400">
          <a:solidFill>
            <a:schemeClr val="tx2"/>
          </a:solidFill>
          <a:latin typeface="Times New Roman" charset="0"/>
        </a:defRPr>
      </a:lvl3pPr>
      <a:lvl4pPr algn="ctr" eaLnBrk="0" fontAlgn="base" hangingPunct="0" rtl="0">
        <a:spcBef>
          <a:spcPct val="0"/>
        </a:spcBef>
        <a:spcAft>
          <a:spcPct val="0"/>
        </a:spcAft>
        <a:defRPr sz="4400">
          <a:solidFill>
            <a:schemeClr val="tx2"/>
          </a:solidFill>
          <a:latin typeface="Times New Roman" charset="0"/>
        </a:defRPr>
      </a:lvl4pPr>
      <a:lvl5pPr algn="ctr" eaLnBrk="0" fontAlgn="base" hangingPunct="0" rtl="0">
        <a:spcBef>
          <a:spcPct val="0"/>
        </a:spcBef>
        <a:spcAft>
          <a:spcPct val="0"/>
        </a:spcAft>
        <a:defRPr sz="4400">
          <a:solidFill>
            <a:schemeClr val="tx2"/>
          </a:solidFill>
          <a:latin typeface="Times New Roman" charset="0"/>
        </a:defRPr>
      </a:lvl5pPr>
      <a:lvl6pPr algn="ctr" fontAlgn="base" marL="457200" rtl="0">
        <a:spcBef>
          <a:spcPct val="0"/>
        </a:spcBef>
        <a:spcAft>
          <a:spcPct val="0"/>
        </a:spcAft>
        <a:defRPr sz="4400">
          <a:solidFill>
            <a:schemeClr val="tx2"/>
          </a:solidFill>
          <a:latin typeface="Times New Roman" charset="0"/>
        </a:defRPr>
      </a:lvl6pPr>
      <a:lvl7pPr algn="ctr" fontAlgn="base" marL="914400" rtl="0">
        <a:spcBef>
          <a:spcPct val="0"/>
        </a:spcBef>
        <a:spcAft>
          <a:spcPct val="0"/>
        </a:spcAft>
        <a:defRPr sz="4400">
          <a:solidFill>
            <a:schemeClr val="tx2"/>
          </a:solidFill>
          <a:latin typeface="Times New Roman" charset="0"/>
        </a:defRPr>
      </a:lvl7pPr>
      <a:lvl8pPr algn="ctr" fontAlgn="base" marL="1371600" rtl="0">
        <a:spcBef>
          <a:spcPct val="0"/>
        </a:spcBef>
        <a:spcAft>
          <a:spcPct val="0"/>
        </a:spcAft>
        <a:defRPr sz="4400">
          <a:solidFill>
            <a:schemeClr val="tx2"/>
          </a:solidFill>
          <a:latin typeface="Times New Roman" charset="0"/>
        </a:defRPr>
      </a:lvl8pPr>
      <a:lvl9pPr algn="ctr" fontAlgn="base" marL="1828800" rtl="0">
        <a:spcBef>
          <a:spcPct val="0"/>
        </a:spcBef>
        <a:spcAft>
          <a:spcPct val="0"/>
        </a:spcAft>
        <a:defRPr sz="4400">
          <a:solidFill>
            <a:schemeClr val="tx2"/>
          </a:solidFill>
          <a:latin typeface="Times New Roman" charset="0"/>
        </a:defRPr>
      </a:lvl9pPr>
    </p:titleStyle>
    <p:bodyStyle>
      <a:lvl1pPr algn="l" eaLnBrk="0" fontAlgn="base" hangingPunct="0" indent="-342900" marL="342900" rtl="0">
        <a:spcBef>
          <a:spcPct val="20000"/>
        </a:spcBef>
        <a:spcAft>
          <a:spcPct val="0"/>
        </a:spcAft>
        <a:buChar char="•"/>
        <a:defRPr sz="3200">
          <a:solidFill>
            <a:schemeClr val="tx1"/>
          </a:solidFill>
          <a:latin typeface="+mn-lt"/>
          <a:ea typeface="+mn-ea"/>
          <a:cs typeface="+mn-cs"/>
        </a:defRPr>
      </a:lvl1pPr>
      <a:lvl2pPr algn="l" eaLnBrk="0" fontAlgn="base" hangingPunct="0" indent="-285750" marL="742950" rtl="0">
        <a:spcBef>
          <a:spcPct val="20000"/>
        </a:spcBef>
        <a:spcAft>
          <a:spcPct val="0"/>
        </a:spcAft>
        <a:buChar char="–"/>
        <a:defRPr sz="2800">
          <a:solidFill>
            <a:schemeClr val="tx1"/>
          </a:solidFill>
          <a:latin typeface="+mn-lt"/>
        </a:defRPr>
      </a:lvl2pPr>
      <a:lvl3pPr algn="l" eaLnBrk="0" fontAlgn="base" hangingPunct="0" indent="-228600" marL="1143000" rtl="0">
        <a:spcBef>
          <a:spcPct val="20000"/>
        </a:spcBef>
        <a:spcAft>
          <a:spcPct val="0"/>
        </a:spcAft>
        <a:buChar char="•"/>
        <a:defRPr sz="2400">
          <a:solidFill>
            <a:schemeClr val="tx1"/>
          </a:solidFill>
          <a:latin typeface="+mn-lt"/>
        </a:defRPr>
      </a:lvl3pPr>
      <a:lvl4pPr algn="l" eaLnBrk="0" fontAlgn="base" hangingPunct="0" indent="-228600" marL="1600200" rtl="0">
        <a:spcBef>
          <a:spcPct val="20000"/>
        </a:spcBef>
        <a:spcAft>
          <a:spcPct val="0"/>
        </a:spcAft>
        <a:buChar char="–"/>
        <a:defRPr sz="2000">
          <a:solidFill>
            <a:schemeClr val="tx1"/>
          </a:solidFill>
          <a:latin typeface="+mn-lt"/>
        </a:defRPr>
      </a:lvl4pPr>
      <a:lvl5pPr algn="l" eaLnBrk="0" fontAlgn="base" hangingPunct="0" indent="-228600" marL="2057400" rtl="0">
        <a:spcBef>
          <a:spcPct val="20000"/>
        </a:spcBef>
        <a:spcAft>
          <a:spcPct val="0"/>
        </a:spcAft>
        <a:buChar char="»"/>
        <a:defRPr sz="2000">
          <a:solidFill>
            <a:schemeClr val="tx1"/>
          </a:solidFill>
          <a:latin typeface="+mn-lt"/>
        </a:defRPr>
      </a:lvl5pPr>
      <a:lvl6pPr algn="l" fontAlgn="base" indent="-228600" marL="2514600" rtl="0">
        <a:spcBef>
          <a:spcPct val="20000"/>
        </a:spcBef>
        <a:spcAft>
          <a:spcPct val="0"/>
        </a:spcAft>
        <a:buChar char="»"/>
        <a:defRPr sz="2000">
          <a:solidFill>
            <a:schemeClr val="tx1"/>
          </a:solidFill>
          <a:latin typeface="+mn-lt"/>
        </a:defRPr>
      </a:lvl6pPr>
      <a:lvl7pPr algn="l" fontAlgn="base" indent="-228600" marL="2971800" rtl="0">
        <a:spcBef>
          <a:spcPct val="20000"/>
        </a:spcBef>
        <a:spcAft>
          <a:spcPct val="0"/>
        </a:spcAft>
        <a:buChar char="»"/>
        <a:defRPr sz="2000">
          <a:solidFill>
            <a:schemeClr val="tx1"/>
          </a:solidFill>
          <a:latin typeface="+mn-lt"/>
        </a:defRPr>
      </a:lvl7pPr>
      <a:lvl8pPr algn="l" fontAlgn="base" indent="-228600" marL="3429000" rtl="0">
        <a:spcBef>
          <a:spcPct val="20000"/>
        </a:spcBef>
        <a:spcAft>
          <a:spcPct val="0"/>
        </a:spcAft>
        <a:buChar char="»"/>
        <a:defRPr sz="2000">
          <a:solidFill>
            <a:schemeClr val="tx1"/>
          </a:solidFill>
          <a:latin typeface="+mn-lt"/>
        </a:defRPr>
      </a:lvl8pPr>
      <a:lvl9pPr algn="l" fontAlgn="base" indent="-228600" marL="3886200" rtl="0">
        <a:spcBef>
          <a:spcPct val="20000"/>
        </a:spcBef>
        <a:spcAft>
          <a:spcPct val="0"/>
        </a:spcAft>
        <a:buChar char="»"/>
        <a:defRPr sz="2000">
          <a:solidFill>
            <a:schemeClr val="tx1"/>
          </a:solidFill>
          <a:latin typeface="+mn-lt"/>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7.png"/><Relationship Id="rId3"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40.png"/><Relationship Id="rId3"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41.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47.png"/><Relationship Id="rId3"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image" Target="../media/image48.png"/><Relationship Id="rId2"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showMasterSp="1">
  <p:cSld>
    <p:spTree>
      <p:nvGrpSpPr>
        <p:cNvPr id="61" name=""/>
        <p:cNvGrpSpPr/>
        <p:nvPr/>
      </p:nvGrpSpPr>
      <p:grpSpPr>
        <a:xfrm rot="0">
          <a:off x="0" y="0"/>
          <a:ext cx="0" cy="0"/>
          <a:chOff x="0" y="0"/>
          <a:chExt cx="0" cy="0"/>
        </a:xfrm>
      </p:grpSpPr>
      <p:sp>
        <p:nvSpPr>
          <p:cNvPr id="1048602" name="Rectangle 2"/>
          <p:cNvSpPr/>
          <p:nvPr>
            <p:ph type="ctrTitle" sz="full" idx="0"/>
          </p:nvPr>
        </p:nvSpPr>
        <p:spPr>
          <a:xfrm rot="0">
            <a:off x="685800" y="1916112"/>
            <a:ext cx="7772400" cy="1143000"/>
          </a:xfrm>
          <a:prstGeom prst="rect"/>
          <a:noFill/>
          <a:ln>
            <a:noFill/>
          </a:ln>
        </p:spPr>
        <p:txBody>
          <a:bodyPr anchor="ctr" bIns="45720" lIns="91440" rIns="91440" tIns="45720" vert="horz"/>
          <a:lstStyle>
            <a:lvl1pPr algn="ctr">
              <a:defRPr sz="4400"/>
            </a:lvl1pPr>
          </a:lstStyle>
          <a:p>
            <a:pPr eaLnBrk="1" hangingPunct="1" lvl="0"/>
            <a:r>
              <a:rPr altLang="en-US" b="1" i="1" lang="en-US">
                <a:solidFill>
                  <a:srgbClr val="32946A"/>
                </a:solidFill>
              </a:rPr>
              <a:t>CSE  4101</a:t>
            </a:r>
            <a:br>
              <a:rPr altLang="en-US" b="1" i="1" lang="en-US">
                <a:solidFill>
                  <a:srgbClr val="0070C0"/>
                </a:solidFill>
              </a:rPr>
            </a:br>
            <a:r>
              <a:rPr altLang="en-US" b="1" sz="3200" i="1" lang="en-US">
                <a:solidFill>
                  <a:srgbClr val="0070C0"/>
                </a:solidFill>
              </a:rPr>
              <a:t>Topic 12: Fuzzy Logic</a:t>
            </a:r>
          </a:p>
        </p:txBody>
      </p:sp>
      <p:sp>
        <p:nvSpPr>
          <p:cNvPr id="1048603" name="Slide Number Placeholder 1"/>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1</a:t>
            </a:fld>
            <a:endParaRPr altLang="en-US" sz="1400" lang="en-US"/>
          </a:p>
        </p:txBody>
      </p:sp>
    </p:spTree>
  </p:cSld>
  <p:clrMapOvr>
    <a:masterClrMapping/>
  </p:clrMapOvr>
  <p:timing/>
</p:sld>
</file>

<file path=ppt/slides/slide2.xml><?xml version="1.0" encoding="utf-8"?>
<p:sld xmlns:a="http://schemas.openxmlformats.org/drawingml/2006/main" xmlns:r="http://schemas.openxmlformats.org/officeDocument/2006/relationships" xmlns:p="http://schemas.openxmlformats.org/presentationml/2006/main" showMasterSp="1">
  <p:cSld>
    <p:spTree>
      <p:nvGrpSpPr>
        <p:cNvPr id="65" name=""/>
        <p:cNvGrpSpPr/>
        <p:nvPr/>
      </p:nvGrpSpPr>
      <p:grpSpPr>
        <a:xfrm rot="0">
          <a:off x="0" y="0"/>
          <a:ext cx="0" cy="0"/>
          <a:chOff x="0" y="0"/>
          <a:chExt cx="0" cy="0"/>
        </a:xfrm>
      </p:grpSpPr>
      <p:sp>
        <p:nvSpPr>
          <p:cNvPr id="1048609" name="Slide Number Placeholder 1"/>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2</a:t>
            </a:fld>
            <a:endParaRPr altLang="en-US" sz="1400" lang="en-US"/>
          </a:p>
        </p:txBody>
      </p:sp>
      <p:sp>
        <p:nvSpPr>
          <p:cNvPr id="1048610" name="TextBox 5"/>
          <p:cNvSpPr txBox="1"/>
          <p:nvPr/>
        </p:nvSpPr>
        <p:spPr>
          <a:xfrm rot="0">
            <a:off x="503237" y="1484312"/>
            <a:ext cx="8137525" cy="286226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285750" lvl="0" marL="285750">
              <a:spcBef>
                <a:spcPct val="0"/>
              </a:spcBef>
            </a:pPr>
            <a:r>
              <a:rPr altLang="en-US" sz="1800" lang="en-US">
                <a:solidFill>
                  <a:srgbClr val="333333"/>
                </a:solidFill>
                <a:latin typeface="Comic Sans MS" pitchFamily="66" charset="0"/>
              </a:rPr>
              <a:t>Fuzzy set and crisp set are the part of the distinct set theories, where the fuzzy set implements infinite-valued logic while crisp set employs bi-valued logic. </a:t>
            </a:r>
          </a:p>
          <a:p>
            <a:pPr algn="just" indent="-285750" lvl="0" marL="285750">
              <a:spcBef>
                <a:spcPct val="0"/>
              </a:spcBef>
              <a:buFontTx/>
              <a:buNone/>
            </a:pPr>
            <a:endParaRPr altLang="en-US" sz="1800" lang="en-US">
              <a:solidFill>
                <a:srgbClr val="333333"/>
              </a:solidFill>
              <a:latin typeface="Comic Sans MS" pitchFamily="66" charset="0"/>
            </a:endParaRPr>
          </a:p>
          <a:p>
            <a:pPr algn="just" indent="-285750" lvl="0" marL="285750">
              <a:spcBef>
                <a:spcPct val="0"/>
              </a:spcBef>
            </a:pPr>
            <a:r>
              <a:rPr altLang="en-US" sz="1800" lang="en-US">
                <a:solidFill>
                  <a:srgbClr val="333333"/>
                </a:solidFill>
                <a:latin typeface="Comic Sans MS" pitchFamily="66" charset="0"/>
              </a:rPr>
              <a:t>Crisp sets are the sets that we have used most of our life. </a:t>
            </a:r>
          </a:p>
          <a:p>
            <a:pPr algn="just" indent="-285750" lvl="0" marL="285750">
              <a:spcBef>
                <a:spcPct val="0"/>
              </a:spcBef>
              <a:buFontTx/>
              <a:buNone/>
            </a:pPr>
            <a:endParaRPr altLang="en-US" sz="1800" lang="en-US">
              <a:solidFill>
                <a:srgbClr val="333333"/>
              </a:solidFill>
              <a:latin typeface="Comic Sans MS" pitchFamily="66" charset="0"/>
            </a:endParaRPr>
          </a:p>
          <a:p>
            <a:pPr algn="just" indent="-285750" lvl="0" marL="285750">
              <a:spcBef>
                <a:spcPct val="0"/>
              </a:spcBef>
            </a:pPr>
            <a:r>
              <a:rPr altLang="en-US" sz="1800" lang="en-US">
                <a:solidFill>
                  <a:srgbClr val="333333"/>
                </a:solidFill>
                <a:latin typeface="Comic Sans MS" pitchFamily="66" charset="0"/>
              </a:rPr>
              <a:t>Crips set represents the binary membership value of element in the set. In a crisp set, an element is either a member of the set or not. </a:t>
            </a:r>
          </a:p>
          <a:p>
            <a:pPr algn="just" indent="-285750" lvl="0" marL="285750">
              <a:spcBef>
                <a:spcPct val="0"/>
              </a:spcBef>
            </a:pPr>
            <a:endParaRPr altLang="en-US" sz="1800" lang="en-US">
              <a:solidFill>
                <a:srgbClr val="333333"/>
              </a:solidFill>
              <a:latin typeface="Comic Sans MS" pitchFamily="66" charset="0"/>
            </a:endParaRPr>
          </a:p>
          <a:p>
            <a:pPr algn="just" indent="-285750" lvl="0" marL="285750">
              <a:spcBef>
                <a:spcPct val="0"/>
              </a:spcBef>
            </a:pPr>
            <a:r>
              <a:rPr altLang="en-US" sz="1800" lang="en-US">
                <a:solidFill>
                  <a:srgbClr val="333333"/>
                </a:solidFill>
                <a:latin typeface="Comic Sans MS" pitchFamily="66" charset="0"/>
              </a:rPr>
              <a:t>For example, a jelly bean belongs in the class of food known as candy</a:t>
            </a:r>
            <a:r>
              <a:rPr altLang="en-US" sz="1800" lang="en-GB">
                <a:solidFill>
                  <a:srgbClr val="333333"/>
                </a:solidFill>
                <a:latin typeface="Comic Sans MS" pitchFamily="66" charset="0"/>
              </a:rPr>
              <a:t>.</a:t>
            </a:r>
          </a:p>
        </p:txBody>
      </p:sp>
      <p:sp>
        <p:nvSpPr>
          <p:cNvPr id="1048611" name="TextBox 12"/>
          <p:cNvSpPr txBox="1"/>
          <p:nvPr/>
        </p:nvSpPr>
        <p:spPr>
          <a:xfrm rot="0">
            <a:off x="503237" y="476250"/>
            <a:ext cx="3960812" cy="46196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2400" lang="en-US">
                <a:solidFill>
                  <a:srgbClr val="0070C0"/>
                </a:solidFill>
                <a:latin typeface="Comic Sans MS" pitchFamily="66" charset="0"/>
              </a:rPr>
              <a:t>Introduction</a:t>
            </a:r>
          </a:p>
        </p:txBody>
      </p:sp>
    </p:spTree>
  </p:cSld>
  <p:clrMapOvr>
    <a:masterClrMapping/>
  </p:clrMapOvr>
  <p:timing/>
</p:sld>
</file>

<file path=ppt/slides/slide3.xml><?xml version="1.0" encoding="utf-8"?>
<p:sld xmlns:a="http://schemas.openxmlformats.org/drawingml/2006/main" xmlns:r="http://schemas.openxmlformats.org/officeDocument/2006/relationships" xmlns:p="http://schemas.openxmlformats.org/presentationml/2006/main" showMasterSp="1">
  <p:cSld>
    <p:spTree>
      <p:nvGrpSpPr>
        <p:cNvPr id="68" name=""/>
        <p:cNvGrpSpPr/>
        <p:nvPr/>
      </p:nvGrpSpPr>
      <p:grpSpPr>
        <a:xfrm rot="0">
          <a:off x="0" y="0"/>
          <a:ext cx="0" cy="0"/>
          <a:chOff x="0" y="0"/>
          <a:chExt cx="0" cy="0"/>
        </a:xfrm>
      </p:grpSpPr>
      <p:sp>
        <p:nvSpPr>
          <p:cNvPr id="1048615" name="Slide Number Placeholder 1"/>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3</a:t>
            </a:fld>
            <a:endParaRPr altLang="en-US" sz="1400" lang="en-US"/>
          </a:p>
        </p:txBody>
      </p:sp>
      <p:sp>
        <p:nvSpPr>
          <p:cNvPr id="1048616" name="TextBox 5"/>
          <p:cNvSpPr txBox="1"/>
          <p:nvPr/>
        </p:nvSpPr>
        <p:spPr>
          <a:xfrm rot="0">
            <a:off x="506412" y="1412875"/>
            <a:ext cx="8137525" cy="3138487"/>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285750" lvl="0" marL="285750">
              <a:spcBef>
                <a:spcPct val="0"/>
              </a:spcBef>
            </a:pPr>
            <a:r>
              <a:rPr altLang="en-US" sz="1800" lang="en-US">
                <a:solidFill>
                  <a:srgbClr val="333333"/>
                </a:solidFill>
                <a:latin typeface="Comic Sans MS" pitchFamily="66" charset="0"/>
              </a:rPr>
              <a:t>The 'Fuzzy' word means the things that are not clear or are vague. </a:t>
            </a:r>
          </a:p>
          <a:p>
            <a:pPr algn="just" indent="-285750" lvl="0" marL="285750">
              <a:spcBef>
                <a:spcPct val="0"/>
              </a:spcBef>
              <a:buFontTx/>
              <a:buNone/>
            </a:pPr>
            <a:r>
              <a:rPr altLang="en-US" sz="1800" lang="en-US">
                <a:solidFill>
                  <a:srgbClr val="333333"/>
                </a:solidFill>
                <a:latin typeface="Comic Sans MS" pitchFamily="66" charset="0"/>
              </a:rPr>
              <a:t> </a:t>
            </a:r>
          </a:p>
          <a:p>
            <a:pPr algn="just" indent="-285750" lvl="0" marL="285750">
              <a:spcBef>
                <a:spcPct val="0"/>
              </a:spcBef>
            </a:pPr>
            <a:r>
              <a:rPr altLang="en-US" sz="1800" lang="en-US">
                <a:solidFill>
                  <a:srgbClr val="333333"/>
                </a:solidFill>
                <a:latin typeface="Comic Sans MS" pitchFamily="66" charset="0"/>
              </a:rPr>
              <a:t>Fuzzy logic is not logic that is fuzzy, but logic that is used to describe fuzziness. </a:t>
            </a:r>
          </a:p>
          <a:p>
            <a:pPr algn="just" indent="-285750" lvl="0" marL="285750">
              <a:spcBef>
                <a:spcPct val="0"/>
              </a:spcBef>
              <a:buFontTx/>
              <a:buNone/>
            </a:pPr>
            <a:endParaRPr altLang="en-US" sz="1800" lang="en-US">
              <a:solidFill>
                <a:srgbClr val="333333"/>
              </a:solidFill>
              <a:latin typeface="Comic Sans MS" pitchFamily="66" charset="0"/>
            </a:endParaRPr>
          </a:p>
          <a:p>
            <a:pPr algn="just" indent="-285750" lvl="0" marL="285750">
              <a:spcBef>
                <a:spcPct val="0"/>
              </a:spcBef>
            </a:pPr>
            <a:r>
              <a:rPr altLang="en-US" sz="1800" lang="en-US">
                <a:solidFill>
                  <a:srgbClr val="333333"/>
                </a:solidFill>
                <a:latin typeface="Comic Sans MS" pitchFamily="66" charset="0"/>
              </a:rPr>
              <a:t>Fuzzy logic is the theory of fuzzy sets, sets that calibrate vagueness.</a:t>
            </a:r>
          </a:p>
          <a:p>
            <a:pPr algn="just" indent="-285750" lvl="0" marL="285750">
              <a:spcBef>
                <a:spcPct val="0"/>
              </a:spcBef>
              <a:buFontTx/>
              <a:buNone/>
            </a:pPr>
            <a:endParaRPr altLang="en-US" sz="1800" lang="en-US">
              <a:solidFill>
                <a:srgbClr val="333333"/>
              </a:solidFill>
              <a:latin typeface="Comic Sans MS" pitchFamily="66" charset="0"/>
            </a:endParaRPr>
          </a:p>
          <a:p>
            <a:pPr algn="just" indent="-285750" lvl="0" marL="285750">
              <a:spcBef>
                <a:spcPct val="0"/>
              </a:spcBef>
            </a:pPr>
            <a:r>
              <a:rPr altLang="en-US" sz="1800" lang="en-US">
                <a:solidFill>
                  <a:srgbClr val="333333"/>
                </a:solidFill>
                <a:latin typeface="Comic Sans MS" pitchFamily="66" charset="0"/>
              </a:rPr>
              <a:t>Fuzzy logic is based on the idea that all things admit od degrees. Temperature, height, speed, distance, beauty- all come on a sliding scale. For example: “The motor is running really hot”. “Tom is a very tall guy”.</a:t>
            </a:r>
          </a:p>
        </p:txBody>
      </p:sp>
      <p:sp>
        <p:nvSpPr>
          <p:cNvPr id="1048617" name="TextBox 12"/>
          <p:cNvSpPr txBox="1"/>
          <p:nvPr/>
        </p:nvSpPr>
        <p:spPr>
          <a:xfrm rot="0">
            <a:off x="493712" y="404812"/>
            <a:ext cx="3960812" cy="522287"/>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2800" lang="en-US">
                <a:solidFill>
                  <a:srgbClr val="0070C0"/>
                </a:solidFill>
                <a:latin typeface="Comic Sans MS" pitchFamily="66" charset="0"/>
              </a:rPr>
              <a:t>Introduction</a:t>
            </a:r>
          </a:p>
        </p:txBody>
      </p:sp>
    </p:spTree>
  </p:cSld>
  <p:clrMapOvr>
    <a:masterClrMapping/>
  </p:clrMapOvr>
  <p:timing/>
</p:sld>
</file>

<file path=ppt/slides/slide4.xml><?xml version="1.0" encoding="utf-8"?>
<p:sld xmlns:a="http://schemas.openxmlformats.org/drawingml/2006/main" xmlns:r="http://schemas.openxmlformats.org/officeDocument/2006/relationships" xmlns:p="http://schemas.openxmlformats.org/presentationml/2006/main" showMasterSp="1">
  <p:cSld>
    <p:spTree>
      <p:nvGrpSpPr>
        <p:cNvPr id="71" name=""/>
        <p:cNvGrpSpPr/>
        <p:nvPr/>
      </p:nvGrpSpPr>
      <p:grpSpPr>
        <a:xfrm rot="0">
          <a:off x="0" y="0"/>
          <a:ext cx="0" cy="0"/>
          <a:chOff x="0" y="0"/>
          <a:chExt cx="0" cy="0"/>
        </a:xfrm>
      </p:grpSpPr>
      <p:sp>
        <p:nvSpPr>
          <p:cNvPr id="1048621" name="Slide Number Placeholder 1"/>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4</a:t>
            </a:fld>
            <a:endParaRPr altLang="en-US" sz="1400" lang="en-US"/>
          </a:p>
        </p:txBody>
      </p:sp>
      <p:sp>
        <p:nvSpPr>
          <p:cNvPr id="1048622" name="TextBox 5"/>
          <p:cNvSpPr txBox="1"/>
          <p:nvPr/>
        </p:nvSpPr>
        <p:spPr>
          <a:xfrm rot="0">
            <a:off x="503237" y="1341437"/>
            <a:ext cx="8137525" cy="286226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285750" lvl="0" marL="285750">
              <a:spcBef>
                <a:spcPct val="0"/>
              </a:spcBef>
            </a:pPr>
            <a:r>
              <a:rPr altLang="en-US" sz="1800" lang="en-US">
                <a:solidFill>
                  <a:srgbClr val="333333"/>
                </a:solidFill>
                <a:latin typeface="Comic Sans MS" pitchFamily="66" charset="0"/>
              </a:rPr>
              <a:t>Boolean logic uses sharp distinction, It forces us to draw lines between members of a class and non-members. For instance, we may say, Tom is tall because his height is 181 cm. If we draw a line at 180 cm, we  would find that David, who is 179 cm, is small. </a:t>
            </a:r>
          </a:p>
          <a:p>
            <a:pPr algn="just" indent="-285750" lvl="0" marL="285750">
              <a:spcBef>
                <a:spcPct val="0"/>
              </a:spcBef>
            </a:pPr>
            <a:endParaRPr altLang="en-US" sz="1800" lang="en-US">
              <a:solidFill>
                <a:srgbClr val="333333"/>
              </a:solidFill>
              <a:latin typeface="Comic Sans MS" pitchFamily="66" charset="0"/>
            </a:endParaRPr>
          </a:p>
          <a:p>
            <a:pPr algn="just" indent="-285750" lvl="0" marL="285750">
              <a:spcBef>
                <a:spcPct val="0"/>
              </a:spcBef>
            </a:pPr>
            <a:r>
              <a:rPr altLang="en-US" sz="1800" lang="en-US">
                <a:latin typeface="Comic Sans MS" pitchFamily="66" charset="0"/>
              </a:rPr>
              <a:t>Fuzzy logic reflects how people think. It attempts to model our sense of words, our decision making and our common senses. As a result, it is leading to new, more human, intelligent system.</a:t>
            </a:r>
          </a:p>
          <a:p>
            <a:pPr algn="just" indent="-285750" lvl="0" marL="285750">
              <a:spcBef>
                <a:spcPct val="0"/>
              </a:spcBef>
            </a:pPr>
            <a:endParaRPr altLang="en-US" sz="1800" lang="en-US">
              <a:latin typeface="Comic Sans MS" pitchFamily="66" charset="0"/>
            </a:endParaRPr>
          </a:p>
          <a:p>
            <a:pPr algn="just" indent="-285750" lvl="0" marL="285750">
              <a:spcBef>
                <a:spcPct val="0"/>
              </a:spcBef>
            </a:pPr>
            <a:endParaRPr altLang="en-US" sz="1800" lang="en-US">
              <a:latin typeface="Comic Sans MS" pitchFamily="66" charset="0"/>
            </a:endParaRPr>
          </a:p>
        </p:txBody>
      </p:sp>
      <p:sp>
        <p:nvSpPr>
          <p:cNvPr id="1048623" name="TextBox 12"/>
          <p:cNvSpPr txBox="1"/>
          <p:nvPr/>
        </p:nvSpPr>
        <p:spPr>
          <a:xfrm rot="0">
            <a:off x="493712" y="404812"/>
            <a:ext cx="3960812" cy="522287"/>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2800" lang="en-US">
                <a:solidFill>
                  <a:srgbClr val="0070C0"/>
                </a:solidFill>
                <a:latin typeface="Comic Sans MS" pitchFamily="66" charset="0"/>
              </a:rPr>
              <a:t>Introduction</a:t>
            </a:r>
          </a:p>
        </p:txBody>
      </p:sp>
      <p:sp>
        <p:nvSpPr>
          <p:cNvPr id="1048624" name="TextBox 5"/>
          <p:cNvSpPr txBox="1"/>
          <p:nvPr/>
        </p:nvSpPr>
        <p:spPr>
          <a:xfrm rot="0">
            <a:off x="503237" y="3860800"/>
            <a:ext cx="8137525" cy="1754187"/>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285750" lvl="0" marL="285750">
              <a:spcBef>
                <a:spcPct val="0"/>
              </a:spcBef>
            </a:pPr>
            <a:r>
              <a:rPr altLang="en-US" sz="1800" lang="en-US">
                <a:solidFill>
                  <a:srgbClr val="333333"/>
                </a:solidFill>
                <a:latin typeface="Comic Sans MS" pitchFamily="66" charset="0"/>
              </a:rPr>
              <a:t>In 1965, Lotfi Zadeh, published his famous paper “Fuzzy sets”. Zadeh extended the work on possibility theory into a formal system of mathematical logic, and introduced a new concept for applying natural language terms. This new logic for representing and manipulating fuzzy terms was called fuzzy logic, and Zadeh became the Master of Fuzzy logic.</a:t>
            </a:r>
          </a:p>
        </p:txBody>
      </p:sp>
    </p:spTree>
  </p:cSld>
  <p:clrMapOvr>
    <a:masterClrMapping/>
  </p:clrMapOvr>
  <p:timing/>
</p:sld>
</file>

<file path=ppt/slides/slide5.xml><?xml version="1.0" encoding="utf-8"?>
<p:sld xmlns:a="http://schemas.openxmlformats.org/drawingml/2006/main" xmlns:r="http://schemas.openxmlformats.org/officeDocument/2006/relationships" xmlns:p="http://schemas.openxmlformats.org/presentationml/2006/main" showMasterSp="1">
  <p:cSld>
    <p:spTree>
      <p:nvGrpSpPr>
        <p:cNvPr id="74" name=""/>
        <p:cNvGrpSpPr/>
        <p:nvPr/>
      </p:nvGrpSpPr>
      <p:grpSpPr>
        <a:xfrm rot="0">
          <a:off x="0" y="0"/>
          <a:ext cx="0" cy="0"/>
          <a:chOff x="0" y="0"/>
          <a:chExt cx="0" cy="0"/>
        </a:xfrm>
      </p:grpSpPr>
      <p:sp>
        <p:nvSpPr>
          <p:cNvPr id="1048628" name="Slide Number Placeholder 1"/>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5</a:t>
            </a:fld>
            <a:endParaRPr altLang="en-US" sz="1400" lang="en-US"/>
          </a:p>
        </p:txBody>
      </p:sp>
      <p:sp>
        <p:nvSpPr>
          <p:cNvPr id="1048629" name="TextBox 5"/>
          <p:cNvSpPr txBox="1"/>
          <p:nvPr/>
        </p:nvSpPr>
        <p:spPr>
          <a:xfrm rot="0">
            <a:off x="503237" y="908050"/>
            <a:ext cx="8137525" cy="2308225"/>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285750" lvl="0" marL="285750">
              <a:spcBef>
                <a:spcPct val="0"/>
              </a:spcBef>
            </a:pPr>
            <a:r>
              <a:rPr altLang="en-US" sz="1800" lang="en-US">
                <a:solidFill>
                  <a:srgbClr val="333333"/>
                </a:solidFill>
                <a:latin typeface="Comic Sans MS" pitchFamily="66" charset="0"/>
              </a:rPr>
              <a:t>Fuzzy logic is a set of mathematical principles for knowledge representation-based degree of membership. </a:t>
            </a:r>
          </a:p>
          <a:p>
            <a:pPr algn="just" indent="-285750" lvl="0" marL="285750">
              <a:spcBef>
                <a:spcPct val="0"/>
              </a:spcBef>
            </a:pPr>
            <a:r>
              <a:rPr altLang="en-US" sz="1800" lang="en-US">
                <a:solidFill>
                  <a:srgbClr val="333333"/>
                </a:solidFill>
                <a:latin typeface="Comic Sans MS" pitchFamily="66" charset="0"/>
              </a:rPr>
              <a:t>Unlike two-valued Boolean logic, fuzzy logic is multi valued. </a:t>
            </a:r>
          </a:p>
          <a:p>
            <a:pPr algn="just" indent="-285750" lvl="0" marL="285750">
              <a:spcBef>
                <a:spcPct val="0"/>
              </a:spcBef>
            </a:pPr>
            <a:r>
              <a:rPr altLang="en-US" sz="1800" lang="en-US">
                <a:solidFill>
                  <a:srgbClr val="333333"/>
                </a:solidFill>
                <a:latin typeface="Comic Sans MS" pitchFamily="66" charset="0"/>
              </a:rPr>
              <a:t>Fuzzy logic uses the continuum (Range) of logical values between 0 (completely false) and 1 (Completely true). </a:t>
            </a:r>
          </a:p>
          <a:p>
            <a:pPr algn="just" indent="-285750" lvl="0" marL="285750">
              <a:spcBef>
                <a:spcPct val="0"/>
              </a:spcBef>
            </a:pPr>
            <a:r>
              <a:rPr altLang="en-US" sz="1800" lang="en-US">
                <a:solidFill>
                  <a:srgbClr val="333333"/>
                </a:solidFill>
                <a:latin typeface="Comic Sans MS" pitchFamily="66" charset="0"/>
              </a:rPr>
              <a:t>For example, instead of black and white, it employs the spectrum of colors, accepting that things that things that can be partly true and partly false at the same time. </a:t>
            </a:r>
          </a:p>
        </p:txBody>
      </p:sp>
      <p:sp>
        <p:nvSpPr>
          <p:cNvPr id="1048630" name="TextBox 12"/>
          <p:cNvSpPr txBox="1"/>
          <p:nvPr/>
        </p:nvSpPr>
        <p:spPr>
          <a:xfrm rot="0">
            <a:off x="250825" y="260350"/>
            <a:ext cx="3960812" cy="523875"/>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2800" lang="en-US">
                <a:solidFill>
                  <a:srgbClr val="0070C0"/>
                </a:solidFill>
                <a:latin typeface="Comic Sans MS" pitchFamily="66" charset="0"/>
              </a:rPr>
              <a:t>Fuzzy Logic</a:t>
            </a:r>
          </a:p>
        </p:txBody>
      </p:sp>
      <p:pic>
        <p:nvPicPr>
          <p:cNvPr id="2097158" name="Picture 5"/>
          <p:cNvPicPr>
            <a:picLocks/>
          </p:cNvPicPr>
          <p:nvPr/>
        </p:nvPicPr>
        <p:blipFill>
          <a:blip xmlns:r="http://schemas.openxmlformats.org/officeDocument/2006/relationships" r:embed="rId1"/>
          <a:srcRect l="0" t="0" r="0" b="0"/>
          <a:stretch>
            <a:fillRect/>
          </a:stretch>
        </p:blipFill>
        <p:spPr>
          <a:xfrm rot="0">
            <a:off x="2195512" y="3429000"/>
            <a:ext cx="4648200" cy="1079500"/>
          </a:xfrm>
          <a:prstGeom prst="rect"/>
          <a:noFill/>
          <a:ln>
            <a:noFill/>
          </a:ln>
        </p:spPr>
      </p:pic>
      <p:sp>
        <p:nvSpPr>
          <p:cNvPr id="1048631" name="TextBox 5"/>
          <p:cNvSpPr txBox="1"/>
          <p:nvPr/>
        </p:nvSpPr>
        <p:spPr>
          <a:xfrm rot="0">
            <a:off x="611187" y="4722812"/>
            <a:ext cx="8137525" cy="120015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0" lvl="0" marL="0">
              <a:spcBef>
                <a:spcPct val="0"/>
              </a:spcBef>
              <a:buFontTx/>
              <a:buNone/>
            </a:pPr>
            <a:r>
              <a:rPr altLang="en-US" sz="1800" lang="en-US">
                <a:solidFill>
                  <a:srgbClr val="333333"/>
                </a:solidFill>
                <a:latin typeface="Comic Sans MS" pitchFamily="66" charset="0"/>
              </a:rPr>
              <a:t>To practically compare between fuzzy logic and Boolean logic let us answer to the question “Is it cold?” The answer can be simple yes or no or it can vary significantly between yes and no like not so cold, cold enough, moderate cold, cold, very cold etc. </a:t>
            </a:r>
          </a:p>
        </p:txBody>
      </p:sp>
    </p:spTree>
  </p:cSld>
  <p:clrMapOvr>
    <a:masterClrMapping/>
  </p:clrMapOvr>
  <p:timing/>
</p:sld>
</file>

<file path=ppt/slides/slide6.xml><?xml version="1.0" encoding="utf-8"?>
<p:sld xmlns:a="http://schemas.openxmlformats.org/drawingml/2006/main" xmlns:r="http://schemas.openxmlformats.org/officeDocument/2006/relationships" xmlns:p="http://schemas.openxmlformats.org/presentationml/2006/main" showMasterSp="1">
  <p:cSld>
    <p:spTree>
      <p:nvGrpSpPr>
        <p:cNvPr id="77" name=""/>
        <p:cNvGrpSpPr/>
        <p:nvPr/>
      </p:nvGrpSpPr>
      <p:grpSpPr>
        <a:xfrm rot="0">
          <a:off x="0" y="0"/>
          <a:ext cx="0" cy="0"/>
          <a:chOff x="0" y="0"/>
          <a:chExt cx="0" cy="0"/>
        </a:xfrm>
      </p:grpSpPr>
      <p:sp>
        <p:nvSpPr>
          <p:cNvPr id="1048635" name="Title 1"/>
          <p:cNvSpPr/>
          <p:nvPr>
            <p:ph type="title" sz="full" idx="0"/>
          </p:nvPr>
        </p:nvSpPr>
        <p:spPr>
          <a:xfrm rot="0">
            <a:off x="179387" y="19050"/>
            <a:ext cx="7772400" cy="1090612"/>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lvl="0"/>
            <a:r>
              <a:rPr altLang="en-US" sz="2400" lang="en-GB">
                <a:solidFill>
                  <a:schemeClr val="dk1"/>
                </a:solidFill>
                <a:latin typeface="Comic Sans MS" pitchFamily="66" charset="0"/>
              </a:rPr>
              <a:t>Comparison Between Fuzzy Logic and Boolean Logic</a:t>
            </a:r>
          </a:p>
        </p:txBody>
      </p:sp>
      <p:pic>
        <p:nvPicPr>
          <p:cNvPr id="2097159" name="Content Placeholder 5"/>
          <p:cNvPicPr>
            <a:picLocks/>
          </p:cNvPicPr>
          <p:nvPr>
            <p:ph sz="full" idx="1"/>
          </p:nvPr>
        </p:nvPicPr>
        <p:blipFill>
          <a:blip xmlns:r="http://schemas.openxmlformats.org/officeDocument/2006/relationships" r:embed="rId1"/>
          <a:srcRect l="0" t="0" r="0" b="0"/>
          <a:stretch>
            <a:fillRect/>
          </a:stretch>
        </p:blipFill>
        <p:spPr>
          <a:xfrm rot="0">
            <a:off x="2792412" y="981075"/>
            <a:ext cx="3559175" cy="2165350"/>
          </a:xfrm>
          <a:prstGeom prst="rect"/>
          <a:noFill/>
          <a:ln>
            <a:noFill/>
          </a:ln>
        </p:spPr>
      </p:pic>
      <p:sp>
        <p:nvSpPr>
          <p:cNvPr id="1048636"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6</a:t>
            </a:fld>
            <a:endParaRPr altLang="en-US" sz="1400" lang="en-US"/>
          </a:p>
        </p:txBody>
      </p:sp>
      <p:sp>
        <p:nvSpPr>
          <p:cNvPr id="1048637" name="Content Placeholder 2"/>
          <p:cNvSpPr txBox="1"/>
          <p:nvPr/>
        </p:nvSpPr>
        <p:spPr>
          <a:xfrm rot="0">
            <a:off x="676275" y="3476625"/>
            <a:ext cx="7772400" cy="2185987"/>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0" lvl="0" marL="0">
              <a:buFontTx/>
              <a:buNone/>
            </a:pPr>
            <a:r>
              <a:rPr altLang="en-US" sz="1800" lang="en-GB">
                <a:latin typeface="Comic Sans MS" pitchFamily="66" charset="0"/>
              </a:rPr>
              <a:t>Boolean logic only works with two values 0 and 1. But using fuzzy logic helps us to represent the values between 0 and 1 like degree of something. In the above example, the answer to the question “Is it hot ?” can be simple yes or no or it can varies significantly between yes and no like not so hot, hot enough, moderate hot, hot, very  etc.. For the first case, Boolean logic suffice. But for the latter case, Boolean logic will fail. That’s where Fuzzy logic comes into play.</a:t>
            </a:r>
          </a:p>
        </p:txBody>
      </p:sp>
    </p:spTree>
  </p:cSld>
  <p:clrMapOvr>
    <a:masterClrMapping/>
  </p:clrMapOvr>
  <p:timing/>
</p:sld>
</file>

<file path=ppt/slides/slide7.xml><?xml version="1.0" encoding="utf-8"?>
<p:sld xmlns:a="http://schemas.openxmlformats.org/drawingml/2006/main" xmlns:r="http://schemas.openxmlformats.org/officeDocument/2006/relationships" xmlns:p="http://schemas.openxmlformats.org/presentationml/2006/main" showMasterSp="1">
  <p:cSld>
    <p:spTree>
      <p:nvGrpSpPr>
        <p:cNvPr id="78" name=""/>
        <p:cNvGrpSpPr/>
        <p:nvPr/>
      </p:nvGrpSpPr>
      <p:grpSpPr>
        <a:xfrm rot="0">
          <a:off x="0" y="0"/>
          <a:ext cx="0" cy="0"/>
          <a:chOff x="0" y="0"/>
          <a:chExt cx="0" cy="0"/>
        </a:xfrm>
      </p:grpSpPr>
      <p:sp>
        <p:nvSpPr>
          <p:cNvPr id="1048638" name="Content Placeholder 2"/>
          <p:cNvSpPr/>
          <p:nvPr>
            <p:ph sz="full" idx="1"/>
          </p:nvPr>
        </p:nvSpPr>
        <p:spPr>
          <a:xfrm rot="0">
            <a:off x="539750" y="3746500"/>
            <a:ext cx="7772400" cy="2471737"/>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0" lvl="0" marL="0">
              <a:buFontTx/>
              <a:buNone/>
            </a:pPr>
            <a:r>
              <a:rPr altLang="en-US" sz="1800" lang="en-GB">
                <a:latin typeface="Comic Sans MS" pitchFamily="66" charset="0"/>
              </a:rPr>
              <a:t>Fuzzy logic will tell us how much the hotness or another way, the degree of coldness. Referring to the figure if the weather is “very much” hot, then fuzzy logic will say “The weather is hot up to degree 0.9”. For the “little” hot case, the degree of coldness is 0.25 and for the “very less” case, the degree of hotess is 0.1</a:t>
            </a:r>
          </a:p>
          <a:p>
            <a:pPr algn="just" indent="0" lvl="0" marL="0">
              <a:buFontTx/>
              <a:buNone/>
            </a:pPr>
            <a:endParaRPr altLang="en-US" b="1" sz="1800" lang="en-GB">
              <a:solidFill>
                <a:srgbClr val="7030A0"/>
              </a:solidFill>
              <a:latin typeface="Comic Sans MS" pitchFamily="66" charset="0"/>
            </a:endParaRPr>
          </a:p>
          <a:p>
            <a:pPr algn="just" indent="0" lvl="0" marL="0">
              <a:buFontTx/>
              <a:buNone/>
            </a:pPr>
            <a:r>
              <a:rPr altLang="en-US" b="1" sz="1800" lang="en-GB">
                <a:solidFill>
                  <a:srgbClr val="7030A0"/>
                </a:solidFill>
                <a:latin typeface="Comic Sans MS" pitchFamily="66" charset="0"/>
              </a:rPr>
              <a:t>Caution: </a:t>
            </a:r>
            <a:r>
              <a:rPr altLang="en-US" sz="1800" lang="en-US">
                <a:latin typeface="Comic Sans MS" pitchFamily="66" charset="0"/>
              </a:rPr>
              <a:t>Fuzzy logic value must be in the range [0-1]. The value can’t go outside this closed interval.</a:t>
            </a:r>
          </a:p>
        </p:txBody>
      </p:sp>
      <p:sp>
        <p:nvSpPr>
          <p:cNvPr id="1048639"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7</a:t>
            </a:fld>
            <a:endParaRPr altLang="en-US" sz="1400" lang="en-US"/>
          </a:p>
        </p:txBody>
      </p:sp>
      <p:sp>
        <p:nvSpPr>
          <p:cNvPr id="1048640" name="Title 1"/>
          <p:cNvSpPr/>
          <p:nvPr>
            <p:ph type="title" sz="full" idx="0"/>
          </p:nvPr>
        </p:nvSpPr>
        <p:spPr>
          <a:xfrm rot="0">
            <a:off x="179387" y="63500"/>
            <a:ext cx="7772400" cy="1090612"/>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lvl="0"/>
            <a:r>
              <a:rPr altLang="en-US" sz="2400" lang="en-GB">
                <a:solidFill>
                  <a:schemeClr val="dk1"/>
                </a:solidFill>
                <a:latin typeface="Comic Sans MS" pitchFamily="66" charset="0"/>
              </a:rPr>
              <a:t>Comparison Between Fuzzy Logic and Boolean Logic</a:t>
            </a:r>
          </a:p>
        </p:txBody>
      </p:sp>
      <p:pic>
        <p:nvPicPr>
          <p:cNvPr id="2097160" name="Content Placeholder 5"/>
          <p:cNvPicPr>
            <a:picLocks/>
          </p:cNvPicPr>
          <p:nvPr/>
        </p:nvPicPr>
        <p:blipFill>
          <a:blip xmlns:r="http://schemas.openxmlformats.org/officeDocument/2006/relationships" r:embed="rId1"/>
          <a:srcRect l="0" t="0" r="0" b="0"/>
          <a:stretch>
            <a:fillRect/>
          </a:stretch>
        </p:blipFill>
        <p:spPr>
          <a:xfrm rot="0">
            <a:off x="2646362" y="1154112"/>
            <a:ext cx="3559175" cy="2166937"/>
          </a:xfrm>
          <a:prstGeom prst="rect"/>
          <a:noFill/>
          <a:ln>
            <a:noFill/>
          </a:ln>
        </p:spPr>
      </p:pic>
    </p:spTree>
  </p:cSld>
  <p:clrMapOvr>
    <a:masterClrMapping/>
  </p:clrMapOvr>
  <p:timing/>
</p:sld>
</file>

<file path=ppt/slides/slide8.xml><?xml version="1.0" encoding="utf-8"?>
<p:sld xmlns:a="http://schemas.openxmlformats.org/drawingml/2006/main" xmlns:r="http://schemas.openxmlformats.org/officeDocument/2006/relationships" xmlns:p="http://schemas.openxmlformats.org/presentationml/2006/main" showMasterSp="1">
  <p:cSld>
    <p:spTree>
      <p:nvGrpSpPr>
        <p:cNvPr id="79" name=""/>
        <p:cNvGrpSpPr/>
        <p:nvPr/>
      </p:nvGrpSpPr>
      <p:grpSpPr>
        <a:xfrm rot="0">
          <a:off x="0" y="0"/>
          <a:ext cx="0" cy="0"/>
          <a:chOff x="0" y="0"/>
          <a:chExt cx="0" cy="0"/>
        </a:xfrm>
      </p:grpSpPr>
      <p:sp>
        <p:nvSpPr>
          <p:cNvPr id="1048641" name="Title 1"/>
          <p:cNvSpPr/>
          <p:nvPr>
            <p:ph type="title" sz="full" idx="0"/>
          </p:nvPr>
        </p:nvSpPr>
        <p:spPr>
          <a:xfrm rot="0">
            <a:off x="685800" y="217487"/>
            <a:ext cx="7772400" cy="690562"/>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Fuzzy Set</a:t>
            </a:r>
          </a:p>
        </p:txBody>
      </p:sp>
      <p:sp>
        <p:nvSpPr>
          <p:cNvPr id="1048642" name="Content Placeholder 2"/>
          <p:cNvSpPr/>
          <p:nvPr>
            <p:ph sz="full" idx="1"/>
          </p:nvPr>
        </p:nvSpPr>
        <p:spPr>
          <a:xfrm rot="0">
            <a:off x="682625" y="944562"/>
            <a:ext cx="7772400" cy="215265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0" lvl="0" marL="0">
              <a:buFontTx/>
              <a:buNone/>
            </a:pPr>
            <a:r>
              <a:rPr altLang="en-US" sz="1800" lang="en-US">
                <a:latin typeface="Comic Sans MS" pitchFamily="66" charset="0"/>
              </a:rPr>
              <a:t>The basic idea of the fuzzy set theory is that an element belongs to a fuzzy set with a certain degree of membership. The membership degree quantifies the grade of membership of the element. to the fuzzy set. The value 0 means that is not a member of the fuzzy set; the value 1 means that. is fully a member of the fuzzy set. The values between 0 and 1 characterize fuzzy members, which belong to the fuzzy set only partially.</a:t>
            </a:r>
          </a:p>
        </p:txBody>
      </p:sp>
      <p:sp>
        <p:nvSpPr>
          <p:cNvPr id="1048643"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8</a:t>
            </a:fld>
            <a:endParaRPr altLang="en-US" sz="1400" lang="en-US"/>
          </a:p>
        </p:txBody>
      </p:sp>
      <p:sp>
        <p:nvSpPr>
          <p:cNvPr id="1048644" name="Content Placeholder 2"/>
          <p:cNvSpPr txBox="1"/>
          <p:nvPr/>
        </p:nvSpPr>
        <p:spPr>
          <a:xfrm rot="0">
            <a:off x="674687" y="2997200"/>
            <a:ext cx="7772400" cy="936625"/>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0" lvl="0" marL="0">
              <a:buFontTx/>
              <a:buNone/>
            </a:pPr>
            <a:r>
              <a:rPr altLang="en-US" sz="1800" lang="en-US">
                <a:latin typeface="Comic Sans MS" pitchFamily="66" charset="0"/>
              </a:rPr>
              <a:t>One classical example in fuzzy sets is tall men. The elements of the fuzzy set “tall men” are all men, but their degree of membership depend on their height.</a:t>
            </a:r>
          </a:p>
        </p:txBody>
      </p:sp>
      <p:pic>
        <p:nvPicPr>
          <p:cNvPr id="2097161" name="Picture 1"/>
          <p:cNvPicPr>
            <a:picLocks/>
          </p:cNvPicPr>
          <p:nvPr/>
        </p:nvPicPr>
        <p:blipFill>
          <a:blip xmlns:r="http://schemas.openxmlformats.org/officeDocument/2006/relationships" r:embed="rId1"/>
          <a:srcRect l="0" t="0" r="0" b="0"/>
          <a:stretch>
            <a:fillRect/>
          </a:stretch>
        </p:blipFill>
        <p:spPr>
          <a:xfrm rot="0">
            <a:off x="3086100" y="3933825"/>
            <a:ext cx="2951162" cy="2587625"/>
          </a:xfrm>
          <a:prstGeom prst="rect"/>
          <a:noFill/>
          <a:ln>
            <a:noFill/>
          </a:ln>
        </p:spPr>
      </p:pic>
    </p:spTree>
  </p:cSld>
  <p:clrMapOvr>
    <a:masterClrMapping/>
  </p:clrMapOvr>
  <p:timing/>
</p:sld>
</file>

<file path=ppt/slides/slide9.xml><?xml version="1.0" encoding="utf-8"?>
<p:sld xmlns:a="http://schemas.openxmlformats.org/drawingml/2006/main" xmlns:r="http://schemas.openxmlformats.org/officeDocument/2006/relationships" xmlns:p="http://schemas.openxmlformats.org/presentationml/2006/main" showMasterSp="1">
  <p:cSld>
    <p:spTree>
      <p:nvGrpSpPr>
        <p:cNvPr id="80" name=""/>
        <p:cNvGrpSpPr/>
        <p:nvPr/>
      </p:nvGrpSpPr>
      <p:grpSpPr>
        <a:xfrm rot="0">
          <a:off x="0" y="0"/>
          <a:ext cx="0" cy="0"/>
          <a:chOff x="0" y="0"/>
          <a:chExt cx="0" cy="0"/>
        </a:xfrm>
      </p:grpSpPr>
      <p:sp>
        <p:nvSpPr>
          <p:cNvPr id="1048645" name="Content Placeholder 2"/>
          <p:cNvSpPr/>
          <p:nvPr>
            <p:ph sz="full" idx="1"/>
          </p:nvPr>
        </p:nvSpPr>
        <p:spPr>
          <a:xfrm rot="0">
            <a:off x="407987" y="2638425"/>
            <a:ext cx="8129587" cy="935037"/>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0" lvl="0" marL="0">
              <a:buFontTx/>
              <a:buNone/>
            </a:pPr>
            <a:r>
              <a:rPr altLang="en-US" sz="1800" lang="en-US">
                <a:latin typeface="Comic Sans MS" pitchFamily="66" charset="0"/>
              </a:rPr>
              <a:t>The x-axis represents the universe of discourse- the range of all possible values applicable to a chosen variable. In this case, the variable is the man height. The y-axis represents the membership value of the fuzzy set. </a:t>
            </a:r>
          </a:p>
        </p:txBody>
      </p:sp>
      <p:sp>
        <p:nvSpPr>
          <p:cNvPr id="1048646"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9</a:t>
            </a:fld>
            <a:endParaRPr altLang="en-US" sz="1400" lang="en-US"/>
          </a:p>
        </p:txBody>
      </p:sp>
      <p:sp>
        <p:nvSpPr>
          <p:cNvPr id="1048647" name="Title 1"/>
          <p:cNvSpPr/>
          <p:nvPr>
            <p:ph type="title" sz="full" idx="0"/>
          </p:nvPr>
        </p:nvSpPr>
        <p:spPr>
          <a:xfrm rot="0">
            <a:off x="323850" y="233362"/>
            <a:ext cx="7772400" cy="69215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Fuzzy Set</a:t>
            </a:r>
          </a:p>
        </p:txBody>
      </p:sp>
      <p:pic>
        <p:nvPicPr>
          <p:cNvPr id="2097162" name="Picture 3"/>
          <p:cNvPicPr>
            <a:picLocks/>
          </p:cNvPicPr>
          <p:nvPr/>
        </p:nvPicPr>
        <p:blipFill>
          <a:blip xmlns:r="http://schemas.openxmlformats.org/officeDocument/2006/relationships" r:embed="rId1"/>
          <a:srcRect l="0" t="0" r="0" b="0"/>
          <a:stretch>
            <a:fillRect/>
          </a:stretch>
        </p:blipFill>
        <p:spPr>
          <a:xfrm rot="0">
            <a:off x="1187450" y="906462"/>
            <a:ext cx="3284537" cy="1447800"/>
          </a:xfrm>
          <a:prstGeom prst="rect"/>
          <a:noFill/>
          <a:ln>
            <a:noFill/>
          </a:ln>
        </p:spPr>
      </p:pic>
      <p:pic>
        <p:nvPicPr>
          <p:cNvPr id="2097163" name="Picture 5"/>
          <p:cNvPicPr>
            <a:picLocks/>
          </p:cNvPicPr>
          <p:nvPr/>
        </p:nvPicPr>
        <p:blipFill>
          <a:blip xmlns:r="http://schemas.openxmlformats.org/officeDocument/2006/relationships" r:embed="rId2"/>
          <a:srcRect l="0" t="0" r="0" b="0"/>
          <a:stretch>
            <a:fillRect/>
          </a:stretch>
        </p:blipFill>
        <p:spPr>
          <a:xfrm rot="0">
            <a:off x="4572000" y="960437"/>
            <a:ext cx="3076575" cy="1647825"/>
          </a:xfrm>
          <a:prstGeom prst="rect"/>
          <a:noFill/>
          <a:ln>
            <a:noFill/>
          </a:ln>
        </p:spPr>
      </p:pic>
      <p:sp>
        <p:nvSpPr>
          <p:cNvPr id="1048648" name="Content Placeholder 2"/>
          <p:cNvSpPr txBox="1"/>
          <p:nvPr/>
        </p:nvSpPr>
        <p:spPr>
          <a:xfrm rot="0">
            <a:off x="407987" y="3744912"/>
            <a:ext cx="8169275" cy="10080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0" lvl="0" marL="0">
              <a:buFontTx/>
              <a:buNone/>
            </a:pPr>
            <a:r>
              <a:rPr altLang="en-US" sz="1800" lang="en-US">
                <a:latin typeface="Comic Sans MS" pitchFamily="66" charset="0"/>
              </a:rPr>
              <a:t>Let X be the universe of is discourse and its element be denoted as X. In the fuzzy theory, fuzzy set A of universe X is defined by a function μ</a:t>
            </a:r>
            <a:r>
              <a:rPr altLang="en-US" baseline="-25000" sz="1800" lang="en-US">
                <a:latin typeface="Comic Sans MS" pitchFamily="66" charset="0"/>
              </a:rPr>
              <a:t>A</a:t>
            </a:r>
            <a:r>
              <a:rPr altLang="en-US" sz="1800" lang="en-US">
                <a:latin typeface="Comic Sans MS" pitchFamily="66" charset="0"/>
              </a:rPr>
              <a:t> (X) called the membership function of set A.</a:t>
            </a:r>
          </a:p>
        </p:txBody>
      </p:sp>
      <p:pic>
        <p:nvPicPr>
          <p:cNvPr id="2097164" name="Picture 6"/>
          <p:cNvPicPr>
            <a:picLocks/>
          </p:cNvPicPr>
          <p:nvPr/>
        </p:nvPicPr>
        <p:blipFill>
          <a:blip xmlns:r="http://schemas.openxmlformats.org/officeDocument/2006/relationships" r:embed="rId3"/>
          <a:srcRect l="0" t="0" r="0" b="0"/>
          <a:stretch>
            <a:fillRect/>
          </a:stretch>
        </p:blipFill>
        <p:spPr>
          <a:xfrm rot="0">
            <a:off x="2324100" y="4752975"/>
            <a:ext cx="5324475" cy="1060450"/>
          </a:xfrm>
          <a:prstGeom prst="rect"/>
          <a:noFill/>
          <a:ln>
            <a:noFill/>
          </a:ln>
        </p:spPr>
      </p:pic>
    </p:spTree>
  </p:cSld>
  <p:clrMapOvr>
    <a:masterClrMapping/>
  </p:clrMapOvr>
  <p:timing/>
</p:sld>
</file>

<file path=ppt/slides/slide10.xml><?xml version="1.0" encoding="utf-8"?>
<p:sld xmlns:a="http://schemas.openxmlformats.org/drawingml/2006/main" xmlns:r="http://schemas.openxmlformats.org/officeDocument/2006/relationships" xmlns:p="http://schemas.openxmlformats.org/presentationml/2006/main" showMasterSp="1">
  <p:cSld>
    <p:spTree>
      <p:nvGrpSpPr>
        <p:cNvPr id="81" name=""/>
        <p:cNvGrpSpPr/>
        <p:nvPr/>
      </p:nvGrpSpPr>
      <p:grpSpPr>
        <a:xfrm rot="0">
          <a:off x="0" y="0"/>
          <a:ext cx="0" cy="0"/>
          <a:chOff x="0" y="0"/>
          <a:chExt cx="0" cy="0"/>
        </a:xfrm>
      </p:grpSpPr>
      <p:sp>
        <p:nvSpPr>
          <p:cNvPr id="1048649" name="Title 1"/>
          <p:cNvSpPr/>
          <p:nvPr>
            <p:ph type="title" sz="full" idx="0"/>
          </p:nvPr>
        </p:nvSpPr>
        <p:spPr>
          <a:xfrm rot="0">
            <a:off x="579437" y="115887"/>
            <a:ext cx="5788025"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Membership Function</a:t>
            </a:r>
          </a:p>
        </p:txBody>
      </p:sp>
      <p:sp>
        <p:nvSpPr>
          <p:cNvPr id="1048650" name="Content Placeholder 2"/>
          <p:cNvSpPr/>
          <p:nvPr>
            <p:ph sz="full" idx="1"/>
          </p:nvPr>
        </p:nvSpPr>
        <p:spPr>
          <a:xfrm rot="0">
            <a:off x="381000" y="1196975"/>
            <a:ext cx="8169275" cy="381635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lvl="0"/>
            <a:r>
              <a:rPr altLang="en-US" sz="1800" lang="en-US">
                <a:latin typeface="Comic Sans MS" pitchFamily="66" charset="0"/>
              </a:rPr>
              <a:t>The membership function is used to estimate or compute the degree of membership of a certain input element in a specific fuzzy set. </a:t>
            </a:r>
          </a:p>
          <a:p>
            <a:pPr algn="just" lvl="0"/>
            <a:endParaRPr altLang="en-US" sz="1800" lang="en-US">
              <a:latin typeface="Comic Sans MS" pitchFamily="66" charset="0"/>
            </a:endParaRPr>
          </a:p>
          <a:p>
            <a:pPr algn="just" lvl="0"/>
            <a:r>
              <a:rPr altLang="en-US" sz="1800" lang="en-US">
                <a:latin typeface="Comic Sans MS" pitchFamily="66" charset="0"/>
              </a:rPr>
              <a:t>The Universe is on the x-axis, while the degrees of membership are on the y-axis. </a:t>
            </a:r>
          </a:p>
          <a:p>
            <a:pPr algn="just" lvl="0"/>
            <a:endParaRPr altLang="en-US" sz="1800" lang="en-US">
              <a:latin typeface="Comic Sans MS" pitchFamily="66" charset="0"/>
            </a:endParaRPr>
          </a:p>
          <a:p>
            <a:pPr algn="just" lvl="0"/>
            <a:r>
              <a:rPr altLang="en-US" sz="1800" lang="en-US">
                <a:latin typeface="Comic Sans MS" pitchFamily="66" charset="0"/>
              </a:rPr>
              <a:t>The value 0 means that element is not a member of the fuzzy set. </a:t>
            </a:r>
          </a:p>
          <a:p>
            <a:pPr algn="just" lvl="0">
              <a:buFontTx/>
              <a:buNone/>
            </a:pPr>
            <a:endParaRPr altLang="en-US" sz="1800" lang="en-US">
              <a:latin typeface="Comic Sans MS" pitchFamily="66" charset="0"/>
            </a:endParaRPr>
          </a:p>
          <a:p>
            <a:pPr algn="just" lvl="0"/>
            <a:r>
              <a:rPr altLang="en-US" sz="1800" lang="en-US">
                <a:latin typeface="Comic Sans MS" pitchFamily="66" charset="0"/>
              </a:rPr>
              <a:t>The value 1 means that the element is fully a member of the fuzzy set. The values between 0 and 1 characterize fuzzy members, which belong to the fuzzy set only partially.</a:t>
            </a:r>
          </a:p>
        </p:txBody>
      </p:sp>
      <p:sp>
        <p:nvSpPr>
          <p:cNvPr id="1048651"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10</a:t>
            </a:fld>
            <a:endParaRPr altLang="en-US" sz="1400" lang="en-US"/>
          </a:p>
        </p:txBody>
      </p:sp>
    </p:spTree>
  </p:cSld>
  <p:clrMapOvr>
    <a:masterClrMapping/>
  </p:clrMapOvr>
  <p:timing/>
</p:sld>
</file>

<file path=ppt/slides/slide11.xml><?xml version="1.0" encoding="utf-8"?>
<p:sld xmlns:a="http://schemas.openxmlformats.org/drawingml/2006/main" xmlns:r="http://schemas.openxmlformats.org/officeDocument/2006/relationships" xmlns:p="http://schemas.openxmlformats.org/presentationml/2006/main" showMasterSp="1">
  <p:cSld>
    <p:spTree>
      <p:nvGrpSpPr>
        <p:cNvPr id="82" name=""/>
        <p:cNvGrpSpPr/>
        <p:nvPr/>
      </p:nvGrpSpPr>
      <p:grpSpPr>
        <a:xfrm rot="0">
          <a:off x="0" y="0"/>
          <a:ext cx="0" cy="0"/>
          <a:chOff x="0" y="0"/>
          <a:chExt cx="0" cy="0"/>
        </a:xfrm>
      </p:grpSpPr>
      <p:sp>
        <p:nvSpPr>
          <p:cNvPr id="1048652" name="Title 1"/>
          <p:cNvSpPr/>
          <p:nvPr>
            <p:ph type="title" sz="full" idx="0"/>
          </p:nvPr>
        </p:nvSpPr>
        <p:spPr>
          <a:xfrm rot="0">
            <a:off x="468312" y="-33337"/>
            <a:ext cx="5788025"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Membership Function</a:t>
            </a:r>
          </a:p>
        </p:txBody>
      </p:sp>
      <p:sp>
        <p:nvSpPr>
          <p:cNvPr id="1048653" name="Content Placeholder 2"/>
          <p:cNvSpPr/>
          <p:nvPr>
            <p:ph sz="full" idx="1"/>
          </p:nvPr>
        </p:nvSpPr>
        <p:spPr>
          <a:xfrm rot="0">
            <a:off x="293687" y="889000"/>
            <a:ext cx="8169275" cy="381635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lvl="0"/>
            <a:r>
              <a:rPr altLang="en-US" sz="1800" lang="en-US">
                <a:latin typeface="Comic Sans MS" pitchFamily="66" charset="0"/>
              </a:rPr>
              <a:t>A membership function (MF) maps each crisp </a:t>
            </a:r>
            <a:r>
              <a:rPr altLang="en-US" sz="1800" lang="en-US">
                <a:latin typeface="Comic Sans MS" pitchFamily="66" charset="0"/>
              </a:rPr>
              <a:t>value ( refers to a precise, exact, and well-defined number) </a:t>
            </a:r>
            <a:r>
              <a:rPr altLang="en-US" sz="1800" lang="en-US">
                <a:latin typeface="Comic Sans MS" pitchFamily="66" charset="0"/>
              </a:rPr>
              <a:t>x in a variable’s domain (the universe of discourse) to a degree in [0,1] describing how strongly x belongs to a fuzzy set.</a:t>
            </a:r>
          </a:p>
          <a:p>
            <a:pPr algn="just" lvl="0"/>
            <a:endParaRPr altLang="en-US" sz="1800" lang="en-US">
              <a:latin typeface="Comic Sans MS" pitchFamily="66" charset="0"/>
            </a:endParaRPr>
          </a:p>
          <a:p>
            <a:pPr algn="just" lvl="0"/>
            <a:endParaRPr altLang="en-US" sz="1800" lang="en-US">
              <a:latin typeface="Comic Sans MS" pitchFamily="66" charset="0"/>
            </a:endParaRPr>
          </a:p>
          <a:p>
            <a:pPr algn="just" lvl="0"/>
            <a:endParaRPr altLang="en-US" sz="1800" lang="en-US">
              <a:latin typeface="Comic Sans MS" pitchFamily="66" charset="0"/>
            </a:endParaRPr>
          </a:p>
          <a:p>
            <a:pPr algn="just" lvl="0"/>
            <a:endParaRPr altLang="en-US" sz="1800" lang="en-US">
              <a:latin typeface="Comic Sans MS" pitchFamily="66" charset="0"/>
            </a:endParaRPr>
          </a:p>
          <a:p>
            <a:pPr algn="just" lvl="0"/>
            <a:endParaRPr altLang="en-US" sz="1800" lang="en-US">
              <a:latin typeface="Comic Sans MS" pitchFamily="66" charset="0"/>
            </a:endParaRPr>
          </a:p>
          <a:p>
            <a:pPr algn="just" lvl="0"/>
            <a:endParaRPr altLang="en-US" sz="1800" lang="en-US">
              <a:latin typeface="Comic Sans MS" pitchFamily="66" charset="0"/>
            </a:endParaRPr>
          </a:p>
          <a:p>
            <a:pPr algn="just" lvl="0"/>
            <a:endParaRPr altLang="en-US" sz="1800" lang="en-US">
              <a:latin typeface="Comic Sans MS" pitchFamily="66" charset="0"/>
            </a:endParaRPr>
          </a:p>
          <a:p>
            <a:pPr algn="just" lvl="0"/>
            <a:endParaRPr altLang="en-US" sz="1800" lang="en-US">
              <a:latin typeface="Comic Sans MS" pitchFamily="66" charset="0"/>
            </a:endParaRPr>
          </a:p>
          <a:p>
            <a:pPr algn="just" lvl="0">
              <a:buFontTx/>
              <a:buNone/>
            </a:pPr>
            <a:r>
              <a:rPr altLang="en-US" sz="1800" lang="en-US" u="sng">
                <a:latin typeface="Comic Sans MS" pitchFamily="66" charset="0"/>
              </a:rPr>
              <a:t>Membership Degree at 32</a:t>
            </a:r>
            <a:r>
              <a:rPr altLang="en-US" baseline="30000" sz="1800" lang="en-US" u="sng">
                <a:latin typeface="Comic Sans MS" pitchFamily="66" charset="0"/>
              </a:rPr>
              <a:t>0</a:t>
            </a:r>
            <a:r>
              <a:rPr altLang="en-US" sz="1800" lang="en-US" u="sng">
                <a:latin typeface="Comic Sans MS" pitchFamily="66" charset="0"/>
              </a:rPr>
              <a:t>C</a:t>
            </a:r>
          </a:p>
        </p:txBody>
      </p:sp>
      <p:sp>
        <p:nvSpPr>
          <p:cNvPr id="1048654"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11</a:t>
            </a:fld>
            <a:endParaRPr altLang="en-US" sz="1400" lang="en-US"/>
          </a:p>
        </p:txBody>
      </p:sp>
      <p:pic>
        <p:nvPicPr>
          <p:cNvPr id="2097165" name="Picture 2"/>
          <p:cNvPicPr>
            <a:picLocks/>
          </p:cNvPicPr>
          <p:nvPr/>
        </p:nvPicPr>
        <p:blipFill>
          <a:blip xmlns:r="http://schemas.openxmlformats.org/officeDocument/2006/relationships" r:embed="rId1"/>
          <a:srcRect l="0" t="0" r="0" b="0"/>
          <a:stretch>
            <a:fillRect/>
          </a:stretch>
        </p:blipFill>
        <p:spPr>
          <a:xfrm rot="0">
            <a:off x="2195512" y="1960562"/>
            <a:ext cx="3997325" cy="2225675"/>
          </a:xfrm>
          <a:prstGeom prst="rect"/>
          <a:noFill/>
          <a:ln>
            <a:noFill/>
          </a:ln>
        </p:spPr>
      </p:pic>
      <p:graphicFrame>
        <p:nvGraphicFramePr>
          <p:cNvPr id="4194304" name=""/>
          <p:cNvGraphicFramePr>
            <a:graphicFrameLocks/>
          </p:cNvGraphicFramePr>
          <p:nvPr/>
        </p:nvGraphicFramePr>
        <p:xfrm rot="0">
          <a:off x="712787" y="5157787"/>
          <a:ext cx="6792912" cy="1011237"/>
        </p:xfrm>
        <a:graphic>
          <a:graphicData uri="http://schemas.openxmlformats.org/drawingml/2006/table">
            <a:tbl>
              <a:tblPr/>
              <a:tblGrid>
                <a:gridCol w="2089149"/>
                <a:gridCol w="1308099"/>
                <a:gridCol w="1697037"/>
                <a:gridCol w="1698624"/>
              </a:tblGrid>
              <a:tr h="639762">
                <a:tc>
                  <a:txBody>
                    <a:bodyPr/>
                    <a:p>
                      <a:pPr algn="l" eaLnBrk="1" hangingPunct="1" lvl="0"/>
                      <a:r>
                        <a:rPr altLang="en-US" b="0" sz="1800" lang="en-US">
                          <a:solidFill>
                            <a:schemeClr val="dk1"/>
                          </a:solidFill>
                        </a:rPr>
                        <a:t>Crisp input (</a:t>
                      </a:r>
                      <a:r>
                        <a:rPr altLang="en-US" baseline="30000" b="0" sz="1800" lang="en-US">
                          <a:solidFill>
                            <a:schemeClr val="dk1"/>
                          </a:solidFill>
                        </a:rPr>
                        <a:t>0</a:t>
                      </a:r>
                      <a:r>
                        <a:rPr altLang="en-US" b="0" sz="1800" lang="en-US">
                          <a:solidFill>
                            <a:schemeClr val="dk1"/>
                          </a:solidFill>
                        </a:rPr>
                        <a:t>C)</a:t>
                      </a:r>
                    </a:p>
                  </a:txBody>
                  <a:tcPr marL="91447" marR="91447" marT="45734" marB="45734"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38100" cap="flat" cmpd="sng">
                      <a:solidFill>
                        <a:schemeClr val="lt1">
                          <a:alpha val="100000"/>
                        </a:schemeClr>
                      </a:solidFill>
                      <a:prstDash val="solid"/>
                      <a:round/>
                    </a:lnB>
                    <a:solidFill>
                      <a:schemeClr val="accent1"/>
                    </a:solidFill>
                  </a:tcPr>
                </a:tc>
                <a:tc>
                  <a:txBody>
                    <a:bodyPr/>
                    <a:p>
                      <a:pPr algn="l" eaLnBrk="1" hangingPunct="1" lvl="0"/>
                      <a:r>
                        <a:rPr altLang="en-US" b="0" sz="1800" lang="en-US">
                          <a:solidFill>
                            <a:schemeClr val="dk1"/>
                          </a:solidFill>
                          <a:sym typeface="Symbol" pitchFamily="18" charset="2"/>
                        </a:rPr>
                        <a:t></a:t>
                      </a:r>
                      <a:r>
                        <a:rPr altLang="en-US" baseline="-25000" b="0" sz="1800" lang="en-US">
                          <a:solidFill>
                            <a:schemeClr val="dk1"/>
                          </a:solidFill>
                          <a:sym typeface="Symbol" pitchFamily="18" charset="2"/>
                        </a:rPr>
                        <a:t>Cold</a:t>
                      </a:r>
                    </a:p>
                  </a:txBody>
                  <a:tcPr marL="91447" marR="91447" marT="45734" marB="45734"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38100" cap="flat" cmpd="sng">
                      <a:solidFill>
                        <a:schemeClr val="lt1">
                          <a:alpha val="100000"/>
                        </a:schemeClr>
                      </a:solidFill>
                      <a:prstDash val="solid"/>
                      <a:round/>
                    </a:lnB>
                    <a:solidFill>
                      <a:schemeClr val="accent1"/>
                    </a:solidFill>
                  </a:tcPr>
                </a:tc>
                <a:tc>
                  <a:txBody>
                    <a:bodyPr/>
                    <a:p>
                      <a:pPr algn="l" eaLnBrk="1" hangingPunct="1" lvl="0"/>
                      <a:r>
                        <a:rPr altLang="en-US" b="0" sz="1800" lang="en-US">
                          <a:solidFill>
                            <a:schemeClr val="dk1"/>
                          </a:solidFill>
                          <a:sym typeface="Symbol" pitchFamily="18" charset="2"/>
                        </a:rPr>
                        <a:t></a:t>
                      </a:r>
                      <a:r>
                        <a:rPr altLang="en-US" baseline="-25000" b="0" sz="1800" lang="en-US">
                          <a:solidFill>
                            <a:schemeClr val="dk1"/>
                          </a:solidFill>
                          <a:sym typeface="Symbol" pitchFamily="18" charset="2"/>
                        </a:rPr>
                        <a:t>Warm</a:t>
                      </a:r>
                    </a:p>
                    <a:p>
                      <a:pPr algn="l" eaLnBrk="1" hangingPunct="1" lvl="0"/>
                      <a:endParaRPr altLang="en-US" sz="1800" lang="en-US"/>
                    </a:p>
                  </a:txBody>
                  <a:tcPr marL="91447" marR="91447" marT="45734" marB="45734"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38100" cap="flat" cmpd="sng">
                      <a:solidFill>
                        <a:schemeClr val="lt1">
                          <a:alpha val="100000"/>
                        </a:schemeClr>
                      </a:solidFill>
                      <a:prstDash val="solid"/>
                      <a:round/>
                    </a:lnB>
                    <a:solidFill>
                      <a:schemeClr val="accent1"/>
                    </a:solidFill>
                  </a:tcPr>
                </a:tc>
                <a:tc>
                  <a:txBody>
                    <a:bodyPr/>
                    <a:p>
                      <a:pPr algn="l" eaLnBrk="1" hangingPunct="1" lvl="0"/>
                      <a:r>
                        <a:rPr altLang="en-US" b="0" sz="1800" lang="en-US">
                          <a:solidFill>
                            <a:schemeClr val="dk1"/>
                          </a:solidFill>
                          <a:sym typeface="Symbol" pitchFamily="18" charset="2"/>
                        </a:rPr>
                        <a:t></a:t>
                      </a:r>
                      <a:r>
                        <a:rPr altLang="en-US" baseline="-25000" b="0" sz="1800" lang="en-US">
                          <a:solidFill>
                            <a:schemeClr val="dk1"/>
                          </a:solidFill>
                          <a:sym typeface="Symbol" pitchFamily="18" charset="2"/>
                        </a:rPr>
                        <a:t>Hot</a:t>
                      </a:r>
                    </a:p>
                    <a:p>
                      <a:pPr algn="l" eaLnBrk="1" hangingPunct="1" lvl="0"/>
                      <a:endParaRPr altLang="en-US" sz="1800" lang="en-US"/>
                    </a:p>
                  </a:txBody>
                  <a:tcPr marL="91447" marR="91447" marT="45734" marB="45734"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38100" cap="flat" cmpd="sng">
                      <a:solidFill>
                        <a:schemeClr val="lt1">
                          <a:alpha val="100000"/>
                        </a:schemeClr>
                      </a:solidFill>
                      <a:prstDash val="solid"/>
                      <a:round/>
                    </a:lnB>
                    <a:solidFill>
                      <a:schemeClr val="accent1"/>
                    </a:solidFill>
                  </a:tcPr>
                </a:tc>
              </a:tr>
              <a:tr h="371474">
                <a:tc>
                  <a:txBody>
                    <a:bodyPr/>
                    <a:p>
                      <a:pPr algn="l" eaLnBrk="1" hangingPunct="1" lvl="0"/>
                      <a:r>
                        <a:rPr altLang="en-US" b="0" sz="1800" lang="en-US">
                          <a:solidFill>
                            <a:srgbClr val="000000"/>
                          </a:solidFill>
                        </a:rPr>
                        <a:t>32.0</a:t>
                      </a:r>
                    </a:p>
                  </a:txBody>
                  <a:tcPr marL="91447" marR="91447" marT="45734" marB="45734" anchor="t" vert="horz">
                    <a:lnL w="12700" cap="flat" cmpd="sng">
                      <a:solidFill>
                        <a:schemeClr val="lt1">
                          <a:alpha val="100000"/>
                        </a:schemeClr>
                      </a:solidFill>
                      <a:prstDash val="solid"/>
                      <a:round/>
                    </a:lnL>
                    <a:lnR w="12700" cap="flat" cmpd="sng">
                      <a:solidFill>
                        <a:schemeClr val="lt1">
                          <a:alpha val="100000"/>
                        </a:schemeClr>
                      </a:solidFill>
                      <a:prstDash val="solid"/>
                      <a:round/>
                    </a:lnR>
                    <a:lnT w="38100" cap="flat" cmpd="sng">
                      <a:solidFill>
                        <a:schemeClr val="lt1">
                          <a:alpha val="100000"/>
                        </a:schemeClr>
                      </a:solidFill>
                      <a:prstDash val="solid"/>
                      <a:round/>
                    </a:lnT>
                    <a:lnB w="12700" cap="flat" cmpd="sng">
                      <a:solidFill>
                        <a:schemeClr val="lt1">
                          <a:alpha val="100000"/>
                        </a:schemeClr>
                      </a:solidFill>
                      <a:prstDash val="solid"/>
                      <a:round/>
                    </a:lnB>
                    <a:solidFill>
                      <a:srgbClr val="CBECDE"/>
                    </a:solidFill>
                  </a:tcPr>
                </a:tc>
                <a:tc>
                  <a:txBody>
                    <a:bodyPr/>
                    <a:p>
                      <a:pPr algn="l" eaLnBrk="1" hangingPunct="1" lvl="0"/>
                      <a:r>
                        <a:rPr altLang="en-US" b="0" sz="1800" lang="en-US">
                          <a:solidFill>
                            <a:srgbClr val="000000"/>
                          </a:solidFill>
                        </a:rPr>
                        <a:t>0.0</a:t>
                      </a:r>
                    </a:p>
                  </a:txBody>
                  <a:tcPr marL="91447" marR="91447" marT="45734" marB="45734" anchor="t" vert="horz">
                    <a:lnL w="12700" cap="flat" cmpd="sng">
                      <a:solidFill>
                        <a:schemeClr val="lt1">
                          <a:alpha val="100000"/>
                        </a:schemeClr>
                      </a:solidFill>
                      <a:prstDash val="solid"/>
                      <a:round/>
                    </a:lnL>
                    <a:lnR w="12700" cap="flat" cmpd="sng">
                      <a:solidFill>
                        <a:schemeClr val="lt1">
                          <a:alpha val="100000"/>
                        </a:schemeClr>
                      </a:solidFill>
                      <a:prstDash val="solid"/>
                      <a:round/>
                    </a:lnR>
                    <a:lnT w="38100" cap="flat" cmpd="sng">
                      <a:solidFill>
                        <a:schemeClr val="lt1">
                          <a:alpha val="100000"/>
                        </a:schemeClr>
                      </a:solidFill>
                      <a:prstDash val="solid"/>
                      <a:round/>
                    </a:lnT>
                    <a:lnB w="12700" cap="flat" cmpd="sng">
                      <a:solidFill>
                        <a:schemeClr val="lt1">
                          <a:alpha val="100000"/>
                        </a:schemeClr>
                      </a:solidFill>
                      <a:prstDash val="solid"/>
                      <a:round/>
                    </a:lnB>
                    <a:solidFill>
                      <a:srgbClr val="CBECDE"/>
                    </a:solidFill>
                  </a:tcPr>
                </a:tc>
                <a:tc>
                  <a:txBody>
                    <a:bodyPr/>
                    <a:p>
                      <a:pPr algn="l" eaLnBrk="1" hangingPunct="1" lvl="0"/>
                      <a:r>
                        <a:rPr altLang="en-US" b="0" sz="1800" lang="en-US">
                          <a:solidFill>
                            <a:srgbClr val="000000"/>
                          </a:solidFill>
                        </a:rPr>
                        <a:t>0.3</a:t>
                      </a:r>
                    </a:p>
                  </a:txBody>
                  <a:tcPr marL="91447" marR="91447" marT="45734" marB="45734" anchor="t" vert="horz">
                    <a:lnL w="12700" cap="flat" cmpd="sng">
                      <a:solidFill>
                        <a:schemeClr val="lt1">
                          <a:alpha val="100000"/>
                        </a:schemeClr>
                      </a:solidFill>
                      <a:prstDash val="solid"/>
                      <a:round/>
                    </a:lnL>
                    <a:lnR w="12700" cap="flat" cmpd="sng">
                      <a:solidFill>
                        <a:schemeClr val="lt1">
                          <a:alpha val="100000"/>
                        </a:schemeClr>
                      </a:solidFill>
                      <a:prstDash val="solid"/>
                      <a:round/>
                    </a:lnR>
                    <a:lnT w="38100" cap="flat" cmpd="sng">
                      <a:solidFill>
                        <a:schemeClr val="lt1">
                          <a:alpha val="100000"/>
                        </a:schemeClr>
                      </a:solidFill>
                      <a:prstDash val="solid"/>
                      <a:round/>
                    </a:lnT>
                    <a:lnB w="12700" cap="flat" cmpd="sng">
                      <a:solidFill>
                        <a:schemeClr val="lt1">
                          <a:alpha val="100000"/>
                        </a:schemeClr>
                      </a:solidFill>
                      <a:prstDash val="solid"/>
                      <a:round/>
                    </a:lnB>
                    <a:solidFill>
                      <a:srgbClr val="CBECDE"/>
                    </a:solidFill>
                  </a:tcPr>
                </a:tc>
                <a:tc>
                  <a:txBody>
                    <a:bodyPr/>
                    <a:p>
                      <a:pPr algn="l" eaLnBrk="1" hangingPunct="1" lvl="0"/>
                      <a:r>
                        <a:rPr altLang="en-US" b="0" sz="1800" lang="en-US">
                          <a:solidFill>
                            <a:srgbClr val="000000"/>
                          </a:solidFill>
                        </a:rPr>
                        <a:t>0.4</a:t>
                      </a:r>
                    </a:p>
                  </a:txBody>
                  <a:tcPr marL="91447" marR="91447" marT="45734" marB="45734" anchor="t" vert="horz">
                    <a:lnL w="12700" cap="flat" cmpd="sng">
                      <a:solidFill>
                        <a:schemeClr val="lt1">
                          <a:alpha val="100000"/>
                        </a:schemeClr>
                      </a:solidFill>
                      <a:prstDash val="solid"/>
                      <a:round/>
                    </a:lnL>
                    <a:lnR w="12700" cap="flat" cmpd="sng">
                      <a:solidFill>
                        <a:schemeClr val="lt1">
                          <a:alpha val="100000"/>
                        </a:schemeClr>
                      </a:solidFill>
                      <a:prstDash val="solid"/>
                      <a:round/>
                    </a:lnR>
                    <a:lnT w="38100" cap="flat" cmpd="sng">
                      <a:solidFill>
                        <a:schemeClr val="lt1">
                          <a:alpha val="100000"/>
                        </a:schemeClr>
                      </a:solidFill>
                      <a:prstDash val="solid"/>
                      <a:round/>
                    </a:lnT>
                    <a:lnB w="12700" cap="flat" cmpd="sng">
                      <a:solidFill>
                        <a:schemeClr val="lt1">
                          <a:alpha val="100000"/>
                        </a:schemeClr>
                      </a:solidFill>
                      <a:prstDash val="solid"/>
                      <a:round/>
                    </a:lnB>
                    <a:solidFill>
                      <a:srgbClr val="CBECDE"/>
                    </a:solidFill>
                  </a:tcPr>
                </a:tc>
              </a:tr>
            </a:tbl>
          </a:graphicData>
        </a:graphic>
      </p:graphicFrame>
    </p:spTree>
  </p:cSld>
  <p:clrMapOvr>
    <a:masterClrMapping/>
  </p:clrMapOvr>
  <p:timing/>
</p:sld>
</file>

<file path=ppt/slides/slide12.xml><?xml version="1.0" encoding="utf-8"?>
<p:sld xmlns:a="http://schemas.openxmlformats.org/drawingml/2006/main" xmlns:r="http://schemas.openxmlformats.org/officeDocument/2006/relationships" xmlns:p="http://schemas.openxmlformats.org/presentationml/2006/main" showMasterSp="1">
  <p:cSld>
    <p:spTree>
      <p:nvGrpSpPr>
        <p:cNvPr id="84" name=""/>
        <p:cNvGrpSpPr/>
        <p:nvPr/>
      </p:nvGrpSpPr>
      <p:grpSpPr>
        <a:xfrm rot="0">
          <a:off x="0" y="0"/>
          <a:ext cx="0" cy="0"/>
          <a:chOff x="0" y="0"/>
          <a:chExt cx="0" cy="0"/>
        </a:xfrm>
      </p:grpSpPr>
      <p:sp>
        <p:nvSpPr>
          <p:cNvPr id="1048671" name="Title 1"/>
          <p:cNvSpPr/>
          <p:nvPr>
            <p:ph type="title" sz="full" idx="0"/>
          </p:nvPr>
        </p:nvSpPr>
        <p:spPr>
          <a:xfrm rot="0">
            <a:off x="250825" y="106362"/>
            <a:ext cx="7772400" cy="917575"/>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Membership Function</a:t>
            </a:r>
          </a:p>
        </p:txBody>
      </p:sp>
      <p:sp>
        <p:nvSpPr>
          <p:cNvPr id="1048672" name="Content Placeholder 2"/>
          <p:cNvSpPr/>
          <p:nvPr>
            <p:ph sz="full" idx="1"/>
          </p:nvPr>
        </p:nvSpPr>
        <p:spPr>
          <a:xfrm rot="0">
            <a:off x="331787" y="892175"/>
            <a:ext cx="8169275" cy="192405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0" lvl="0" marL="0">
              <a:buFontTx/>
              <a:buNone/>
            </a:pPr>
            <a:r>
              <a:rPr altLang="en-US" sz="1800" lang="en-US">
                <a:latin typeface="Comic Sans MS" pitchFamily="66" charset="0"/>
              </a:rPr>
              <a:t>The membership function μ</a:t>
            </a:r>
            <a:r>
              <a:rPr altLang="en-US" baseline="-25000" sz="1800" lang="en-US">
                <a:latin typeface="Comic Sans MS" pitchFamily="66" charset="0"/>
              </a:rPr>
              <a:t>A</a:t>
            </a:r>
            <a:r>
              <a:rPr altLang="en-US" sz="1800" lang="en-US">
                <a:latin typeface="Comic Sans MS" pitchFamily="66" charset="0"/>
              </a:rPr>
              <a:t> forms the basis of fuzzy set and is denoted as,</a:t>
            </a:r>
          </a:p>
          <a:p>
            <a:pPr algn="just" indent="0" lvl="0" marL="0">
              <a:buFontTx/>
              <a:buNone/>
            </a:pPr>
            <a:endParaRPr altLang="en-US" sz="2600" lang="en-US">
              <a:latin typeface="Comic Sans MS" pitchFamily="66" charset="0"/>
            </a:endParaRPr>
          </a:p>
        </p:txBody>
      </p:sp>
      <p:sp>
        <p:nvSpPr>
          <p:cNvPr id="1048673"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12</a:t>
            </a:fld>
            <a:endParaRPr altLang="en-US" sz="1400" lang="en-US"/>
          </a:p>
        </p:txBody>
      </p:sp>
      <p:pic>
        <p:nvPicPr>
          <p:cNvPr id="2097166" name="Picture 9"/>
          <p:cNvPicPr>
            <a:picLocks/>
          </p:cNvPicPr>
          <p:nvPr/>
        </p:nvPicPr>
        <p:blipFill>
          <a:blip xmlns:r="http://schemas.openxmlformats.org/officeDocument/2006/relationships" r:embed="rId1"/>
          <a:srcRect l="0" t="0" r="0" b="0"/>
          <a:stretch>
            <a:fillRect/>
          </a:stretch>
        </p:blipFill>
        <p:spPr>
          <a:xfrm rot="0">
            <a:off x="3059112" y="1216025"/>
            <a:ext cx="2405062" cy="798512"/>
          </a:xfrm>
          <a:prstGeom prst="rect"/>
          <a:noFill/>
          <a:ln>
            <a:noFill/>
          </a:ln>
        </p:spPr>
      </p:pic>
      <p:sp>
        <p:nvSpPr>
          <p:cNvPr id="1048674" name="TextBox 6"/>
          <p:cNvSpPr txBox="1"/>
          <p:nvPr/>
        </p:nvSpPr>
        <p:spPr>
          <a:xfrm rot="0">
            <a:off x="331787" y="2216150"/>
            <a:ext cx="7878762" cy="120015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285750" lvl="0" marL="285750">
              <a:spcBef>
                <a:spcPct val="0"/>
              </a:spcBef>
            </a:pPr>
            <a:r>
              <a:rPr altLang="en-US" sz="1800" lang="en-US">
                <a:latin typeface="Comic Sans MS" pitchFamily="66" charset="0"/>
              </a:rPr>
              <a:t>Examples for a “Temperature” variable: Cold, Warm, Hot are fuzzy sets.</a:t>
            </a:r>
          </a:p>
          <a:p>
            <a:pPr algn="just" indent="-285750" lvl="0" marL="285750">
              <a:spcBef>
                <a:spcPct val="0"/>
              </a:spcBef>
            </a:pPr>
            <a:r>
              <a:rPr altLang="en-US" sz="1800" lang="en-US">
                <a:latin typeface="Comic Sans MS" pitchFamily="66" charset="0"/>
              </a:rPr>
              <a:t>Their MFs might be triangular/trapezoidal curves on 0–40 °C.</a:t>
            </a:r>
          </a:p>
          <a:p>
            <a:pPr algn="just" indent="-285750" lvl="0" marL="285750">
              <a:spcBef>
                <a:spcPct val="0"/>
              </a:spcBef>
            </a:pPr>
            <a:r>
              <a:rPr altLang="en-US" sz="1800" lang="en-US">
                <a:latin typeface="Comic Sans MS" pitchFamily="66" charset="0"/>
              </a:rPr>
              <a:t>Overlap lets the same input partially belong to several sets at once.</a:t>
            </a:r>
          </a:p>
        </p:txBody>
      </p:sp>
      <p:sp>
        <p:nvSpPr>
          <p:cNvPr id="1048675" name="TextBox 8"/>
          <p:cNvSpPr txBox="1"/>
          <p:nvPr/>
        </p:nvSpPr>
        <p:spPr>
          <a:xfrm rot="0">
            <a:off x="338137" y="3592512"/>
            <a:ext cx="3816350" cy="20320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285750" lvl="0" marL="285750">
              <a:spcBef>
                <a:spcPct val="0"/>
              </a:spcBef>
            </a:pPr>
            <a:r>
              <a:rPr altLang="en-US" sz="1800" lang="en-US">
                <a:latin typeface="Comic Sans MS" pitchFamily="66" charset="0"/>
              </a:rPr>
              <a:t>Three common MFs (triangular) for Cold, Warm, and Hot on 0–40 °C and marked a sample input of 32 °C. </a:t>
            </a:r>
          </a:p>
          <a:p>
            <a:pPr algn="just" indent="-285750" lvl="0" marL="285750">
              <a:spcBef>
                <a:spcPct val="0"/>
              </a:spcBef>
            </a:pPr>
            <a:r>
              <a:rPr altLang="en-US" sz="1800" lang="en-US">
                <a:latin typeface="Comic Sans MS" pitchFamily="66" charset="0"/>
              </a:rPr>
              <a:t>The vertical dashed line shows the crisp input; the dots are the computed degrees.</a:t>
            </a:r>
          </a:p>
        </p:txBody>
      </p:sp>
      <p:pic>
        <p:nvPicPr>
          <p:cNvPr id="2097167" name="Picture 9"/>
          <p:cNvPicPr>
            <a:picLocks/>
          </p:cNvPicPr>
          <p:nvPr/>
        </p:nvPicPr>
        <p:blipFill>
          <a:blip xmlns:r="http://schemas.openxmlformats.org/officeDocument/2006/relationships" r:embed="rId2"/>
          <a:srcRect l="0" t="0" r="0" b="0"/>
          <a:stretch>
            <a:fillRect/>
          </a:stretch>
        </p:blipFill>
        <p:spPr>
          <a:xfrm rot="0">
            <a:off x="4413250" y="3592512"/>
            <a:ext cx="4262437" cy="2373312"/>
          </a:xfrm>
          <a:prstGeom prst="rect"/>
          <a:noFill/>
          <a:ln>
            <a:noFill/>
          </a:ln>
        </p:spPr>
      </p:pic>
    </p:spTree>
  </p:cSld>
  <p:clrMapOvr>
    <a:masterClrMapping/>
  </p:clrMapOvr>
  <p:timing/>
</p:sld>
</file>

<file path=ppt/slides/slide13.xml><?xml version="1.0" encoding="utf-8"?>
<p:sld xmlns:a="http://schemas.openxmlformats.org/drawingml/2006/main" xmlns:r="http://schemas.openxmlformats.org/officeDocument/2006/relationships" xmlns:p="http://schemas.openxmlformats.org/presentationml/2006/main" showMasterSp="1">
  <p:cSld>
    <p:spTree>
      <p:nvGrpSpPr>
        <p:cNvPr id="85" name=""/>
        <p:cNvGrpSpPr/>
        <p:nvPr/>
      </p:nvGrpSpPr>
      <p:grpSpPr>
        <a:xfrm rot="0">
          <a:off x="0" y="0"/>
          <a:ext cx="0" cy="0"/>
          <a:chOff x="0" y="0"/>
          <a:chExt cx="0" cy="0"/>
        </a:xfrm>
      </p:grpSpPr>
      <p:sp>
        <p:nvSpPr>
          <p:cNvPr id="1048676" name="Title 1"/>
          <p:cNvSpPr/>
          <p:nvPr>
            <p:ph type="title" sz="full" idx="0"/>
          </p:nvPr>
        </p:nvSpPr>
        <p:spPr>
          <a:xfrm rot="0">
            <a:off x="250825" y="106362"/>
            <a:ext cx="7772400" cy="917575"/>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800" lang="en-GB">
                <a:solidFill>
                  <a:schemeClr val="accent2"/>
                </a:solidFill>
                <a:latin typeface="Comic Sans MS" pitchFamily="66" charset="0"/>
              </a:rPr>
              <a:t>Membership Function</a:t>
            </a:r>
          </a:p>
        </p:txBody>
      </p:sp>
      <p:sp>
        <p:nvSpPr>
          <p:cNvPr id="1048677"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13</a:t>
            </a:fld>
            <a:endParaRPr altLang="en-US" sz="1400" lang="en-US"/>
          </a:p>
        </p:txBody>
      </p:sp>
      <p:sp>
        <p:nvSpPr>
          <p:cNvPr id="1048678" name="TextBox 8"/>
          <p:cNvSpPr txBox="1"/>
          <p:nvPr/>
        </p:nvSpPr>
        <p:spPr>
          <a:xfrm rot="0">
            <a:off x="338137" y="3592512"/>
            <a:ext cx="8050212" cy="147796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285750" lvl="0" marL="285750">
              <a:spcBef>
                <a:spcPct val="0"/>
              </a:spcBef>
            </a:pPr>
            <a:r>
              <a:rPr altLang="en-US" sz="1800" lang="en-US">
                <a:latin typeface="Comic Sans MS" pitchFamily="66" charset="0"/>
              </a:rPr>
              <a:t>Example (degrees at 32 °C)From the plotted functions (triangular definitions):</a:t>
            </a:r>
          </a:p>
          <a:p>
            <a:pPr algn="just" indent="-285750" lvl="0" marL="285750">
              <a:spcBef>
                <a:spcPct val="0"/>
              </a:spcBef>
            </a:pPr>
            <a:r>
              <a:rPr altLang="en-US" sz="1800" lang="en-US">
                <a:latin typeface="Comic Sans MS" pitchFamily="66" charset="0"/>
              </a:rPr>
              <a:t>μ</a:t>
            </a:r>
            <a:r>
              <a:rPr altLang="en-US" baseline="-25000" sz="1800" lang="en-US">
                <a:latin typeface="Comic Sans MS" pitchFamily="66" charset="0"/>
              </a:rPr>
              <a:t>Cold</a:t>
            </a:r>
            <a:r>
              <a:rPr altLang="en-US" sz="1800" lang="en-US">
                <a:latin typeface="Comic Sans MS" pitchFamily="66" charset="0"/>
              </a:rPr>
              <a:t>(32)=0.00</a:t>
            </a:r>
          </a:p>
          <a:p>
            <a:pPr algn="just" indent="-285750" lvl="0" marL="285750">
              <a:spcBef>
                <a:spcPct val="0"/>
              </a:spcBef>
            </a:pPr>
            <a:r>
              <a:rPr altLang="en-US" sz="1800" lang="en-US">
                <a:latin typeface="Comic Sans MS" pitchFamily="66" charset="0"/>
              </a:rPr>
              <a:t>μ</a:t>
            </a:r>
            <a:r>
              <a:rPr altLang="en-US" baseline="-25000" sz="1800" lang="en-US">
                <a:latin typeface="Comic Sans MS" pitchFamily="66" charset="0"/>
              </a:rPr>
              <a:t>Warm</a:t>
            </a:r>
            <a:r>
              <a:rPr altLang="en-US" sz="1800" lang="en-US">
                <a:latin typeface="Comic Sans MS" pitchFamily="66" charset="0"/>
              </a:rPr>
              <a:t>(32)=0.30</a:t>
            </a:r>
          </a:p>
          <a:p>
            <a:pPr algn="just" indent="-285750" lvl="0" marL="285750">
              <a:spcBef>
                <a:spcPct val="0"/>
              </a:spcBef>
            </a:pPr>
            <a:r>
              <a:rPr altLang="en-US" sz="1800" lang="en-US">
                <a:latin typeface="Comic Sans MS" pitchFamily="66" charset="0"/>
              </a:rPr>
              <a:t>μ</a:t>
            </a:r>
            <a:r>
              <a:rPr altLang="en-US" baseline="-25000" sz="1800" lang="en-US">
                <a:latin typeface="Comic Sans MS" pitchFamily="66" charset="0"/>
              </a:rPr>
              <a:t>Hot</a:t>
            </a:r>
            <a:r>
              <a:rPr altLang="en-US" sz="1800" lang="en-US">
                <a:latin typeface="Comic Sans MS" pitchFamily="66" charset="0"/>
              </a:rPr>
              <a:t>(32)=0.40</a:t>
            </a:r>
          </a:p>
        </p:txBody>
      </p:sp>
      <p:pic>
        <p:nvPicPr>
          <p:cNvPr id="2097168" name="Picture 9"/>
          <p:cNvPicPr>
            <a:picLocks/>
          </p:cNvPicPr>
          <p:nvPr/>
        </p:nvPicPr>
        <p:blipFill>
          <a:blip xmlns:r="http://schemas.openxmlformats.org/officeDocument/2006/relationships" r:embed="rId1"/>
          <a:srcRect l="0" t="0" r="0" b="0"/>
          <a:stretch>
            <a:fillRect/>
          </a:stretch>
        </p:blipFill>
        <p:spPr>
          <a:xfrm rot="0">
            <a:off x="2141537" y="935037"/>
            <a:ext cx="4260850" cy="2373312"/>
          </a:xfrm>
          <a:prstGeom prst="rect"/>
          <a:noFill/>
          <a:ln>
            <a:noFill/>
          </a:ln>
        </p:spPr>
      </p:pic>
      <p:sp>
        <p:nvSpPr>
          <p:cNvPr id="1048679" name="TextBox 10"/>
          <p:cNvSpPr txBox="1"/>
          <p:nvPr/>
        </p:nvSpPr>
        <p:spPr>
          <a:xfrm rot="0">
            <a:off x="338137" y="5070475"/>
            <a:ext cx="8050212" cy="64611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1800" lang="en-US" u="sng">
                <a:latin typeface="Comic Sans MS" pitchFamily="66" charset="0"/>
              </a:rPr>
              <a:t>Interpretation:</a:t>
            </a:r>
            <a:r>
              <a:rPr altLang="en-US" sz="1800" lang="en-US">
                <a:latin typeface="Comic Sans MS" pitchFamily="66" charset="0"/>
              </a:rPr>
              <a:t> at 32 °C the air is “somewhat warm” (0.3) and “fairly hot” (0.4) at the same time; it isn’t cold. </a:t>
            </a:r>
          </a:p>
        </p:txBody>
      </p:sp>
    </p:spTree>
  </p:cSld>
  <p:clrMapOvr>
    <a:masterClrMapping/>
  </p:clrMapOvr>
  <p:timing/>
</p:sld>
</file>

<file path=ppt/slides/slide14.xml><?xml version="1.0" encoding="utf-8"?>
<p:sld xmlns:a="http://schemas.openxmlformats.org/drawingml/2006/main" xmlns:r="http://schemas.openxmlformats.org/officeDocument/2006/relationships" xmlns:p="http://schemas.openxmlformats.org/presentationml/2006/main" showMasterSp="1">
  <p:cSld>
    <p:spTree>
      <p:nvGrpSpPr>
        <p:cNvPr id="86" name=""/>
        <p:cNvGrpSpPr/>
        <p:nvPr/>
      </p:nvGrpSpPr>
      <p:grpSpPr>
        <a:xfrm rot="0">
          <a:off x="0" y="0"/>
          <a:ext cx="0" cy="0"/>
          <a:chOff x="0" y="0"/>
          <a:chExt cx="0" cy="0"/>
        </a:xfrm>
      </p:grpSpPr>
      <p:sp>
        <p:nvSpPr>
          <p:cNvPr id="1048680" name="Title 1"/>
          <p:cNvSpPr/>
          <p:nvPr>
            <p:ph type="title" sz="full" idx="0"/>
          </p:nvPr>
        </p:nvSpPr>
        <p:spPr>
          <a:xfrm rot="0">
            <a:off x="468312" y="152400"/>
            <a:ext cx="7772400" cy="8636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Fuzzy Operation</a:t>
            </a:r>
          </a:p>
        </p:txBody>
      </p:sp>
      <p:sp>
        <p:nvSpPr>
          <p:cNvPr id="1048681"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14</a:t>
            </a:fld>
            <a:endParaRPr altLang="en-US" sz="1400" lang="en-US"/>
          </a:p>
        </p:txBody>
      </p:sp>
      <p:sp>
        <p:nvSpPr>
          <p:cNvPr id="1048682" name="TextBox 10"/>
          <p:cNvSpPr txBox="1"/>
          <p:nvPr/>
        </p:nvSpPr>
        <p:spPr>
          <a:xfrm rot="0">
            <a:off x="328612" y="1103312"/>
            <a:ext cx="8050212" cy="923925"/>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285750" lvl="0" marL="285750">
              <a:spcBef>
                <a:spcPct val="0"/>
              </a:spcBef>
            </a:pPr>
            <a:r>
              <a:rPr altLang="en-US" sz="1800" lang="en-US">
                <a:latin typeface="Comic Sans MS" pitchFamily="66" charset="0"/>
              </a:rPr>
              <a:t>Union: The membership function of the union of two fuzzy sets A and B is defined as the maximum of the two individual membership function, It is equivalent to the Boolean OR operation.  </a:t>
            </a:r>
          </a:p>
        </p:txBody>
      </p:sp>
      <p:pic>
        <p:nvPicPr>
          <p:cNvPr id="2097169" name="Picture 8"/>
          <p:cNvPicPr>
            <a:picLocks/>
          </p:cNvPicPr>
          <p:nvPr/>
        </p:nvPicPr>
        <p:blipFill>
          <a:blip xmlns:r="http://schemas.openxmlformats.org/officeDocument/2006/relationships" r:embed="rId1"/>
          <a:srcRect l="0" t="0" r="0" b="0"/>
          <a:stretch>
            <a:fillRect/>
          </a:stretch>
        </p:blipFill>
        <p:spPr>
          <a:xfrm rot="0">
            <a:off x="3348037" y="2205037"/>
            <a:ext cx="2332037" cy="274637"/>
          </a:xfrm>
          <a:prstGeom prst="rect"/>
          <a:noFill/>
          <a:ln>
            <a:noFill/>
          </a:ln>
        </p:spPr>
      </p:pic>
      <p:sp>
        <p:nvSpPr>
          <p:cNvPr id="1048683" name="TextBox 15"/>
          <p:cNvSpPr txBox="1"/>
          <p:nvPr/>
        </p:nvSpPr>
        <p:spPr>
          <a:xfrm rot="0">
            <a:off x="328612" y="2647950"/>
            <a:ext cx="8050212" cy="923925"/>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285750" lvl="0" marL="285750">
              <a:spcBef>
                <a:spcPct val="0"/>
              </a:spcBef>
            </a:pPr>
            <a:r>
              <a:rPr altLang="en-US" sz="1800" lang="en-US">
                <a:latin typeface="Comic Sans MS" pitchFamily="66" charset="0"/>
              </a:rPr>
              <a:t>Intersection: The membership function of the intersection of two fuzzy sets A and B is defined as the minimum of the two individual membership functions and is equivalent to the Boolean AND operatio,</a:t>
            </a:r>
          </a:p>
        </p:txBody>
      </p:sp>
      <p:pic>
        <p:nvPicPr>
          <p:cNvPr id="2097170" name="Picture 14"/>
          <p:cNvPicPr>
            <a:picLocks/>
          </p:cNvPicPr>
          <p:nvPr/>
        </p:nvPicPr>
        <p:blipFill>
          <a:blip xmlns:r="http://schemas.openxmlformats.org/officeDocument/2006/relationships" r:embed="rId2"/>
          <a:srcRect l="0" t="0" r="0" b="0"/>
          <a:stretch>
            <a:fillRect/>
          </a:stretch>
        </p:blipFill>
        <p:spPr>
          <a:xfrm rot="0">
            <a:off x="3321050" y="3719512"/>
            <a:ext cx="2501900" cy="376237"/>
          </a:xfrm>
          <a:prstGeom prst="rect"/>
          <a:noFill/>
          <a:ln>
            <a:noFill/>
          </a:ln>
        </p:spPr>
      </p:pic>
      <p:sp>
        <p:nvSpPr>
          <p:cNvPr id="1048684" name="TextBox 20"/>
          <p:cNvSpPr txBox="1"/>
          <p:nvPr/>
        </p:nvSpPr>
        <p:spPr>
          <a:xfrm rot="0">
            <a:off x="328612" y="4165600"/>
            <a:ext cx="8050212" cy="923925"/>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285750" lvl="0" marL="285750">
              <a:spcBef>
                <a:spcPct val="0"/>
              </a:spcBef>
            </a:pPr>
            <a:r>
              <a:rPr altLang="en-US" sz="1800" lang="en-US">
                <a:latin typeface="Comic Sans MS" pitchFamily="66" charset="0"/>
              </a:rPr>
              <a:t>Complement: The membership function of the complement of a fuzzy set A is defined as the negation of the specified membership function. This is equivalent to Boolean NOT operation.</a:t>
            </a:r>
          </a:p>
        </p:txBody>
      </p:sp>
      <p:pic>
        <p:nvPicPr>
          <p:cNvPr id="2097171" name="Picture 19"/>
          <p:cNvPicPr>
            <a:picLocks/>
          </p:cNvPicPr>
          <p:nvPr/>
        </p:nvPicPr>
        <p:blipFill>
          <a:blip xmlns:r="http://schemas.openxmlformats.org/officeDocument/2006/relationships" r:embed="rId3"/>
          <a:srcRect l="0" t="0" r="0" b="0"/>
          <a:stretch>
            <a:fillRect/>
          </a:stretch>
        </p:blipFill>
        <p:spPr>
          <a:xfrm rot="0">
            <a:off x="3706812" y="5202237"/>
            <a:ext cx="1512887" cy="466725"/>
          </a:xfrm>
          <a:prstGeom prst="rect"/>
          <a:noFill/>
          <a:ln>
            <a:noFill/>
          </a:ln>
        </p:spPr>
      </p:pic>
    </p:spTree>
  </p:cSld>
  <p:clrMapOvr>
    <a:masterClrMapping/>
  </p:clrMapOvr>
  <p:timing/>
</p:sld>
</file>

<file path=ppt/slides/slide15.xml><?xml version="1.0" encoding="utf-8"?>
<p:sld xmlns:a="http://schemas.openxmlformats.org/drawingml/2006/main" xmlns:r="http://schemas.openxmlformats.org/officeDocument/2006/relationships" xmlns:p="http://schemas.openxmlformats.org/presentationml/2006/main" showMasterSp="1">
  <p:cSld>
    <p:spTree>
      <p:nvGrpSpPr>
        <p:cNvPr id="87" name=""/>
        <p:cNvGrpSpPr/>
        <p:nvPr/>
      </p:nvGrpSpPr>
      <p:grpSpPr>
        <a:xfrm rot="0">
          <a:off x="0" y="0"/>
          <a:ext cx="0" cy="0"/>
          <a:chOff x="0" y="0"/>
          <a:chExt cx="0" cy="0"/>
        </a:xfrm>
      </p:grpSpPr>
      <p:sp>
        <p:nvSpPr>
          <p:cNvPr id="1048685" name="Title 1"/>
          <p:cNvSpPr/>
          <p:nvPr>
            <p:ph type="title" sz="full" idx="0"/>
          </p:nvPr>
        </p:nvSpPr>
        <p:spPr>
          <a:xfrm rot="0">
            <a:off x="468312" y="152400"/>
            <a:ext cx="7772400" cy="8636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Fuzzy Operation</a:t>
            </a:r>
          </a:p>
        </p:txBody>
      </p:sp>
      <p:sp>
        <p:nvSpPr>
          <p:cNvPr id="1048686"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15</a:t>
            </a:fld>
            <a:endParaRPr altLang="en-US" sz="1400" lang="en-US"/>
          </a:p>
        </p:txBody>
      </p:sp>
      <p:pic>
        <p:nvPicPr>
          <p:cNvPr id="2097172" name="Picture 2"/>
          <p:cNvPicPr>
            <a:picLocks/>
          </p:cNvPicPr>
          <p:nvPr/>
        </p:nvPicPr>
        <p:blipFill>
          <a:blip xmlns:r="http://schemas.openxmlformats.org/officeDocument/2006/relationships" r:embed="rId1"/>
          <a:srcRect l="0" t="0" r="0" b="0"/>
          <a:stretch>
            <a:fillRect/>
          </a:stretch>
        </p:blipFill>
        <p:spPr>
          <a:xfrm rot="0">
            <a:off x="539750" y="914400"/>
            <a:ext cx="5256212" cy="1362075"/>
          </a:xfrm>
          <a:prstGeom prst="rect"/>
          <a:noFill/>
          <a:ln>
            <a:noFill/>
          </a:ln>
        </p:spPr>
      </p:pic>
      <p:pic>
        <p:nvPicPr>
          <p:cNvPr id="2097173" name="Picture 4"/>
          <p:cNvPicPr>
            <a:picLocks/>
          </p:cNvPicPr>
          <p:nvPr/>
        </p:nvPicPr>
        <p:blipFill>
          <a:blip xmlns:r="http://schemas.openxmlformats.org/officeDocument/2006/relationships" r:embed="rId2"/>
          <a:srcRect l="0" t="0" r="0" b="0"/>
          <a:stretch>
            <a:fillRect/>
          </a:stretch>
        </p:blipFill>
        <p:spPr>
          <a:xfrm rot="0">
            <a:off x="539750" y="2389187"/>
            <a:ext cx="6057900" cy="1692275"/>
          </a:xfrm>
          <a:prstGeom prst="rect"/>
          <a:noFill/>
          <a:ln>
            <a:noFill/>
          </a:ln>
        </p:spPr>
      </p:pic>
      <p:pic>
        <p:nvPicPr>
          <p:cNvPr id="2097174" name="Picture 6"/>
          <p:cNvPicPr>
            <a:picLocks/>
          </p:cNvPicPr>
          <p:nvPr/>
        </p:nvPicPr>
        <p:blipFill>
          <a:blip xmlns:r="http://schemas.openxmlformats.org/officeDocument/2006/relationships" r:embed="rId3"/>
          <a:srcRect l="0" t="0" r="0" b="0"/>
          <a:stretch>
            <a:fillRect/>
          </a:stretch>
        </p:blipFill>
        <p:spPr>
          <a:xfrm rot="0">
            <a:off x="611187" y="4111625"/>
            <a:ext cx="6294437" cy="1616075"/>
          </a:xfrm>
          <a:prstGeom prst="rect"/>
          <a:noFill/>
          <a:ln>
            <a:noFill/>
          </a:ln>
        </p:spPr>
      </p:pic>
      <p:sp>
        <p:nvSpPr>
          <p:cNvPr id="1048687" name="TextBox 1"/>
          <p:cNvSpPr txBox="1"/>
          <p:nvPr/>
        </p:nvSpPr>
        <p:spPr>
          <a:xfrm rot="0">
            <a:off x="4114800" y="2971800"/>
            <a:ext cx="0" cy="369887"/>
          </a:xfrm>
          <a:prstGeom prst="rect"/>
          <a:noFill/>
          <a:ln>
            <a:noFill/>
          </a:ln>
        </p:spPr>
        <p:txBody>
          <a:bodyPr anchor="t" bIns="0" lIns="0" rIns="0" tIns="0" vert="horz" wrap="none">
            <a:spAutoFit/>
          </a:bodyPr>
          <a:lstStyle>
            <a:lvl1pPr algn="l" eaLnBrk="0" fontAlgn="base" hangingPunct="0" indent="0" latinLnBrk="0" marL="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1pPr>
            <a:lvl2pPr algn="l" eaLnBrk="0" fontAlgn="base" hangingPunct="0" indent="0" latinLnBrk="0" marL="4572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2pPr>
            <a:lvl3pPr algn="l" eaLnBrk="0" fontAlgn="base" hangingPunct="0" indent="0" latinLnBrk="0" marL="9144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3pPr>
            <a:lvl4pPr algn="l" eaLnBrk="0" fontAlgn="base" hangingPunct="0" indent="0" latinLnBrk="0" marL="13716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4pPr>
            <a:lvl5pPr algn="l" eaLnBrk="0" fontAlgn="base" hangingPunct="0" indent="0" latinLnBrk="0" marL="18288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5pPr>
          </a:lstStyle>
          <a:p>
            <a:endParaRPr altLang="en-US" lang="en-US"/>
          </a:p>
        </p:txBody>
      </p:sp>
    </p:spTree>
  </p:cSld>
  <p:clrMapOvr>
    <a:masterClrMapping/>
  </p:clrMapOvr>
  <p:timing/>
</p:sld>
</file>

<file path=ppt/slides/slide16.xml><?xml version="1.0" encoding="utf-8"?>
<p:sld xmlns:a="http://schemas.openxmlformats.org/drawingml/2006/main" xmlns:r="http://schemas.openxmlformats.org/officeDocument/2006/relationships" xmlns:p="http://schemas.openxmlformats.org/presentationml/2006/main" showMasterSp="1">
  <p:cSld>
    <p:spTree>
      <p:nvGrpSpPr>
        <p:cNvPr id="60" name=""/>
        <p:cNvGrpSpPr/>
        <p:nvPr/>
      </p:nvGrpSpPr>
      <p:grpSpPr>
        <a:xfrm rot="0">
          <a:off x="0" y="0"/>
          <a:ext cx="0" cy="0"/>
          <a:chOff x="0" y="0"/>
          <a:chExt cx="0" cy="0"/>
        </a:xfrm>
      </p:grpSpPr>
      <p:sp>
        <p:nvSpPr>
          <p:cNvPr id="1048599" name="Title 1"/>
          <p:cNvSpPr/>
          <p:nvPr>
            <p:ph type="title" sz="full" idx="0"/>
          </p:nvPr>
        </p:nvSpPr>
        <p:spPr>
          <a:xfrm rot="0">
            <a:off x="252412" y="152400"/>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Linguistic Variable</a:t>
            </a:r>
          </a:p>
        </p:txBody>
      </p:sp>
      <p:sp>
        <p:nvSpPr>
          <p:cNvPr id="1048600"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16</a:t>
            </a:fld>
            <a:endParaRPr altLang="en-US" sz="1400" lang="en-US"/>
          </a:p>
        </p:txBody>
      </p:sp>
      <p:sp>
        <p:nvSpPr>
          <p:cNvPr id="1048601" name="Content Placeholder 1"/>
          <p:cNvSpPr txBox="1"/>
          <p:nvPr/>
        </p:nvSpPr>
        <p:spPr>
          <a:xfrm rot="0">
            <a:off x="395287" y="1125537"/>
            <a:ext cx="7772400" cy="3373437"/>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342900" lvl="0" marL="342900"/>
            <a:r>
              <a:rPr altLang="en-US" sz="1800" lang="en-US">
                <a:latin typeface="Comic Sans MS" pitchFamily="66" charset="0"/>
              </a:rPr>
              <a:t>A linguistic variable is a variable whose values are words or sentences in natural language, rather than numerical values.</a:t>
            </a:r>
          </a:p>
          <a:p>
            <a:pPr algn="just" indent="-342900" lvl="0" marL="342900"/>
            <a:r>
              <a:rPr altLang="en-US" sz="1800" lang="en-US">
                <a:latin typeface="Comic Sans MS" pitchFamily="66" charset="0"/>
              </a:rPr>
              <a:t>Example: Temperature</a:t>
            </a:r>
          </a:p>
          <a:p>
            <a:pPr algn="just" indent="-342900" lvl="0" marL="342900"/>
            <a:endParaRPr altLang="en-US" sz="1800" lang="en-US">
              <a:latin typeface="Comic Sans MS" pitchFamily="66" charset="0"/>
            </a:endParaRPr>
          </a:p>
          <a:p>
            <a:pPr algn="just" indent="-342900" lvl="0" marL="342900"/>
            <a:r>
              <a:rPr altLang="en-US" sz="1800" lang="en-US">
                <a:latin typeface="Comic Sans MS" pitchFamily="66" charset="0"/>
              </a:rPr>
              <a:t>Linguistic Values</a:t>
            </a:r>
          </a:p>
          <a:p>
            <a:pPr algn="just" indent="-342900" lvl="0" marL="342900"/>
            <a:r>
              <a:rPr altLang="en-US" sz="1800" lang="en-US">
                <a:latin typeface="Comic Sans MS" pitchFamily="66" charset="0"/>
              </a:rPr>
              <a:t>The linguistic values of a linguistic variable are the qualitative categories it can take.</a:t>
            </a:r>
          </a:p>
          <a:p>
            <a:pPr algn="just" indent="-342900" lvl="0" marL="342900"/>
            <a:r>
              <a:rPr altLang="en-US" sz="1800" lang="en-US">
                <a:latin typeface="Comic Sans MS" pitchFamily="66" charset="0"/>
              </a:rPr>
              <a:t>Example for Temperature:</a:t>
            </a:r>
          </a:p>
          <a:p>
            <a:pPr algn="just" indent="-342900" lvl="0" marL="342900">
              <a:buFontTx/>
              <a:buNone/>
            </a:pPr>
            <a:endParaRPr altLang="en-US" sz="1800" lang="en-US">
              <a:latin typeface="Comic Sans MS" pitchFamily="66" charset="0"/>
            </a:endParaRPr>
          </a:p>
          <a:p>
            <a:pPr algn="just" indent="-445770" lvl="1" marL="742950"/>
            <a:r>
              <a:rPr altLang="en-US" sz="1800" lang="en-US">
                <a:latin typeface="Comic Sans MS" pitchFamily="66" charset="0"/>
              </a:rPr>
              <a:t>Cold</a:t>
            </a:r>
          </a:p>
          <a:p>
            <a:pPr algn="just" indent="-445770" lvl="1" marL="742950"/>
            <a:r>
              <a:rPr altLang="en-US" sz="1800" lang="en-US">
                <a:latin typeface="Comic Sans MS" pitchFamily="66" charset="0"/>
              </a:rPr>
              <a:t>Warm</a:t>
            </a:r>
          </a:p>
          <a:p>
            <a:pPr algn="just" indent="-445770" lvl="1" marL="742950"/>
            <a:r>
              <a:rPr altLang="en-US" sz="1800" lang="en-US">
                <a:latin typeface="Comic Sans MS" pitchFamily="66" charset="0"/>
              </a:rPr>
              <a:t>Hot</a:t>
            </a:r>
          </a:p>
        </p:txBody>
      </p:sp>
    </p:spTree>
  </p:cSld>
  <p:clrMapOvr>
    <a:masterClrMapping/>
  </p:clrMapOvr>
  <p:timing/>
</p:sld>
</file>

<file path=ppt/slides/slide17.xml><?xml version="1.0" encoding="utf-8"?>
<p:sld xmlns:a="http://schemas.openxmlformats.org/drawingml/2006/main" xmlns:r="http://schemas.openxmlformats.org/officeDocument/2006/relationships" xmlns:p="http://schemas.openxmlformats.org/presentationml/2006/main" showMasterSp="1">
  <p:cSld>
    <p:spTree>
      <p:nvGrpSpPr>
        <p:cNvPr id="58" name=""/>
        <p:cNvGrpSpPr/>
        <p:nvPr/>
      </p:nvGrpSpPr>
      <p:grpSpPr>
        <a:xfrm rot="0">
          <a:off x="0" y="0"/>
          <a:ext cx="0" cy="0"/>
          <a:chOff x="0" y="0"/>
          <a:chExt cx="0" cy="0"/>
        </a:xfrm>
      </p:grpSpPr>
      <p:sp>
        <p:nvSpPr>
          <p:cNvPr id="1048593" name="Title 1"/>
          <p:cNvSpPr/>
          <p:nvPr>
            <p:ph type="title" sz="full" idx="0"/>
          </p:nvPr>
        </p:nvSpPr>
        <p:spPr>
          <a:xfrm rot="0">
            <a:off x="252412" y="152400"/>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Linguistic Variable</a:t>
            </a:r>
          </a:p>
        </p:txBody>
      </p:sp>
      <p:sp>
        <p:nvSpPr>
          <p:cNvPr id="1048594"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17</a:t>
            </a:fld>
            <a:endParaRPr altLang="en-US" sz="1400" lang="en-US"/>
          </a:p>
        </p:txBody>
      </p:sp>
      <p:sp>
        <p:nvSpPr>
          <p:cNvPr id="1048595" name="Content Placeholder 1"/>
          <p:cNvSpPr txBox="1"/>
          <p:nvPr/>
        </p:nvSpPr>
        <p:spPr>
          <a:xfrm rot="0">
            <a:off x="395287" y="1484312"/>
            <a:ext cx="7772400" cy="3375025"/>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342900" lvl="0" marL="342900"/>
            <a:r>
              <a:rPr altLang="en-US" sz="1800" lang="en-US">
                <a:latin typeface="Comic Sans MS" pitchFamily="66" charset="0"/>
              </a:rPr>
              <a:t>In fuzzy expert systems, linguistic variable are used in fuzzy rules. For example:</a:t>
            </a:r>
          </a:p>
          <a:p>
            <a:pPr algn="just" indent="-342900" lvl="0" marL="342900"/>
            <a:endParaRPr altLang="en-US" sz="1800" lang="en-US">
              <a:latin typeface="Comic Sans MS" pitchFamily="66" charset="0"/>
            </a:endParaRPr>
          </a:p>
          <a:p>
            <a:pPr algn="just" indent="-342900" lvl="0" marL="342900">
              <a:buFontTx/>
              <a:buNone/>
            </a:pPr>
            <a:r>
              <a:rPr altLang="en-US" sz="1800" lang="en-US">
                <a:latin typeface="Comic Sans MS" pitchFamily="66" charset="0"/>
              </a:rPr>
              <a:t>	IF	wind is strong</a:t>
            </a:r>
          </a:p>
          <a:p>
            <a:pPr algn="just" indent="-342900" lvl="0" marL="342900">
              <a:buFontTx/>
              <a:buNone/>
            </a:pPr>
            <a:r>
              <a:rPr altLang="en-US" sz="1800" lang="en-US">
                <a:latin typeface="Comic Sans MS" pitchFamily="66" charset="0"/>
              </a:rPr>
              <a:t>	THEN 	sailing is good</a:t>
            </a:r>
          </a:p>
          <a:p>
            <a:pPr algn="just" indent="-342900" lvl="0" marL="342900"/>
            <a:endParaRPr altLang="en-US" sz="1800" lang="en-US">
              <a:latin typeface="Comic Sans MS" pitchFamily="66" charset="0"/>
            </a:endParaRPr>
          </a:p>
          <a:p>
            <a:pPr algn="just" indent="-342900" lvl="0" marL="342900">
              <a:buFontTx/>
              <a:buNone/>
            </a:pPr>
            <a:r>
              <a:rPr altLang="en-US" sz="1800" lang="en-US">
                <a:latin typeface="Comic Sans MS" pitchFamily="66" charset="0"/>
              </a:rPr>
              <a:t>	IF 	project_duration is long</a:t>
            </a:r>
          </a:p>
          <a:p>
            <a:pPr algn="just" indent="-342900" lvl="0" marL="342900">
              <a:buFontTx/>
              <a:buNone/>
            </a:pPr>
            <a:r>
              <a:rPr altLang="en-US" sz="1800" lang="en-US">
                <a:latin typeface="Comic Sans MS" pitchFamily="66" charset="0"/>
              </a:rPr>
              <a:t>	THEN  	completion_risk is high</a:t>
            </a:r>
          </a:p>
          <a:p>
            <a:pPr algn="just" indent="-342900" lvl="0" marL="342900"/>
            <a:endParaRPr altLang="en-US" sz="1800" lang="en-US">
              <a:latin typeface="Comic Sans MS" pitchFamily="66" charset="0"/>
            </a:endParaRPr>
          </a:p>
          <a:p>
            <a:pPr algn="just" indent="-342900" lvl="0" marL="342900">
              <a:buFontTx/>
              <a:buNone/>
            </a:pPr>
            <a:r>
              <a:rPr altLang="en-US" sz="1800" lang="en-US">
                <a:latin typeface="Comic Sans MS" pitchFamily="66" charset="0"/>
              </a:rPr>
              <a:t>	IF	speed is slow</a:t>
            </a:r>
          </a:p>
          <a:p>
            <a:pPr algn="just" indent="-342900" lvl="0" marL="342900">
              <a:buFontTx/>
              <a:buNone/>
            </a:pPr>
            <a:r>
              <a:rPr altLang="en-US" sz="1800" lang="en-US">
                <a:latin typeface="Comic Sans MS" pitchFamily="66" charset="0"/>
              </a:rPr>
              <a:t>	THEN 	stopping_distance is short</a:t>
            </a:r>
          </a:p>
          <a:p>
            <a:pPr algn="just" indent="-342900" lvl="0" marL="342900">
              <a:buFontTx/>
              <a:buNone/>
            </a:pPr>
            <a:endParaRPr altLang="en-US" sz="2800" lang="en-US">
              <a:latin typeface="Comic Sans MS" pitchFamily="66" charset="0"/>
            </a:endParaRPr>
          </a:p>
        </p:txBody>
      </p:sp>
    </p:spTree>
  </p:cSld>
  <p:clrMapOvr>
    <a:masterClrMapping/>
  </p:clrMapOvr>
  <p:timing/>
</p:sld>
</file>

<file path=ppt/slides/slide18.xml><?xml version="1.0" encoding="utf-8"?>
<p:sld xmlns:a="http://schemas.openxmlformats.org/drawingml/2006/main" xmlns:r="http://schemas.openxmlformats.org/officeDocument/2006/relationships" xmlns:p="http://schemas.openxmlformats.org/presentationml/2006/main" showMasterSp="1">
  <p:cSld>
    <p:spTree>
      <p:nvGrpSpPr>
        <p:cNvPr id="56" name=""/>
        <p:cNvGrpSpPr/>
        <p:nvPr/>
      </p:nvGrpSpPr>
      <p:grpSpPr>
        <a:xfrm rot="0">
          <a:off x="0" y="0"/>
          <a:ext cx="0" cy="0"/>
          <a:chOff x="0" y="0"/>
          <a:chExt cx="0" cy="0"/>
        </a:xfrm>
      </p:grpSpPr>
      <p:sp>
        <p:nvSpPr>
          <p:cNvPr id="1048588" name="Title 1"/>
          <p:cNvSpPr/>
          <p:nvPr>
            <p:ph type="title" sz="full" idx="0"/>
          </p:nvPr>
        </p:nvSpPr>
        <p:spPr>
          <a:xfrm rot="0">
            <a:off x="611187" y="117475"/>
            <a:ext cx="66929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Linguistic Variable and Hedges</a:t>
            </a:r>
          </a:p>
        </p:txBody>
      </p:sp>
      <p:sp>
        <p:nvSpPr>
          <p:cNvPr id="1048589"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18</a:t>
            </a:fld>
            <a:endParaRPr altLang="en-US" sz="1400" lang="en-US"/>
          </a:p>
        </p:txBody>
      </p:sp>
      <p:sp>
        <p:nvSpPr>
          <p:cNvPr id="1048590" name="Content Placeholder 1"/>
          <p:cNvSpPr/>
          <p:nvPr>
            <p:ph sz="full" idx="1"/>
          </p:nvPr>
        </p:nvSpPr>
        <p:spPr>
          <a:xfrm rot="0">
            <a:off x="323850" y="1125537"/>
            <a:ext cx="8351837" cy="41148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lvl="0"/>
            <a:r>
              <a:rPr altLang="en-US" sz="1800" lang="en-US">
                <a:latin typeface="Comic Sans MS" pitchFamily="66" charset="0"/>
              </a:rPr>
              <a:t>In fuzzy logic, hedges are operations applied to linguistic values (like "hot", "tall") to modify their meaning — usually intensifying or weakening them.</a:t>
            </a:r>
          </a:p>
          <a:p>
            <a:pPr algn="just" lvl="0"/>
            <a:r>
              <a:rPr altLang="en-US" sz="1800" lang="en-US">
                <a:latin typeface="Comic Sans MS" pitchFamily="66" charset="0"/>
              </a:rPr>
              <a:t>Common hedges:</a:t>
            </a:r>
          </a:p>
          <a:p>
            <a:pPr algn="just" lvl="1">
              <a:buFont typeface="Wingdings" pitchFamily="2" charset="2"/>
              <a:buChar char="ü"/>
            </a:pPr>
            <a:r>
              <a:rPr altLang="en-US" sz="1800" lang="en-US">
                <a:latin typeface="Comic Sans MS" pitchFamily="66" charset="0"/>
              </a:rPr>
              <a:t>Very → narrows the membership (makes it “sharper”)</a:t>
            </a:r>
          </a:p>
          <a:p>
            <a:pPr algn="just" lvl="1">
              <a:buFont typeface="Wingdings" pitchFamily="2" charset="2"/>
              <a:buChar char="ü"/>
            </a:pPr>
            <a:r>
              <a:rPr altLang="en-US" sz="1800" lang="en-US">
                <a:latin typeface="Comic Sans MS" pitchFamily="66" charset="0"/>
              </a:rPr>
              <a:t>More or less → broadens the membership (makes it “softer”)</a:t>
            </a:r>
          </a:p>
          <a:p>
            <a:pPr algn="just" lvl="1">
              <a:buFont typeface="Wingdings" pitchFamily="2" charset="2"/>
              <a:buChar char="ü"/>
            </a:pPr>
            <a:r>
              <a:rPr altLang="en-US" sz="1800" lang="en-US">
                <a:latin typeface="Comic Sans MS" pitchFamily="66" charset="0"/>
              </a:rPr>
              <a:t>Extremely, slightly, etc. work similarly</a:t>
            </a:r>
          </a:p>
          <a:p>
            <a:pPr algn="just" lvl="1">
              <a:buFont typeface="Wingdings" pitchFamily="2" charset="2"/>
              <a:buChar char="ü"/>
            </a:pPr>
            <a:endParaRPr altLang="en-US" sz="1800" lang="en-US">
              <a:latin typeface="Comic Sans MS" pitchFamily="66" charset="0"/>
            </a:endParaRPr>
          </a:p>
          <a:p>
            <a:pPr algn="just" lvl="1">
              <a:buFont typeface="Arial" pitchFamily="34" charset="0"/>
              <a:buChar char="•"/>
            </a:pPr>
            <a:r>
              <a:rPr altLang="en-US" sz="1800" lang="en-US">
                <a:latin typeface="Comic Sans MS" pitchFamily="66" charset="0"/>
              </a:rPr>
              <a:t>Example: If Tall is a fuzzy set, then:</a:t>
            </a:r>
          </a:p>
          <a:p>
            <a:pPr algn="just" indent="-285750" lvl="2" marL="742950">
              <a:buFont typeface="Wingdings" pitchFamily="2" charset="2"/>
              <a:buChar char="ü"/>
            </a:pPr>
            <a:r>
              <a:rPr altLang="en-US" sz="1800" lang="en-US">
                <a:latin typeface="Comic Sans MS" pitchFamily="66" charset="0"/>
              </a:rPr>
              <a:t>Very Tall → gives higher degree of membership only to the tallest people</a:t>
            </a:r>
          </a:p>
          <a:p>
            <a:pPr algn="just" indent="-285750" lvl="2" marL="742950">
              <a:buFont typeface="Wingdings" pitchFamily="2" charset="2"/>
              <a:buChar char="ü"/>
            </a:pPr>
            <a:r>
              <a:rPr altLang="en-US" sz="1800" lang="en-US">
                <a:latin typeface="Comic Sans MS" pitchFamily="66" charset="0"/>
              </a:rPr>
              <a:t>Slightly Tall → allows people with average height to have partial membership</a:t>
            </a:r>
          </a:p>
        </p:txBody>
      </p:sp>
    </p:spTree>
  </p:cSld>
  <p:clrMapOvr>
    <a:masterClrMapping/>
  </p:clrMapOvr>
  <p:timing/>
</p:sld>
</file>

<file path=ppt/slides/slide19.xml><?xml version="1.0" encoding="utf-8"?>
<p:sld xmlns:a="http://schemas.openxmlformats.org/drawingml/2006/main" xmlns:r="http://schemas.openxmlformats.org/officeDocument/2006/relationships" xmlns:p="http://schemas.openxmlformats.org/presentationml/2006/main" showMasterSp="1">
  <p:cSld>
    <p:spTree>
      <p:nvGrpSpPr>
        <p:cNvPr id="41" name=""/>
        <p:cNvGrpSpPr/>
        <p:nvPr/>
      </p:nvGrpSpPr>
      <p:grpSpPr>
        <a:xfrm rot="0">
          <a:off x="0" y="0"/>
          <a:ext cx="0" cy="0"/>
          <a:chOff x="0" y="0"/>
          <a:chExt cx="0" cy="0"/>
        </a:xfrm>
      </p:grpSpPr>
      <p:sp>
        <p:nvSpPr>
          <p:cNvPr id="1048581" name="Title 1"/>
          <p:cNvSpPr/>
          <p:nvPr>
            <p:ph type="title" sz="full" idx="0"/>
          </p:nvPr>
        </p:nvSpPr>
        <p:spPr>
          <a:xfrm rot="0">
            <a:off x="611187" y="117475"/>
            <a:ext cx="66929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Linguistic Variable and Hedges</a:t>
            </a:r>
          </a:p>
        </p:txBody>
      </p:sp>
      <p:sp>
        <p:nvSpPr>
          <p:cNvPr id="1048582"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19</a:t>
            </a:fld>
            <a:endParaRPr altLang="en-US" sz="1400" lang="en-US"/>
          </a:p>
        </p:txBody>
      </p:sp>
      <p:sp>
        <p:nvSpPr>
          <p:cNvPr id="1048583" name="Content Placeholder 1"/>
          <p:cNvSpPr/>
          <p:nvPr>
            <p:ph sz="full" idx="1"/>
          </p:nvPr>
        </p:nvSpPr>
        <p:spPr>
          <a:xfrm rot="0">
            <a:off x="468312" y="4076700"/>
            <a:ext cx="8207375" cy="20574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ctr" indent="-274320" lvl="1" marL="457200">
              <a:buFontTx/>
              <a:buNone/>
            </a:pPr>
            <a:endParaRPr altLang="en-US" sz="1800" lang="en-US">
              <a:latin typeface="Comic Sans MS" pitchFamily="66" charset="0"/>
            </a:endParaRPr>
          </a:p>
          <a:p>
            <a:pPr algn="just" indent="-274320" lvl="1" marL="457200">
              <a:buFont typeface="Arial" pitchFamily="34" charset="0"/>
              <a:buChar char="•"/>
            </a:pPr>
            <a:r>
              <a:rPr altLang="en-US" sz="1800" lang="en-US">
                <a:latin typeface="Comic Sans MS" pitchFamily="66" charset="0"/>
              </a:rPr>
              <a:t>Tall (solid line) shows the original fuzzy set — membership gradually increases from 160 cm to 180 cm.</a:t>
            </a:r>
          </a:p>
          <a:p>
            <a:pPr algn="just" indent="-274320" lvl="1" marL="457200">
              <a:buFont typeface="Arial" pitchFamily="34" charset="0"/>
              <a:buChar char="•"/>
            </a:pPr>
            <a:r>
              <a:rPr altLang="en-US" sz="1800" lang="en-US">
                <a:latin typeface="Comic Sans MS" pitchFamily="66" charset="0"/>
              </a:rPr>
              <a:t>Very Tall (dashed line) shows the hedge applied — membership values are “sharpened,” meaning only taller people have high membership now.</a:t>
            </a:r>
          </a:p>
        </p:txBody>
      </p:sp>
      <p:pic>
        <p:nvPicPr>
          <p:cNvPr id="2097152" name="Picture 2"/>
          <p:cNvPicPr>
            <a:picLocks/>
          </p:cNvPicPr>
          <p:nvPr/>
        </p:nvPicPr>
        <p:blipFill>
          <a:blip xmlns:r="http://schemas.openxmlformats.org/officeDocument/2006/relationships" r:embed="rId1"/>
          <a:srcRect l="0" t="0" r="0" b="0"/>
          <a:stretch>
            <a:fillRect/>
          </a:stretch>
        </p:blipFill>
        <p:spPr>
          <a:xfrm rot="0">
            <a:off x="2000250" y="1033462"/>
            <a:ext cx="5143500" cy="3268662"/>
          </a:xfrm>
          <a:prstGeom prst="rect"/>
          <a:noFill/>
          <a:ln>
            <a:noFill/>
          </a:ln>
        </p:spPr>
      </p:pic>
    </p:spTree>
  </p:cSld>
  <p:clrMapOvr>
    <a:masterClrMapping/>
  </p:clrMapOvr>
  <p:timing/>
</p:sld>
</file>

<file path=ppt/slides/slide20.xml><?xml version="1.0" encoding="utf-8"?>
<p:sld xmlns:a="http://schemas.openxmlformats.org/drawingml/2006/main" xmlns:r="http://schemas.openxmlformats.org/officeDocument/2006/relationships" xmlns:p="http://schemas.openxmlformats.org/presentationml/2006/main" showMasterSp="1">
  <p:cSld>
    <p:spTree>
      <p:nvGrpSpPr>
        <p:cNvPr id="55" name=""/>
        <p:cNvGrpSpPr/>
        <p:nvPr/>
      </p:nvGrpSpPr>
      <p:grpSpPr>
        <a:xfrm rot="0">
          <a:off x="0" y="0"/>
          <a:ext cx="0" cy="0"/>
          <a:chOff x="0" y="0"/>
          <a:chExt cx="0" cy="0"/>
        </a:xfrm>
      </p:grpSpPr>
      <p:sp>
        <p:nvSpPr>
          <p:cNvPr id="1048586" name="Title 1"/>
          <p:cNvSpPr/>
          <p:nvPr>
            <p:ph type="title" sz="full" idx="0"/>
          </p:nvPr>
        </p:nvSpPr>
        <p:spPr>
          <a:xfrm rot="0">
            <a:off x="611187" y="117475"/>
            <a:ext cx="66929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Linguistic Variable and Hedges</a:t>
            </a:r>
          </a:p>
        </p:txBody>
      </p:sp>
      <p:sp>
        <p:nvSpPr>
          <p:cNvPr id="1048587"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20</a:t>
            </a:fld>
            <a:endParaRPr altLang="en-US" sz="1400" lang="en-US"/>
          </a:p>
        </p:txBody>
      </p:sp>
      <p:pic>
        <p:nvPicPr>
          <p:cNvPr id="2097153" name="Picture 5"/>
          <p:cNvPicPr>
            <a:picLocks/>
          </p:cNvPicPr>
          <p:nvPr/>
        </p:nvPicPr>
        <p:blipFill>
          <a:blip xmlns:r="http://schemas.openxmlformats.org/officeDocument/2006/relationships" r:embed="rId1"/>
          <a:srcRect l="0" t="0" r="0" b="0"/>
          <a:stretch>
            <a:fillRect/>
          </a:stretch>
        </p:blipFill>
        <p:spPr>
          <a:xfrm rot="0">
            <a:off x="5003800" y="1052512"/>
            <a:ext cx="3327400" cy="4999037"/>
          </a:xfrm>
          <a:prstGeom prst="rect"/>
          <a:noFill/>
          <a:ln>
            <a:noFill/>
          </a:ln>
        </p:spPr>
      </p:pic>
      <p:pic>
        <p:nvPicPr>
          <p:cNvPr id="2097154" name="Content Placeholder 1"/>
          <p:cNvPicPr>
            <a:picLocks/>
          </p:cNvPicPr>
          <p:nvPr>
            <p:ph sz="full" idx="1"/>
          </p:nvPr>
        </p:nvPicPr>
        <p:blipFill>
          <a:blip xmlns:r="http://schemas.openxmlformats.org/officeDocument/2006/relationships" r:embed="rId2"/>
          <a:srcRect l="0" t="0" r="0" b="0"/>
          <a:stretch>
            <a:fillRect/>
          </a:stretch>
        </p:blipFill>
        <p:spPr>
          <a:xfrm rot="0">
            <a:off x="334962" y="1163637"/>
            <a:ext cx="4670425" cy="4352925"/>
          </a:xfrm>
          <a:prstGeom prst="rect"/>
          <a:noFill/>
          <a:ln>
            <a:noFill/>
          </a:ln>
        </p:spPr>
      </p:pic>
    </p:spTree>
  </p:cSld>
  <p:clrMapOvr>
    <a:masterClrMapping/>
  </p:clrMapOvr>
  <p:timing/>
</p:sld>
</file>

<file path=ppt/slides/slide21.xml><?xml version="1.0" encoding="utf-8"?>
<p:sld xmlns:a="http://schemas.openxmlformats.org/drawingml/2006/main" xmlns:r="http://schemas.openxmlformats.org/officeDocument/2006/relationships" xmlns:p="http://schemas.openxmlformats.org/presentationml/2006/main" showMasterSp="1">
  <p:cSld>
    <p:spTree>
      <p:nvGrpSpPr>
        <p:cNvPr id="57" name=""/>
        <p:cNvGrpSpPr/>
        <p:nvPr/>
      </p:nvGrpSpPr>
      <p:grpSpPr>
        <a:xfrm rot="0">
          <a:off x="0" y="0"/>
          <a:ext cx="0" cy="0"/>
          <a:chOff x="0" y="0"/>
          <a:chExt cx="0" cy="0"/>
        </a:xfrm>
      </p:grpSpPr>
      <p:sp>
        <p:nvSpPr>
          <p:cNvPr id="1048591" name="Title 1"/>
          <p:cNvSpPr/>
          <p:nvPr>
            <p:ph type="title" sz="full" idx="0"/>
          </p:nvPr>
        </p:nvSpPr>
        <p:spPr>
          <a:xfrm rot="0">
            <a:off x="165100" y="144462"/>
            <a:ext cx="6691312"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Linguistic Variable and Hedges</a:t>
            </a:r>
          </a:p>
        </p:txBody>
      </p:sp>
      <p:sp>
        <p:nvSpPr>
          <p:cNvPr id="1048592"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21</a:t>
            </a:fld>
            <a:endParaRPr altLang="en-US" sz="1400" lang="en-US"/>
          </a:p>
        </p:txBody>
      </p:sp>
      <p:pic>
        <p:nvPicPr>
          <p:cNvPr id="2097155" name="Picture 2"/>
          <p:cNvPicPr>
            <a:picLocks/>
          </p:cNvPicPr>
          <p:nvPr/>
        </p:nvPicPr>
        <p:blipFill>
          <a:blip xmlns:r="http://schemas.openxmlformats.org/officeDocument/2006/relationships" r:embed="rId1"/>
          <a:srcRect l="0" t="0" r="0" b="0"/>
          <a:stretch>
            <a:fillRect/>
          </a:stretch>
        </p:blipFill>
        <p:spPr>
          <a:xfrm rot="0">
            <a:off x="4787900" y="1287462"/>
            <a:ext cx="4092575" cy="4594225"/>
          </a:xfrm>
          <a:prstGeom prst="rect"/>
          <a:noFill/>
          <a:ln>
            <a:noFill/>
          </a:ln>
        </p:spPr>
      </p:pic>
      <p:pic>
        <p:nvPicPr>
          <p:cNvPr id="2097156" name="Content Placeholder 1"/>
          <p:cNvPicPr>
            <a:picLocks/>
          </p:cNvPicPr>
          <p:nvPr>
            <p:ph sz="full" idx="1"/>
          </p:nvPr>
        </p:nvPicPr>
        <p:blipFill>
          <a:blip xmlns:r="http://schemas.openxmlformats.org/officeDocument/2006/relationships" r:embed="rId2"/>
          <a:srcRect l="0" t="0" r="0" b="0"/>
          <a:stretch>
            <a:fillRect/>
          </a:stretch>
        </p:blipFill>
        <p:spPr>
          <a:xfrm rot="0">
            <a:off x="261937" y="1530350"/>
            <a:ext cx="4670425" cy="4352925"/>
          </a:xfrm>
          <a:prstGeom prst="rect"/>
          <a:noFill/>
          <a:ln>
            <a:noFill/>
          </a:ln>
        </p:spPr>
      </p:pic>
    </p:spTree>
  </p:cSld>
  <p:clrMapOvr>
    <a:masterClrMapping/>
  </p:clrMapOvr>
  <p:timing/>
</p:sld>
</file>

<file path=ppt/slides/slide22.xml><?xml version="1.0" encoding="utf-8"?>
<p:sld xmlns:a="http://schemas.openxmlformats.org/drawingml/2006/main" xmlns:r="http://schemas.openxmlformats.org/officeDocument/2006/relationships" xmlns:p="http://schemas.openxmlformats.org/presentationml/2006/main" showMasterSp="1">
  <p:cSld>
    <p:spTree>
      <p:nvGrpSpPr>
        <p:cNvPr id="59" name=""/>
        <p:cNvGrpSpPr/>
        <p:nvPr/>
      </p:nvGrpSpPr>
      <p:grpSpPr>
        <a:xfrm rot="0">
          <a:off x="0" y="0"/>
          <a:ext cx="0" cy="0"/>
          <a:chOff x="0" y="0"/>
          <a:chExt cx="0" cy="0"/>
        </a:xfrm>
      </p:grpSpPr>
      <p:sp>
        <p:nvSpPr>
          <p:cNvPr id="1048596" name="Title 1"/>
          <p:cNvSpPr/>
          <p:nvPr>
            <p:ph type="title" sz="full" idx="0"/>
          </p:nvPr>
        </p:nvSpPr>
        <p:spPr>
          <a:xfrm rot="0">
            <a:off x="685800" y="234950"/>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lvl="0"/>
            <a:r>
              <a:rPr altLang="en-US" sz="2800" lang="en-GB">
                <a:solidFill>
                  <a:schemeClr val="accent2"/>
                </a:solidFill>
                <a:latin typeface="Comic Sans MS" pitchFamily="66" charset="0"/>
              </a:rPr>
              <a:t>Linguistic Variable and Hedges</a:t>
            </a:r>
          </a:p>
        </p:txBody>
      </p:sp>
      <p:sp>
        <p:nvSpPr>
          <p:cNvPr id="1048597"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22</a:t>
            </a:fld>
            <a:endParaRPr altLang="en-US" sz="1400" lang="en-US"/>
          </a:p>
        </p:txBody>
      </p:sp>
      <p:sp>
        <p:nvSpPr>
          <p:cNvPr id="1048598" name="TextBox 6"/>
          <p:cNvSpPr txBox="1"/>
          <p:nvPr/>
        </p:nvSpPr>
        <p:spPr>
          <a:xfrm rot="0">
            <a:off x="449262" y="1158875"/>
            <a:ext cx="4030662" cy="507841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1800" lang="en-US">
                <a:latin typeface="Comic Sans MS" pitchFamily="66" charset="0"/>
              </a:rPr>
              <a:t>Example:</a:t>
            </a:r>
          </a:p>
          <a:p>
            <a:pPr algn="just" indent="0" lvl="0" marL="0">
              <a:spcBef>
                <a:spcPct val="0"/>
              </a:spcBef>
            </a:pPr>
            <a:r>
              <a:rPr altLang="en-US" sz="1800" lang="pt-BR">
                <a:latin typeface="Comic Sans MS" pitchFamily="66" charset="0"/>
              </a:rPr>
              <a:t>A={(0.0,10.0),(0.2,11.0),(0.4,12.0),(0.6,13.0),(0.8,14.0),(1.0,15.0)}</a:t>
            </a:r>
          </a:p>
          <a:p>
            <a:pPr algn="just" indent="0" lvl="0" marL="0">
              <a:spcBef>
                <a:spcPct val="0"/>
              </a:spcBef>
            </a:pPr>
            <a:endParaRPr altLang="en-US" sz="1800" lang="en-US">
              <a:latin typeface="Comic Sans MS" pitchFamily="66" charset="0"/>
            </a:endParaRPr>
          </a:p>
          <a:p>
            <a:pPr algn="just" indent="0" lvl="0" marL="0">
              <a:spcBef>
                <a:spcPct val="0"/>
              </a:spcBef>
            </a:pPr>
            <a:r>
              <a:rPr altLang="en-US" sz="1800" lang="en-US">
                <a:latin typeface="Comic Sans MS" pitchFamily="66" charset="0"/>
              </a:rPr>
              <a:t>Here, the first number in each pair is the membership value, and the second number is the element of the universe of discourse.</a:t>
            </a:r>
          </a:p>
          <a:p>
            <a:pPr algn="just" indent="0" lvl="0" marL="0">
              <a:spcBef>
                <a:spcPct val="0"/>
              </a:spcBef>
            </a:pPr>
            <a:endParaRPr altLang="en-US" sz="1800" lang="en-US">
              <a:latin typeface="Comic Sans MS" pitchFamily="66" charset="0"/>
            </a:endParaRPr>
          </a:p>
          <a:p>
            <a:pPr algn="just" indent="0" lvl="0" marL="0">
              <a:spcBef>
                <a:spcPct val="0"/>
              </a:spcBef>
            </a:pPr>
            <a:r>
              <a:rPr altLang="en-US" sz="1800" lang="en-US">
                <a:latin typeface="Comic Sans MS" pitchFamily="66" charset="0"/>
              </a:rPr>
              <a:t>In fuzzy logic, applying the hedge "very" means squaring each membership value:</a:t>
            </a:r>
          </a:p>
          <a:p>
            <a:pPr algn="just" indent="0" lvl="0" marL="0">
              <a:spcBef>
                <a:spcPct val="0"/>
              </a:spcBef>
            </a:pPr>
            <a:endParaRPr altLang="en-US" sz="1800" lang="en-US">
              <a:latin typeface="Comic Sans MS" pitchFamily="66" charset="0"/>
            </a:endParaRPr>
          </a:p>
          <a:p>
            <a:pPr algn="just" indent="0" lvl="0" marL="0">
              <a:spcBef>
                <a:spcPct val="0"/>
              </a:spcBef>
            </a:pPr>
            <a:r>
              <a:rPr altLang="en-US" sz="1800" lang="en-US">
                <a:latin typeface="Comic Sans MS" pitchFamily="66" charset="0"/>
              </a:rPr>
              <a:t>Very A={(0.0,10.0),(0.04,11.0),(0.16,12.0),(0.36,13.0),(0.64,14.0),(1.0,15.0)}</a:t>
            </a:r>
          </a:p>
          <a:p>
            <a:pPr indent="0" lvl="0" marL="0">
              <a:spcBef>
                <a:spcPct val="0"/>
              </a:spcBef>
              <a:buFontTx/>
              <a:buNone/>
            </a:pPr>
            <a:endParaRPr altLang="en-US" sz="1800" lang="en-US"/>
          </a:p>
        </p:txBody>
      </p:sp>
      <p:pic>
        <p:nvPicPr>
          <p:cNvPr id="2097157" name="Picture 2"/>
          <p:cNvPicPr>
            <a:picLocks/>
          </p:cNvPicPr>
          <p:nvPr/>
        </p:nvPicPr>
        <p:blipFill>
          <a:blip xmlns:r="http://schemas.openxmlformats.org/officeDocument/2006/relationships" r:embed="rId1"/>
          <a:srcRect l="0" t="0" r="0" b="0"/>
          <a:stretch>
            <a:fillRect/>
          </a:stretch>
        </p:blipFill>
        <p:spPr>
          <a:xfrm rot="0">
            <a:off x="4503737" y="1963737"/>
            <a:ext cx="4106862" cy="2803525"/>
          </a:xfrm>
          <a:prstGeom prst="rect"/>
          <a:noFill/>
          <a:ln>
            <a:noFill/>
          </a:ln>
        </p:spPr>
      </p:pic>
    </p:spTree>
  </p:cSld>
  <p:clrMapOvr>
    <a:masterClrMapping/>
  </p:clrMapOvr>
  <p:timing/>
</p:sld>
</file>

<file path=ppt/slides/slide23.xml><?xml version="1.0" encoding="utf-8"?>
<p:sld xmlns:a="http://schemas.openxmlformats.org/drawingml/2006/main" xmlns:r="http://schemas.openxmlformats.org/officeDocument/2006/relationships" xmlns:p="http://schemas.openxmlformats.org/presentationml/2006/main" showMasterSp="1">
  <p:cSld>
    <p:spTree>
      <p:nvGrpSpPr>
        <p:cNvPr id="88" name=""/>
        <p:cNvGrpSpPr/>
        <p:nvPr/>
      </p:nvGrpSpPr>
      <p:grpSpPr>
        <a:xfrm rot="0">
          <a:off x="0" y="0"/>
          <a:ext cx="0" cy="0"/>
          <a:chOff x="0" y="0"/>
          <a:chExt cx="0" cy="0"/>
        </a:xfrm>
      </p:grpSpPr>
      <p:sp>
        <p:nvSpPr>
          <p:cNvPr id="1048688"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23</a:t>
            </a:fld>
            <a:endParaRPr altLang="en-US" sz="1400" lang="en-US"/>
          </a:p>
        </p:txBody>
      </p:sp>
      <p:sp>
        <p:nvSpPr>
          <p:cNvPr id="1048689" name="Title 1"/>
          <p:cNvSpPr/>
          <p:nvPr>
            <p:ph type="title" sz="full" idx="0"/>
          </p:nvPr>
        </p:nvSpPr>
        <p:spPr>
          <a:xfrm rot="0">
            <a:off x="468312" y="152400"/>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800" lang="en-GB">
                <a:solidFill>
                  <a:schemeClr val="accent2"/>
                </a:solidFill>
                <a:latin typeface="Comic Sans MS" pitchFamily="66" charset="0"/>
              </a:rPr>
              <a:t>Architecture of Fuzzy Logic System</a:t>
            </a:r>
          </a:p>
        </p:txBody>
      </p:sp>
      <p:pic>
        <p:nvPicPr>
          <p:cNvPr id="2097175" name="Content Placeholder 5"/>
          <p:cNvPicPr>
            <a:picLocks/>
          </p:cNvPicPr>
          <p:nvPr>
            <p:ph sz="full" idx="1"/>
          </p:nvPr>
        </p:nvPicPr>
        <p:blipFill>
          <a:blip xmlns:r="http://schemas.openxmlformats.org/officeDocument/2006/relationships" r:embed="rId1"/>
          <a:srcRect l="0" t="0" r="0" b="0"/>
          <a:stretch>
            <a:fillRect/>
          </a:stretch>
        </p:blipFill>
        <p:spPr>
          <a:xfrm rot="0">
            <a:off x="546100" y="1628775"/>
            <a:ext cx="7694612" cy="3744912"/>
          </a:xfrm>
          <a:prstGeom prst="rect"/>
          <a:noFill/>
          <a:ln>
            <a:noFill/>
          </a:ln>
        </p:spPr>
      </p:pic>
    </p:spTree>
  </p:cSld>
  <p:clrMapOvr>
    <a:masterClrMapping/>
  </p:clrMapOvr>
  <p:timing/>
</p:sld>
</file>

<file path=ppt/slides/slide24.xml><?xml version="1.0" encoding="utf-8"?>
<p:sld xmlns:a="http://schemas.openxmlformats.org/drawingml/2006/main" xmlns:r="http://schemas.openxmlformats.org/officeDocument/2006/relationships" xmlns:p="http://schemas.openxmlformats.org/presentationml/2006/main" showMasterSp="1">
  <p:cSld>
    <p:spTree>
      <p:nvGrpSpPr>
        <p:cNvPr id="89" name=""/>
        <p:cNvGrpSpPr/>
        <p:nvPr/>
      </p:nvGrpSpPr>
      <p:grpSpPr>
        <a:xfrm rot="0">
          <a:off x="0" y="0"/>
          <a:ext cx="0" cy="0"/>
          <a:chOff x="0" y="0"/>
          <a:chExt cx="0" cy="0"/>
        </a:xfrm>
      </p:grpSpPr>
      <p:sp>
        <p:nvSpPr>
          <p:cNvPr id="1048690"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24</a:t>
            </a:fld>
            <a:endParaRPr altLang="en-US" sz="1400" lang="en-US"/>
          </a:p>
        </p:txBody>
      </p:sp>
      <p:sp>
        <p:nvSpPr>
          <p:cNvPr id="1048691" name="Title 1"/>
          <p:cNvSpPr/>
          <p:nvPr>
            <p:ph type="title" sz="full" idx="0"/>
          </p:nvPr>
        </p:nvSpPr>
        <p:spPr>
          <a:xfrm rot="0">
            <a:off x="395287" y="139700"/>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800" lang="en-GB">
                <a:solidFill>
                  <a:schemeClr val="accent2"/>
                </a:solidFill>
                <a:latin typeface="Comic Sans MS" pitchFamily="66" charset="0"/>
              </a:rPr>
              <a:t>Architecture of Fuzzy Logic System</a:t>
            </a:r>
          </a:p>
        </p:txBody>
      </p:sp>
      <p:sp>
        <p:nvSpPr>
          <p:cNvPr id="1048692" name="Content Placeholder 1"/>
          <p:cNvSpPr/>
          <p:nvPr>
            <p:ph sz="full" idx="1"/>
          </p:nvPr>
        </p:nvSpPr>
        <p:spPr>
          <a:xfrm rot="0">
            <a:off x="395287" y="981075"/>
            <a:ext cx="8062912" cy="5051425"/>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0" lvl="0" marL="0">
              <a:buFontTx/>
              <a:buNone/>
            </a:pPr>
            <a:r>
              <a:rPr altLang="en-US" sz="1800" lang="en-US">
                <a:latin typeface="Comic Sans MS" pitchFamily="66" charset="0"/>
              </a:rPr>
              <a:t>1) Fuzzifier (Fuzzification)</a:t>
            </a:r>
          </a:p>
          <a:p>
            <a:pPr algn="just" indent="0" lvl="0" marL="0">
              <a:buFontTx/>
              <a:buNone/>
            </a:pPr>
            <a:r>
              <a:rPr altLang="en-US" sz="1800" lang="en-US">
                <a:latin typeface="Comic Sans MS" pitchFamily="66" charset="0"/>
              </a:rPr>
              <a:t>	Converts crisp sensor inputs into degrees of membership in 	linguistic sets using membership functions (e.g., temperature is 	cold, warm, hot with values in [0,1]).</a:t>
            </a:r>
          </a:p>
          <a:p>
            <a:pPr algn="just" indent="-274320" lvl="1" marL="457200">
              <a:buFontTx/>
              <a:buNone/>
            </a:pPr>
            <a:endParaRPr altLang="en-US" sz="1800" lang="en-US">
              <a:latin typeface="Comic Sans MS" pitchFamily="66" charset="0"/>
            </a:endParaRPr>
          </a:p>
          <a:p>
            <a:pPr algn="just" indent="-274320" lvl="1" marL="457200">
              <a:buFontTx/>
              <a:buNone/>
            </a:pPr>
            <a:r>
              <a:rPr altLang="en-US" sz="1800" lang="en-US">
                <a:latin typeface="Comic Sans MS" pitchFamily="66" charset="0"/>
              </a:rPr>
              <a:t>2) Rule base </a:t>
            </a:r>
          </a:p>
          <a:p>
            <a:pPr algn="just" indent="-274320" lvl="1" marL="457200">
              <a:buFontTx/>
              <a:buNone/>
            </a:pPr>
            <a:r>
              <a:rPr altLang="en-US" sz="1800" lang="en-US">
                <a:latin typeface="Comic Sans MS" pitchFamily="66" charset="0"/>
              </a:rPr>
              <a:t>	Expert “IF–THEN” rules using linguistic terms, e.g.,IF 	temperature is hot AND humidity is humid THEN fan speed is 	high.</a:t>
            </a:r>
          </a:p>
          <a:p>
            <a:pPr algn="just" indent="-274320" lvl="1" marL="457200">
              <a:buFontTx/>
              <a:buNone/>
            </a:pPr>
            <a:endParaRPr altLang="en-US" sz="1800" lang="en-US">
              <a:latin typeface="Comic Sans MS" pitchFamily="66" charset="0"/>
            </a:endParaRPr>
          </a:p>
          <a:p>
            <a:pPr algn="just" indent="-274320" lvl="1" marL="457200">
              <a:buFontTx/>
              <a:buNone/>
            </a:pPr>
            <a:r>
              <a:rPr altLang="en-US" sz="1800" lang="en-US">
                <a:latin typeface="Comic Sans MS" pitchFamily="66" charset="0"/>
              </a:rPr>
              <a:t>3) Inference engine</a:t>
            </a:r>
          </a:p>
          <a:p>
            <a:pPr algn="just" indent="-274320" lvl="1" marL="457200">
              <a:buFontTx/>
              <a:buNone/>
            </a:pPr>
            <a:r>
              <a:rPr altLang="en-US" sz="1800" lang="en-US">
                <a:latin typeface="Comic Sans MS" pitchFamily="66" charset="0"/>
              </a:rPr>
              <a:t>	Matches fuzzified inputs to rules, computes each rule’s “firing 	strength” (e.g., using min/product), aggregates all rule outputs .</a:t>
            </a:r>
          </a:p>
          <a:p>
            <a:pPr algn="just" indent="-274320" lvl="1" marL="457200">
              <a:buFontTx/>
              <a:buNone/>
            </a:pPr>
            <a:endParaRPr altLang="en-US" sz="1800" lang="en-US">
              <a:latin typeface="Comic Sans MS" pitchFamily="66" charset="0"/>
            </a:endParaRPr>
          </a:p>
          <a:p>
            <a:pPr algn="just" indent="-274320" lvl="1" marL="457200">
              <a:buFontTx/>
              <a:buNone/>
            </a:pPr>
            <a:r>
              <a:rPr altLang="en-US" sz="1800" lang="en-US">
                <a:latin typeface="Comic Sans MS" pitchFamily="66" charset="0"/>
              </a:rPr>
              <a:t>4) Defuzzifier (Defuzzification)</a:t>
            </a:r>
          </a:p>
          <a:p>
            <a:pPr algn="just" indent="-274320" lvl="1" marL="457200">
              <a:buFontTx/>
              <a:buNone/>
            </a:pPr>
            <a:r>
              <a:rPr altLang="en-US" sz="1800" lang="en-US">
                <a:latin typeface="Comic Sans MS" pitchFamily="66" charset="0"/>
              </a:rPr>
              <a:t>	Converts the aggregated fuzzy output back to a single crisp 	control value (e.g., centroid, weighted average).</a:t>
            </a:r>
          </a:p>
          <a:p>
            <a:pPr algn="just" indent="-274320" lvl="1" marL="457200">
              <a:buFontTx/>
              <a:buNone/>
            </a:pPr>
            <a:endParaRPr altLang="en-US" sz="1800" lang="en-US">
              <a:latin typeface="Comic Sans MS" pitchFamily="66" charset="0"/>
            </a:endParaRPr>
          </a:p>
        </p:txBody>
      </p:sp>
    </p:spTree>
  </p:cSld>
  <p:clrMapOvr>
    <a:masterClrMapping/>
  </p:clrMapOvr>
  <p:timing/>
</p:sld>
</file>

<file path=ppt/slides/slide25.xml><?xml version="1.0" encoding="utf-8"?>
<p:sld xmlns:a="http://schemas.openxmlformats.org/drawingml/2006/main" xmlns:r="http://schemas.openxmlformats.org/officeDocument/2006/relationships" xmlns:p="http://schemas.openxmlformats.org/presentationml/2006/main" showMasterSp="1">
  <p:cSld>
    <p:spTree>
      <p:nvGrpSpPr>
        <p:cNvPr id="90" name=""/>
        <p:cNvGrpSpPr/>
        <p:nvPr/>
      </p:nvGrpSpPr>
      <p:grpSpPr>
        <a:xfrm rot="0">
          <a:off x="0" y="0"/>
          <a:ext cx="0" cy="0"/>
          <a:chOff x="0" y="0"/>
          <a:chExt cx="0" cy="0"/>
        </a:xfrm>
      </p:grpSpPr>
      <p:sp>
        <p:nvSpPr>
          <p:cNvPr id="1048693"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25</a:t>
            </a:fld>
            <a:endParaRPr altLang="en-US" sz="1400" lang="en-US"/>
          </a:p>
        </p:txBody>
      </p:sp>
      <p:sp>
        <p:nvSpPr>
          <p:cNvPr id="1048694" name="Title 1"/>
          <p:cNvSpPr/>
          <p:nvPr>
            <p:ph type="title" sz="full" idx="0"/>
          </p:nvPr>
        </p:nvSpPr>
        <p:spPr>
          <a:xfrm rot="0">
            <a:off x="395287" y="139700"/>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800" lang="en-GB">
                <a:solidFill>
                  <a:schemeClr val="accent2"/>
                </a:solidFill>
                <a:latin typeface="Comic Sans MS" pitchFamily="66" charset="0"/>
              </a:rPr>
              <a:t>Architecture of Fuzzy Logic System</a:t>
            </a:r>
          </a:p>
        </p:txBody>
      </p:sp>
      <p:sp>
        <p:nvSpPr>
          <p:cNvPr id="1048695" name="Content Placeholder 1"/>
          <p:cNvSpPr/>
          <p:nvPr>
            <p:ph sz="full" idx="1"/>
          </p:nvPr>
        </p:nvSpPr>
        <p:spPr>
          <a:xfrm rot="0">
            <a:off x="395287" y="981075"/>
            <a:ext cx="8062912" cy="5051425"/>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lvl="0">
              <a:buFontTx/>
              <a:buAutoNum type="arabicParenR" startAt="1"/>
            </a:pPr>
            <a:r>
              <a:rPr altLang="en-US" sz="1800" lang="en-US" u="sng">
                <a:latin typeface="Comic Sans MS" pitchFamily="66" charset="0"/>
              </a:rPr>
              <a:t>Fuzzifier (Fuzzification)</a:t>
            </a:r>
          </a:p>
          <a:p>
            <a:pPr algn="just" lvl="0">
              <a:buFontTx/>
              <a:buNone/>
            </a:pPr>
            <a:r>
              <a:rPr altLang="en-US" sz="1800" lang="en-US">
                <a:solidFill>
                  <a:schemeClr val="accent2"/>
                </a:solidFill>
                <a:latin typeface="Comic Sans MS" pitchFamily="66" charset="0"/>
              </a:rPr>
              <a:t>What it does: </a:t>
            </a:r>
            <a:r>
              <a:rPr altLang="en-US" sz="1800" lang="en-US">
                <a:latin typeface="Comic Sans MS" pitchFamily="66" charset="0"/>
              </a:rPr>
              <a:t>turns crisp inputs (precise numbers) into degrees of membership in linguistic sets (Cold/Warm/Hot, Humid, …).</a:t>
            </a:r>
          </a:p>
          <a:p>
            <a:pPr algn="just" lvl="0">
              <a:buFontTx/>
              <a:buNone/>
            </a:pPr>
            <a:r>
              <a:rPr altLang="en-US" sz="1800" lang="en-US">
                <a:latin typeface="Comic Sans MS" pitchFamily="66" charset="0"/>
              </a:rPr>
              <a:t>Each linguistic set has a membership function μ(⋅)∈[0,1].</a:t>
            </a:r>
          </a:p>
          <a:p>
            <a:pPr algn="just" lvl="0">
              <a:buFontTx/>
              <a:buNone/>
            </a:pPr>
            <a:r>
              <a:rPr altLang="en-US" sz="1800" lang="en-US">
                <a:solidFill>
                  <a:schemeClr val="accent2"/>
                </a:solidFill>
                <a:latin typeface="Comic Sans MS" pitchFamily="66" charset="0"/>
              </a:rPr>
              <a:t>Why it’s needed: </a:t>
            </a:r>
            <a:r>
              <a:rPr altLang="en-US" sz="1800" lang="en-US">
                <a:latin typeface="Comic Sans MS" pitchFamily="66" charset="0"/>
              </a:rPr>
              <a:t>Fuzzy rules talk in words (“hot”, “humid”). The fuzzifier lets numbers talk that language.</a:t>
            </a:r>
          </a:p>
          <a:p>
            <a:pPr algn="just" lvl="0">
              <a:buFontTx/>
              <a:buNone/>
            </a:pPr>
            <a:endParaRPr altLang="en-US" sz="1800" lang="en-US">
              <a:latin typeface="Comic Sans MS" pitchFamily="66" charset="0"/>
            </a:endParaRPr>
          </a:p>
          <a:p>
            <a:pPr algn="just" lvl="0">
              <a:buFontTx/>
              <a:buNone/>
            </a:pPr>
            <a:r>
              <a:rPr altLang="en-US" sz="1800" lang="en-US">
                <a:latin typeface="Comic Sans MS" pitchFamily="66" charset="0"/>
              </a:rPr>
              <a:t>Example (inputs):</a:t>
            </a:r>
          </a:p>
          <a:p>
            <a:pPr algn="just" indent="0" lvl="1" marL="400050">
              <a:buFontTx/>
              <a:buNone/>
            </a:pPr>
            <a:r>
              <a:rPr altLang="en-US" sz="1800" lang="en-US">
                <a:latin typeface="Comic Sans MS" pitchFamily="66" charset="0"/>
              </a:rPr>
              <a:t>Temperature T=32∘C</a:t>
            </a:r>
          </a:p>
          <a:p>
            <a:pPr algn="just" indent="0" lvl="1" marL="400050">
              <a:buFontTx/>
              <a:buNone/>
            </a:pPr>
            <a:r>
              <a:rPr altLang="en-US" sz="1800" lang="en-US">
                <a:latin typeface="Comic Sans MS" pitchFamily="66" charset="0"/>
              </a:rPr>
              <a:t>Humidity H=70%</a:t>
            </a:r>
          </a:p>
          <a:p>
            <a:pPr algn="just" indent="0" lvl="1" marL="400050">
              <a:buFontTx/>
              <a:buNone/>
            </a:pPr>
            <a:endParaRPr altLang="en-US" sz="1800" lang="en-US">
              <a:latin typeface="Comic Sans MS" pitchFamily="66" charset="0"/>
            </a:endParaRPr>
          </a:p>
          <a:p>
            <a:pPr algn="just" indent="0" lvl="1" marL="400050">
              <a:buFontTx/>
              <a:buNone/>
            </a:pPr>
            <a:r>
              <a:rPr altLang="en-US" sz="1800" lang="en-US">
                <a:latin typeface="Comic Sans MS" pitchFamily="66" charset="0"/>
              </a:rPr>
              <a:t>Membership functions (triangular):</a:t>
            </a:r>
          </a:p>
          <a:p>
            <a:pPr algn="just" indent="0" lvl="1" marL="400050">
              <a:buFontTx/>
              <a:buNone/>
            </a:pPr>
            <a:r>
              <a:rPr altLang="en-US" sz="1800" lang="en-US">
                <a:latin typeface="Comic Sans MS" pitchFamily="66" charset="0"/>
              </a:rPr>
              <a:t>Temp:  Cold=(0,0,20),  </a:t>
            </a:r>
          </a:p>
          <a:p>
            <a:pPr algn="just" indent="0" lvl="1" marL="400050">
              <a:buFontTx/>
              <a:buNone/>
            </a:pPr>
            <a:r>
              <a:rPr altLang="en-US" sz="1800" lang="en-US">
                <a:latin typeface="Comic Sans MS" pitchFamily="66" charset="0"/>
              </a:rPr>
              <a:t>Warm=(15,25,35),  </a:t>
            </a:r>
          </a:p>
          <a:p>
            <a:pPr algn="just" indent="0" lvl="1" marL="400050">
              <a:buFontTx/>
              <a:buNone/>
            </a:pPr>
            <a:r>
              <a:rPr altLang="en-US" sz="1800" lang="en-US">
                <a:latin typeface="Comic Sans MS" pitchFamily="66" charset="0"/>
              </a:rPr>
              <a:t>Hot=(30,35,40)</a:t>
            </a:r>
          </a:p>
          <a:p>
            <a:pPr algn="just" indent="0" lvl="1" marL="400050">
              <a:buFontTx/>
              <a:buNone/>
            </a:pPr>
            <a:r>
              <a:rPr altLang="en-US" sz="1800" lang="en-US">
                <a:latin typeface="Comic Sans MS" pitchFamily="66" charset="0"/>
              </a:rPr>
              <a:t>Humidity:  Humid=(60,100,100)</a:t>
            </a:r>
          </a:p>
        </p:txBody>
      </p:sp>
      <p:pic>
        <p:nvPicPr>
          <p:cNvPr id="2097176" name="Picture 2"/>
          <p:cNvPicPr>
            <a:picLocks/>
          </p:cNvPicPr>
          <p:nvPr/>
        </p:nvPicPr>
        <p:blipFill>
          <a:blip xmlns:r="http://schemas.openxmlformats.org/officeDocument/2006/relationships" r:embed="rId1"/>
          <a:srcRect l="0" t="0" r="0" b="0"/>
          <a:stretch>
            <a:fillRect/>
          </a:stretch>
        </p:blipFill>
        <p:spPr>
          <a:xfrm rot="0">
            <a:off x="4638675" y="2708275"/>
            <a:ext cx="3529012" cy="2036762"/>
          </a:xfrm>
          <a:prstGeom prst="rect"/>
          <a:noFill/>
          <a:ln>
            <a:noFill/>
          </a:ln>
        </p:spPr>
      </p:pic>
      <p:pic>
        <p:nvPicPr>
          <p:cNvPr id="2097177" name="Picture 5"/>
          <p:cNvPicPr>
            <a:picLocks/>
          </p:cNvPicPr>
          <p:nvPr/>
        </p:nvPicPr>
        <p:blipFill>
          <a:blip xmlns:r="http://schemas.openxmlformats.org/officeDocument/2006/relationships" r:embed="rId2"/>
          <a:srcRect l="0" t="0" r="0" b="0"/>
          <a:stretch>
            <a:fillRect/>
          </a:stretch>
        </p:blipFill>
        <p:spPr>
          <a:xfrm rot="0">
            <a:off x="4691062" y="4649787"/>
            <a:ext cx="3462337" cy="1803400"/>
          </a:xfrm>
          <a:prstGeom prst="rect"/>
          <a:noFill/>
          <a:ln>
            <a:noFill/>
          </a:ln>
        </p:spPr>
      </p:pic>
    </p:spTree>
  </p:cSld>
  <p:clrMapOvr>
    <a:masterClrMapping/>
  </p:clrMapOvr>
  <p:timing/>
</p:sld>
</file>

<file path=ppt/slides/slide26.xml><?xml version="1.0" encoding="utf-8"?>
<p:sld xmlns:a="http://schemas.openxmlformats.org/drawingml/2006/main" xmlns:r="http://schemas.openxmlformats.org/officeDocument/2006/relationships" xmlns:p="http://schemas.openxmlformats.org/presentationml/2006/main" showMasterSp="1">
  <p:cSld>
    <p:spTree>
      <p:nvGrpSpPr>
        <p:cNvPr id="91" name=""/>
        <p:cNvGrpSpPr/>
        <p:nvPr/>
      </p:nvGrpSpPr>
      <p:grpSpPr>
        <a:xfrm rot="0">
          <a:off x="0" y="0"/>
          <a:ext cx="0" cy="0"/>
          <a:chOff x="0" y="0"/>
          <a:chExt cx="0" cy="0"/>
        </a:xfrm>
      </p:grpSpPr>
      <p:sp>
        <p:nvSpPr>
          <p:cNvPr id="1048696"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26</a:t>
            </a:fld>
            <a:endParaRPr altLang="en-US" sz="1400" lang="en-US"/>
          </a:p>
        </p:txBody>
      </p:sp>
      <p:sp>
        <p:nvSpPr>
          <p:cNvPr id="1048697" name="Title 1"/>
          <p:cNvSpPr/>
          <p:nvPr>
            <p:ph type="title" sz="full" idx="0"/>
          </p:nvPr>
        </p:nvSpPr>
        <p:spPr>
          <a:xfrm rot="0">
            <a:off x="395287" y="139700"/>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800" lang="en-GB">
                <a:solidFill>
                  <a:schemeClr val="accent2"/>
                </a:solidFill>
                <a:latin typeface="Comic Sans MS" pitchFamily="66" charset="0"/>
              </a:rPr>
              <a:t>Architecture of Fuzzy Logic System</a:t>
            </a:r>
          </a:p>
        </p:txBody>
      </p:sp>
      <p:sp>
        <p:nvSpPr>
          <p:cNvPr id="1048698" name="Content Placeholder 1"/>
          <p:cNvSpPr/>
          <p:nvPr>
            <p:ph sz="full" idx="1"/>
          </p:nvPr>
        </p:nvSpPr>
        <p:spPr>
          <a:xfrm rot="0">
            <a:off x="395287" y="981075"/>
            <a:ext cx="6553200" cy="3683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0" lvl="0" marL="0">
              <a:buFontTx/>
              <a:buNone/>
            </a:pPr>
            <a:r>
              <a:rPr altLang="en-US" sz="1800" lang="en-US">
                <a:latin typeface="Comic Sans MS" pitchFamily="66" charset="0"/>
              </a:rPr>
              <a:t>For a triangle (a, b, c):</a:t>
            </a:r>
          </a:p>
          <a:p>
            <a:pPr algn="just" indent="0" lvl="0" marL="0">
              <a:buFontTx/>
              <a:buNone/>
            </a:pPr>
            <a:endParaRPr altLang="en-US" sz="1800" lang="en-US">
              <a:latin typeface="Comic Sans MS" pitchFamily="66" charset="0"/>
            </a:endParaRPr>
          </a:p>
          <a:p>
            <a:pPr algn="just" indent="0" lvl="0" marL="0">
              <a:buFontTx/>
              <a:buNone/>
            </a:pPr>
            <a:endParaRPr altLang="en-US" sz="1800" lang="en-US">
              <a:latin typeface="Comic Sans MS" pitchFamily="66" charset="0"/>
            </a:endParaRPr>
          </a:p>
        </p:txBody>
      </p:sp>
      <p:sp>
        <p:nvSpPr>
          <p:cNvPr id="1048699" name="TextBox 9"/>
          <p:cNvSpPr txBox="1"/>
          <p:nvPr/>
        </p:nvSpPr>
        <p:spPr>
          <a:xfrm rot="0">
            <a:off x="468312" y="2216150"/>
            <a:ext cx="8062912" cy="203041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1800" lang="en-US" u="sng">
                <a:latin typeface="Comic Sans MS" pitchFamily="66" charset="0"/>
              </a:rPr>
              <a:t>Warm at 32</a:t>
            </a:r>
          </a:p>
          <a:p>
            <a:pPr indent="0" lvl="0" marL="0">
              <a:spcBef>
                <a:spcPct val="0"/>
              </a:spcBef>
              <a:buFontTx/>
              <a:buNone/>
            </a:pPr>
            <a:r>
              <a:rPr altLang="en-US" sz="1800" lang="en-US">
                <a:latin typeface="Comic Sans MS" pitchFamily="66" charset="0"/>
              </a:rPr>
              <a:t>32 lies on Warm’s falling edge (25,35), so use (c−x)/(c−b):</a:t>
            </a:r>
          </a:p>
          <a:p>
            <a:pPr indent="0" lvl="0" marL="0">
              <a:spcBef>
                <a:spcPct val="0"/>
              </a:spcBef>
              <a:buFontTx/>
              <a:buNone/>
            </a:pPr>
            <a:endParaRPr altLang="en-US" sz="1800" lang="en-US">
              <a:latin typeface="Comic Sans MS" pitchFamily="66" charset="0"/>
            </a:endParaRPr>
          </a:p>
          <a:p>
            <a:pPr indent="0" lvl="0" marL="0">
              <a:spcBef>
                <a:spcPct val="0"/>
              </a:spcBef>
              <a:buFontTx/>
              <a:buNone/>
            </a:pPr>
            <a:endParaRPr altLang="en-US" sz="1800" lang="en-US">
              <a:latin typeface="Comic Sans MS" pitchFamily="66" charset="0"/>
            </a:endParaRPr>
          </a:p>
          <a:p>
            <a:pPr indent="0" lvl="0" marL="0">
              <a:spcBef>
                <a:spcPct val="0"/>
              </a:spcBef>
              <a:buFontTx/>
              <a:buNone/>
            </a:pPr>
            <a:endParaRPr altLang="en-US" sz="1800" lang="en-US">
              <a:latin typeface="Comic Sans MS" pitchFamily="66" charset="0"/>
            </a:endParaRPr>
          </a:p>
          <a:p>
            <a:pPr indent="0" lvl="0" marL="0">
              <a:spcBef>
                <a:spcPct val="0"/>
              </a:spcBef>
              <a:buFontTx/>
              <a:buNone/>
            </a:pPr>
            <a:r>
              <a:rPr altLang="en-US" sz="1800" lang="en-US" u="sng">
                <a:latin typeface="Comic Sans MS" pitchFamily="66" charset="0"/>
              </a:rPr>
              <a:t>Hot at 32 </a:t>
            </a:r>
          </a:p>
          <a:p>
            <a:pPr indent="0" lvl="0" marL="0">
              <a:spcBef>
                <a:spcPct val="0"/>
              </a:spcBef>
              <a:buFontTx/>
              <a:buNone/>
            </a:pPr>
            <a:r>
              <a:rPr altLang="en-US" sz="1800" lang="en-US">
                <a:latin typeface="Comic Sans MS" pitchFamily="66" charset="0"/>
              </a:rPr>
              <a:t>32 lies on Hot’s rising edge (30,35), so use (x−a)/(b−a):</a:t>
            </a:r>
          </a:p>
        </p:txBody>
      </p:sp>
      <p:pic>
        <p:nvPicPr>
          <p:cNvPr id="2097178" name="Picture 10"/>
          <p:cNvPicPr>
            <a:picLocks/>
          </p:cNvPicPr>
          <p:nvPr/>
        </p:nvPicPr>
        <p:blipFill>
          <a:blip xmlns:r="http://schemas.openxmlformats.org/officeDocument/2006/relationships" r:embed="rId1"/>
          <a:srcRect l="0" t="0" r="0" b="0"/>
          <a:stretch>
            <a:fillRect/>
          </a:stretch>
        </p:blipFill>
        <p:spPr>
          <a:xfrm rot="0">
            <a:off x="2987675" y="2908300"/>
            <a:ext cx="3168650" cy="588962"/>
          </a:xfrm>
          <a:prstGeom prst="rect"/>
          <a:noFill/>
          <a:ln>
            <a:noFill/>
          </a:ln>
        </p:spPr>
      </p:pic>
      <p:pic>
        <p:nvPicPr>
          <p:cNvPr id="2097179" name="Picture 12"/>
          <p:cNvPicPr>
            <a:picLocks/>
          </p:cNvPicPr>
          <p:nvPr/>
        </p:nvPicPr>
        <p:blipFill>
          <a:blip xmlns:r="http://schemas.openxmlformats.org/officeDocument/2006/relationships" r:embed="rId2"/>
          <a:srcRect l="0" t="0" r="0" b="0"/>
          <a:stretch>
            <a:fillRect/>
          </a:stretch>
        </p:blipFill>
        <p:spPr>
          <a:xfrm rot="0">
            <a:off x="3327400" y="1149350"/>
            <a:ext cx="2903537" cy="1066800"/>
          </a:xfrm>
          <a:prstGeom prst="rect"/>
          <a:noFill/>
          <a:ln>
            <a:noFill/>
          </a:ln>
        </p:spPr>
      </p:pic>
      <p:pic>
        <p:nvPicPr>
          <p:cNvPr id="2097180" name="Picture 14"/>
          <p:cNvPicPr>
            <a:picLocks/>
          </p:cNvPicPr>
          <p:nvPr/>
        </p:nvPicPr>
        <p:blipFill>
          <a:blip xmlns:r="http://schemas.openxmlformats.org/officeDocument/2006/relationships" r:embed="rId3"/>
          <a:srcRect l="0" t="0" r="0" b="0"/>
          <a:stretch>
            <a:fillRect/>
          </a:stretch>
        </p:blipFill>
        <p:spPr>
          <a:xfrm rot="0">
            <a:off x="3059112" y="4260850"/>
            <a:ext cx="3025775" cy="700087"/>
          </a:xfrm>
          <a:prstGeom prst="rect"/>
          <a:noFill/>
          <a:ln>
            <a:noFill/>
          </a:ln>
        </p:spPr>
      </p:pic>
      <p:sp>
        <p:nvSpPr>
          <p:cNvPr id="1048700" name="TextBox 19"/>
          <p:cNvSpPr txBox="1"/>
          <p:nvPr/>
        </p:nvSpPr>
        <p:spPr>
          <a:xfrm rot="0">
            <a:off x="401637" y="4856162"/>
            <a:ext cx="4572000" cy="6477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1800" lang="en-US" u="sng">
                <a:latin typeface="Comic Sans MS" pitchFamily="66" charset="0"/>
              </a:rPr>
              <a:t>Humid at 70 </a:t>
            </a:r>
          </a:p>
          <a:p>
            <a:pPr indent="0" lvl="0" marL="0">
              <a:spcBef>
                <a:spcPct val="0"/>
              </a:spcBef>
              <a:buFontTx/>
              <a:buNone/>
            </a:pPr>
            <a:r>
              <a:rPr altLang="en-US" sz="1800" lang="en-US">
                <a:latin typeface="Comic Sans MS" pitchFamily="66" charset="0"/>
              </a:rPr>
              <a:t>70 lies on the ramp from 60 to 100, so:</a:t>
            </a:r>
          </a:p>
        </p:txBody>
      </p:sp>
      <p:pic>
        <p:nvPicPr>
          <p:cNvPr id="2097181" name="Picture 17"/>
          <p:cNvPicPr>
            <a:picLocks/>
          </p:cNvPicPr>
          <p:nvPr/>
        </p:nvPicPr>
        <p:blipFill>
          <a:blip xmlns:r="http://schemas.openxmlformats.org/officeDocument/2006/relationships" r:embed="rId4"/>
          <a:srcRect l="0" t="0" r="0" b="0"/>
          <a:stretch>
            <a:fillRect/>
          </a:stretch>
        </p:blipFill>
        <p:spPr>
          <a:xfrm rot="0">
            <a:off x="3059112" y="5665787"/>
            <a:ext cx="3073400" cy="447675"/>
          </a:xfrm>
          <a:prstGeom prst="rect"/>
          <a:noFill/>
          <a:ln>
            <a:noFill/>
          </a:ln>
        </p:spPr>
      </p:pic>
    </p:spTree>
  </p:cSld>
  <p:clrMapOvr>
    <a:masterClrMapping/>
  </p:clrMapOvr>
  <p:timing/>
</p:sld>
</file>

<file path=ppt/slides/slide27.xml><?xml version="1.0" encoding="utf-8"?>
<p:sld xmlns:a="http://schemas.openxmlformats.org/drawingml/2006/main" xmlns:r="http://schemas.openxmlformats.org/officeDocument/2006/relationships" xmlns:p="http://schemas.openxmlformats.org/presentationml/2006/main" showMasterSp="1">
  <p:cSld>
    <p:spTree>
      <p:nvGrpSpPr>
        <p:cNvPr id="92" name=""/>
        <p:cNvGrpSpPr/>
        <p:nvPr/>
      </p:nvGrpSpPr>
      <p:grpSpPr>
        <a:xfrm rot="0">
          <a:off x="0" y="0"/>
          <a:ext cx="0" cy="0"/>
          <a:chOff x="0" y="0"/>
          <a:chExt cx="0" cy="0"/>
        </a:xfrm>
      </p:grpSpPr>
      <p:sp>
        <p:nvSpPr>
          <p:cNvPr id="1048701"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27</a:t>
            </a:fld>
            <a:endParaRPr altLang="en-US" sz="1400" lang="en-US"/>
          </a:p>
        </p:txBody>
      </p:sp>
      <p:sp>
        <p:nvSpPr>
          <p:cNvPr id="1048702" name="Title 1"/>
          <p:cNvSpPr/>
          <p:nvPr>
            <p:ph type="title" sz="full" idx="0"/>
          </p:nvPr>
        </p:nvSpPr>
        <p:spPr>
          <a:xfrm rot="0">
            <a:off x="395287" y="139700"/>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800" lang="en-GB">
                <a:solidFill>
                  <a:schemeClr val="accent2"/>
                </a:solidFill>
                <a:latin typeface="Comic Sans MS" pitchFamily="66" charset="0"/>
              </a:rPr>
              <a:t>Architecture of Fuzzy Logic System</a:t>
            </a:r>
          </a:p>
        </p:txBody>
      </p:sp>
      <p:sp>
        <p:nvSpPr>
          <p:cNvPr id="1048703" name="Content Placeholder 1"/>
          <p:cNvSpPr/>
          <p:nvPr>
            <p:ph sz="full" idx="1"/>
          </p:nvPr>
        </p:nvSpPr>
        <p:spPr>
          <a:xfrm rot="0">
            <a:off x="395287" y="981075"/>
            <a:ext cx="6553200" cy="3683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0" lvl="0" marL="0">
              <a:buFontTx/>
              <a:buNone/>
            </a:pPr>
            <a:r>
              <a:rPr altLang="en-US" sz="1800" lang="en-US">
                <a:latin typeface="Comic Sans MS" pitchFamily="66" charset="0"/>
              </a:rPr>
              <a:t>Degrees at the inputs:</a:t>
            </a:r>
          </a:p>
        </p:txBody>
      </p:sp>
      <p:pic>
        <p:nvPicPr>
          <p:cNvPr id="2097182" name="Picture 7"/>
          <p:cNvPicPr>
            <a:picLocks/>
          </p:cNvPicPr>
          <p:nvPr/>
        </p:nvPicPr>
        <p:blipFill>
          <a:blip xmlns:r="http://schemas.openxmlformats.org/officeDocument/2006/relationships" r:embed="rId1"/>
          <a:srcRect l="0" t="0" r="0" b="0"/>
          <a:stretch>
            <a:fillRect/>
          </a:stretch>
        </p:blipFill>
        <p:spPr>
          <a:xfrm rot="0">
            <a:off x="2484437" y="1282700"/>
            <a:ext cx="3381375" cy="1143000"/>
          </a:xfrm>
          <a:prstGeom prst="rect"/>
          <a:noFill/>
          <a:ln>
            <a:noFill/>
          </a:ln>
        </p:spPr>
      </p:pic>
      <p:sp>
        <p:nvSpPr>
          <p:cNvPr id="1048704" name="TextBox 11"/>
          <p:cNvSpPr txBox="1"/>
          <p:nvPr/>
        </p:nvSpPr>
        <p:spPr>
          <a:xfrm rot="0">
            <a:off x="406400" y="2425700"/>
            <a:ext cx="7772400" cy="369887"/>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1800" lang="en-US">
                <a:latin typeface="Comic Sans MS" pitchFamily="66" charset="0"/>
              </a:rPr>
              <a:t>So “32 °C” is 0.30 Warm and 0.40 Hot; “70%” is 0.25 Humid.</a:t>
            </a:r>
          </a:p>
        </p:txBody>
      </p:sp>
      <p:sp>
        <p:nvSpPr>
          <p:cNvPr id="1048705" name="TextBox 12"/>
          <p:cNvSpPr txBox="1"/>
          <p:nvPr/>
        </p:nvSpPr>
        <p:spPr>
          <a:xfrm rot="0">
            <a:off x="323850" y="2901950"/>
            <a:ext cx="8640762" cy="3683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1800" lang="en-US">
                <a:latin typeface="Comic Sans MS" pitchFamily="66" charset="0"/>
              </a:rPr>
              <a:t>These degrees feed the fuzzy rules (e.g., IF Hot AND Humid THEN Fan High)</a:t>
            </a:r>
          </a:p>
        </p:txBody>
      </p:sp>
      <p:sp>
        <p:nvSpPr>
          <p:cNvPr id="1048706" name="TextBox 13"/>
          <p:cNvSpPr txBox="1"/>
          <p:nvPr/>
        </p:nvSpPr>
        <p:spPr>
          <a:xfrm rot="0">
            <a:off x="406400" y="3411537"/>
            <a:ext cx="8269287" cy="2584450"/>
          </a:xfrm>
          <a:prstGeom prst="rect"/>
          <a:noFill/>
          <a:ln>
            <a:noFill/>
          </a:ln>
        </p:spPr>
        <p:txBody>
          <a:bodyPr anchor="t" bIns="45720" lIns="91440" rIns="91440" tIns="45720" vert="horz">
            <a:spAutoFit/>
          </a:bodyPr>
          <a:lstStyle>
            <a:lvl1pPr algn="l" eaLnBrk="0" fontAlgn="base" hangingPunct="0" indent="0" latinLnBrk="0" marL="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1pPr>
            <a:lvl2pPr algn="l" eaLnBrk="0" fontAlgn="base" hangingPunct="0" indent="0" latinLnBrk="0" marL="4572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2pPr>
            <a:lvl3pPr algn="l" eaLnBrk="0" fontAlgn="base" hangingPunct="0" indent="0" latinLnBrk="0" marL="9144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3pPr>
            <a:lvl4pPr algn="l" eaLnBrk="0" fontAlgn="base" hangingPunct="0" indent="0" latinLnBrk="0" marL="13716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4pPr>
            <a:lvl5pPr algn="l" eaLnBrk="0" fontAlgn="base" hangingPunct="0" indent="0" latinLnBrk="0" marL="18288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5pPr>
          </a:lstStyle>
          <a:p>
            <a:pPr algn="just" lvl="0"/>
            <a:r>
              <a:rPr altLang="en-US" sz="1800" lang="en-US">
                <a:latin typeface="Comic Sans MS" pitchFamily="66" charset="0"/>
              </a:rPr>
              <a:t>2) </a:t>
            </a:r>
            <a:r>
              <a:rPr altLang="en-US" sz="1800" lang="en-US" u="sng">
                <a:latin typeface="Comic Sans MS" pitchFamily="66" charset="0"/>
              </a:rPr>
              <a:t>Rule base</a:t>
            </a:r>
          </a:p>
          <a:p>
            <a:pPr algn="just" lvl="0"/>
            <a:r>
              <a:rPr altLang="en-US" sz="1800" lang="en-US">
                <a:solidFill>
                  <a:schemeClr val="accent2"/>
                </a:solidFill>
                <a:latin typeface="Comic Sans MS" pitchFamily="66" charset="0"/>
              </a:rPr>
              <a:t>What it does: </a:t>
            </a:r>
            <a:r>
              <a:rPr altLang="en-US" sz="1800" lang="en-US">
                <a:latin typeface="Comic Sans MS" pitchFamily="66" charset="0"/>
              </a:rPr>
              <a:t>stores expert IF–THEN rules using linguistic terms.</a:t>
            </a:r>
          </a:p>
          <a:p>
            <a:pPr algn="just" lvl="0"/>
            <a:r>
              <a:rPr altLang="en-US" sz="1800" lang="en-US">
                <a:solidFill>
                  <a:schemeClr val="accent2"/>
                </a:solidFill>
                <a:latin typeface="Comic Sans MS" pitchFamily="66" charset="0"/>
              </a:rPr>
              <a:t>Why it’s needed: </a:t>
            </a:r>
            <a:r>
              <a:rPr altLang="en-US" sz="1800" lang="en-US">
                <a:latin typeface="Comic Sans MS" pitchFamily="66" charset="0"/>
              </a:rPr>
              <a:t>Encodes human know-how in a form the engine can evaluate.</a:t>
            </a:r>
          </a:p>
          <a:p>
            <a:pPr algn="just" lvl="0"/>
            <a:r>
              <a:rPr altLang="en-US" sz="1800" lang="en-US">
                <a:latin typeface="Comic Sans MS" pitchFamily="66" charset="0"/>
              </a:rPr>
              <a:t>Example rules (two rules fire for our inputs):</a:t>
            </a:r>
          </a:p>
          <a:p>
            <a:pPr algn="just" lvl="0">
              <a:buChar char="•"/>
            </a:pPr>
            <a:r>
              <a:rPr altLang="en-US" sz="1800" lang="en-US">
                <a:latin typeface="Comic Sans MS" pitchFamily="66" charset="0"/>
              </a:rPr>
              <a:t>R1: IF Hot AND Humid THEN Fan is High</a:t>
            </a:r>
          </a:p>
          <a:p>
            <a:pPr algn="just" lvl="0">
              <a:buChar char="•"/>
            </a:pPr>
            <a:r>
              <a:rPr altLang="en-US" sz="1800" lang="en-US">
                <a:latin typeface="Comic Sans MS" pitchFamily="66" charset="0"/>
              </a:rPr>
              <a:t>R2: IF Warm AND Humid THEN Fan is Medium</a:t>
            </a:r>
          </a:p>
          <a:p>
            <a:pPr algn="just" lvl="0"/>
            <a:r>
              <a:rPr altLang="en-US" sz="1800" lang="en-US">
                <a:latin typeface="Comic Sans MS" pitchFamily="66" charset="0"/>
              </a:rPr>
              <a:t>(You could have more rules, e.g., “IF Cold AND Dry THEN Fan Low”, but it won’t fire here.)</a:t>
            </a:r>
          </a:p>
        </p:txBody>
      </p:sp>
    </p:spTree>
  </p:cSld>
  <p:clrMapOvr>
    <a:masterClrMapping/>
  </p:clrMapOvr>
  <p:timing/>
</p:sld>
</file>

<file path=ppt/slides/slide28.xml><?xml version="1.0" encoding="utf-8"?>
<p:sld xmlns:a="http://schemas.openxmlformats.org/drawingml/2006/main" xmlns:r="http://schemas.openxmlformats.org/officeDocument/2006/relationships" xmlns:p="http://schemas.openxmlformats.org/presentationml/2006/main" showMasterSp="1">
  <p:cSld>
    <p:spTree>
      <p:nvGrpSpPr>
        <p:cNvPr id="93" name=""/>
        <p:cNvGrpSpPr/>
        <p:nvPr/>
      </p:nvGrpSpPr>
      <p:grpSpPr>
        <a:xfrm rot="0">
          <a:off x="0" y="0"/>
          <a:ext cx="0" cy="0"/>
          <a:chOff x="0" y="0"/>
          <a:chExt cx="0" cy="0"/>
        </a:xfrm>
      </p:grpSpPr>
      <p:sp>
        <p:nvSpPr>
          <p:cNvPr id="1048707"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28</a:t>
            </a:fld>
            <a:endParaRPr altLang="en-US" sz="1400" lang="en-US"/>
          </a:p>
        </p:txBody>
      </p:sp>
      <p:sp>
        <p:nvSpPr>
          <p:cNvPr id="1048708" name="Title 1"/>
          <p:cNvSpPr/>
          <p:nvPr>
            <p:ph type="title" sz="full" idx="0"/>
          </p:nvPr>
        </p:nvSpPr>
        <p:spPr>
          <a:xfrm rot="0">
            <a:off x="107950" y="-166687"/>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Architecture of Fuzzy Logic System</a:t>
            </a:r>
          </a:p>
        </p:txBody>
      </p:sp>
      <p:sp>
        <p:nvSpPr>
          <p:cNvPr id="1048709" name="Content Placeholder 1"/>
          <p:cNvSpPr/>
          <p:nvPr>
            <p:ph sz="full" idx="1"/>
          </p:nvPr>
        </p:nvSpPr>
        <p:spPr>
          <a:xfrm rot="0">
            <a:off x="384175" y="661987"/>
            <a:ext cx="6553200" cy="369887"/>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0" lvl="0" marL="0">
              <a:buFontTx/>
              <a:buNone/>
            </a:pPr>
            <a:r>
              <a:rPr altLang="en-US" sz="1800" lang="en-US">
                <a:latin typeface="Comic Sans MS" pitchFamily="66" charset="0"/>
              </a:rPr>
              <a:t>3) </a:t>
            </a:r>
            <a:r>
              <a:rPr altLang="en-US" sz="1800" lang="en-US" u="sng">
                <a:latin typeface="Comic Sans MS" pitchFamily="66" charset="0"/>
              </a:rPr>
              <a:t>Inference engine</a:t>
            </a:r>
          </a:p>
        </p:txBody>
      </p:sp>
      <p:sp>
        <p:nvSpPr>
          <p:cNvPr id="1048710" name="TextBox 9"/>
          <p:cNvSpPr txBox="1"/>
          <p:nvPr/>
        </p:nvSpPr>
        <p:spPr>
          <a:xfrm rot="0">
            <a:off x="684212" y="1047750"/>
            <a:ext cx="7343775" cy="64611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0" lvl="0" marL="0">
              <a:spcBef>
                <a:spcPct val="0"/>
              </a:spcBef>
              <a:buFontTx/>
              <a:buNone/>
            </a:pPr>
            <a:r>
              <a:rPr altLang="en-US" sz="1800" lang="en-US">
                <a:solidFill>
                  <a:schemeClr val="accent2"/>
                </a:solidFill>
                <a:latin typeface="Comic Sans MS" pitchFamily="66" charset="0"/>
              </a:rPr>
              <a:t>What it does: </a:t>
            </a:r>
            <a:r>
              <a:rPr altLang="en-US" sz="1800" lang="en-US">
                <a:latin typeface="Comic Sans MS" pitchFamily="66" charset="0"/>
              </a:rPr>
              <a:t>determines how strongly each rule applies (firing strength) and combines rule outputs.</a:t>
            </a:r>
          </a:p>
        </p:txBody>
      </p:sp>
      <p:sp>
        <p:nvSpPr>
          <p:cNvPr id="1048711" name="TextBox 14"/>
          <p:cNvSpPr txBox="1"/>
          <p:nvPr/>
        </p:nvSpPr>
        <p:spPr>
          <a:xfrm rot="0">
            <a:off x="461962" y="1860550"/>
            <a:ext cx="8220075" cy="2863850"/>
          </a:xfrm>
          <a:prstGeom prst="rect"/>
          <a:noFill/>
          <a:ln>
            <a:noFill/>
          </a:ln>
        </p:spPr>
        <p:txBody>
          <a:bodyPr anchor="t" bIns="45720" lIns="91440" rIns="91440" tIns="45720" vert="horz">
            <a:spAutoFit/>
          </a:bodyPr>
          <a:lstStyle>
            <a:lvl1pPr algn="l" eaLnBrk="0" fontAlgn="base" hangingPunct="0" indent="0" latinLnBrk="0" marL="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1pPr>
            <a:lvl2pPr algn="l" eaLnBrk="0" fontAlgn="base" hangingPunct="0" indent="0" latinLnBrk="0" marL="4572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2pPr>
            <a:lvl3pPr algn="l" eaLnBrk="0" fontAlgn="base" hangingPunct="0" indent="0" latinLnBrk="0" marL="9144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3pPr>
            <a:lvl4pPr algn="l" eaLnBrk="0" fontAlgn="base" hangingPunct="0" indent="0" latinLnBrk="0" marL="13716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4pPr>
            <a:lvl5pPr algn="l" eaLnBrk="0" fontAlgn="base" hangingPunct="0" indent="0" latinLnBrk="0" marL="18288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5pPr>
          </a:lstStyle>
          <a:p>
            <a:pPr algn="just" lvl="0"/>
            <a:r>
              <a:rPr altLang="en-US" sz="1800" lang="en-US">
                <a:latin typeface="Comic Sans MS" pitchFamily="66" charset="0"/>
              </a:rPr>
              <a:t>Key choices:</a:t>
            </a:r>
          </a:p>
          <a:p>
            <a:pPr algn="just" lvl="0"/>
            <a:endParaRPr altLang="en-US" sz="1800" lang="en-US">
              <a:latin typeface="Comic Sans MS" pitchFamily="66" charset="0"/>
            </a:endParaRPr>
          </a:p>
          <a:p>
            <a:pPr algn="just" lvl="0">
              <a:buChar char="•"/>
            </a:pPr>
            <a:r>
              <a:rPr altLang="en-US" sz="1800" lang="en-US">
                <a:latin typeface="Comic Sans MS" pitchFamily="66" charset="0"/>
              </a:rPr>
              <a:t>AND operator (t-norm): commonly min or product</a:t>
            </a:r>
          </a:p>
          <a:p>
            <a:pPr algn="just" lvl="0">
              <a:buChar char="•"/>
            </a:pPr>
            <a:r>
              <a:rPr altLang="en-US" sz="1800" lang="en-US">
                <a:latin typeface="Comic Sans MS" pitchFamily="66" charset="0"/>
              </a:rPr>
              <a:t>Aggregation of multiple rule outputs: commonly max (Mamdani) or weighted sum (Sugeno)</a:t>
            </a:r>
          </a:p>
          <a:p>
            <a:pPr algn="just" lvl="0">
              <a:buChar char="•"/>
            </a:pPr>
            <a:endParaRPr altLang="en-US" sz="1800" lang="en-US">
              <a:latin typeface="Comic Sans MS" pitchFamily="66" charset="0"/>
            </a:endParaRPr>
          </a:p>
          <a:p>
            <a:pPr algn="just" lvl="0"/>
            <a:r>
              <a:rPr altLang="en-US" sz="1800" lang="en-US">
                <a:latin typeface="Comic Sans MS" pitchFamily="66" charset="0"/>
              </a:rPr>
              <a:t>3A) Compute firing strengths (use min for AND)</a:t>
            </a:r>
          </a:p>
          <a:p>
            <a:pPr algn="just" lvl="0"/>
            <a:endParaRPr altLang="en-US" sz="1800" lang="en-US">
              <a:latin typeface="Comic Sans MS" pitchFamily="66" charset="0"/>
            </a:endParaRPr>
          </a:p>
          <a:p>
            <a:pPr algn="just" lvl="0"/>
            <a:r>
              <a:rPr altLang="en-US" sz="1800" lang="el-GR">
                <a:latin typeface="Comic Sans MS" pitchFamily="66" charset="0"/>
                <a:sym typeface="Symbol" pitchFamily="18" charset="2"/>
              </a:rPr>
              <a:t>	</a:t>
            </a:r>
            <a:r>
              <a:rPr altLang="en-US" baseline="-25000" sz="1800" lang="en-US">
                <a:latin typeface="Comic Sans MS" pitchFamily="66" charset="0"/>
                <a:sym typeface="Symbol" pitchFamily="18" charset="2"/>
              </a:rPr>
              <a:t>1</a:t>
            </a:r>
            <a:r>
              <a:rPr altLang="en-US" sz="1800" lang="el-GR">
                <a:latin typeface="Comic Sans MS" pitchFamily="66" charset="0"/>
              </a:rPr>
              <a:t>=</a:t>
            </a:r>
            <a:r>
              <a:rPr altLang="en-US" sz="1800" lang="en-US">
                <a:latin typeface="Comic Sans MS" pitchFamily="66" charset="0"/>
              </a:rPr>
              <a:t>min⁡(</a:t>
            </a:r>
            <a:r>
              <a:rPr altLang="en-US" sz="1800" lang="el-GR">
                <a:latin typeface="Comic Sans MS" pitchFamily="66" charset="0"/>
              </a:rPr>
              <a:t>μ</a:t>
            </a:r>
            <a:r>
              <a:rPr altLang="en-US" baseline="-25000" sz="1800" lang="en-US">
                <a:latin typeface="Comic Sans MS" pitchFamily="66" charset="0"/>
              </a:rPr>
              <a:t>Hot</a:t>
            </a:r>
            <a:r>
              <a:rPr altLang="en-US" sz="1800" lang="el-GR">
                <a:latin typeface="Comic Sans MS" pitchFamily="66" charset="0"/>
              </a:rPr>
              <a:t>,μ</a:t>
            </a:r>
            <a:r>
              <a:rPr altLang="en-US" baseline="-25000" sz="1800" lang="en-US">
                <a:latin typeface="Comic Sans MS" pitchFamily="66" charset="0"/>
              </a:rPr>
              <a:t>Humid</a:t>
            </a:r>
            <a:r>
              <a:rPr altLang="en-US" sz="1800" lang="en-US">
                <a:latin typeface="Comic Sans MS" pitchFamily="66" charset="0"/>
              </a:rPr>
              <a:t>)=min⁡(0.40,0.25)=0.25 (R1: Hot &amp; Humid),	​</a:t>
            </a:r>
          </a:p>
          <a:p>
            <a:pPr algn="just" lvl="0"/>
            <a:r>
              <a:rPr altLang="en-US" sz="1800" lang="el-GR">
                <a:latin typeface="Comic Sans MS" pitchFamily="66" charset="0"/>
                <a:sym typeface="Symbol" pitchFamily="18" charset="2"/>
              </a:rPr>
              <a:t>	</a:t>
            </a:r>
            <a:r>
              <a:rPr altLang="en-US" baseline="-25000" sz="1800" lang="el-GR">
                <a:latin typeface="Comic Sans MS" pitchFamily="66" charset="0"/>
              </a:rPr>
              <a:t>2</a:t>
            </a:r>
            <a:r>
              <a:rPr altLang="en-US" sz="1800" lang="en-US">
                <a:latin typeface="Comic Sans MS" pitchFamily="66" charset="0"/>
              </a:rPr>
              <a:t>=min⁡(</a:t>
            </a:r>
            <a:r>
              <a:rPr altLang="en-US" sz="1800" lang="el-GR">
                <a:latin typeface="Comic Sans MS" pitchFamily="66" charset="0"/>
              </a:rPr>
              <a:t>μ</a:t>
            </a:r>
            <a:r>
              <a:rPr altLang="en-US" baseline="-25000" sz="1800" lang="en-US">
                <a:latin typeface="Comic Sans MS" pitchFamily="66" charset="0"/>
              </a:rPr>
              <a:t>Warm</a:t>
            </a:r>
            <a:r>
              <a:rPr altLang="en-US" sz="1800" lang="el-GR">
                <a:latin typeface="Comic Sans MS" pitchFamily="66" charset="0"/>
              </a:rPr>
              <a:t>,μ</a:t>
            </a:r>
            <a:r>
              <a:rPr altLang="en-US" baseline="-25000" sz="1800" lang="en-US">
                <a:latin typeface="Comic Sans MS" pitchFamily="66" charset="0"/>
              </a:rPr>
              <a:t>Humid</a:t>
            </a:r>
            <a:r>
              <a:rPr altLang="en-US" sz="1800" lang="en-US">
                <a:latin typeface="Comic Sans MS" pitchFamily="66" charset="0"/>
              </a:rPr>
              <a:t>)=min⁡(0.30,0.25)=0.25 (R2: Warm &amp; Humid)</a:t>
            </a:r>
          </a:p>
        </p:txBody>
      </p:sp>
    </p:spTree>
  </p:cSld>
  <p:clrMapOvr>
    <a:masterClrMapping/>
  </p:clrMapOvr>
  <p:timing/>
</p:sld>
</file>

<file path=ppt/slides/slide29.xml><?xml version="1.0" encoding="utf-8"?>
<p:sld xmlns:a="http://schemas.openxmlformats.org/drawingml/2006/main" xmlns:r="http://schemas.openxmlformats.org/officeDocument/2006/relationships" xmlns:p="http://schemas.openxmlformats.org/presentationml/2006/main" showMasterSp="1">
  <p:cSld>
    <p:spTree>
      <p:nvGrpSpPr>
        <p:cNvPr id="94" name=""/>
        <p:cNvGrpSpPr/>
        <p:nvPr/>
      </p:nvGrpSpPr>
      <p:grpSpPr>
        <a:xfrm rot="0">
          <a:off x="0" y="0"/>
          <a:ext cx="0" cy="0"/>
          <a:chOff x="0" y="0"/>
          <a:chExt cx="0" cy="0"/>
        </a:xfrm>
      </p:grpSpPr>
      <p:sp>
        <p:nvSpPr>
          <p:cNvPr id="1048712"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29</a:t>
            </a:fld>
            <a:endParaRPr altLang="en-US" sz="1400" lang="en-US"/>
          </a:p>
        </p:txBody>
      </p:sp>
      <p:sp>
        <p:nvSpPr>
          <p:cNvPr id="1048713" name="Title 1"/>
          <p:cNvSpPr/>
          <p:nvPr>
            <p:ph type="title" sz="full" idx="0"/>
          </p:nvPr>
        </p:nvSpPr>
        <p:spPr>
          <a:xfrm rot="0">
            <a:off x="323850" y="-142875"/>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Architecture of Fuzzy Logic System</a:t>
            </a:r>
          </a:p>
        </p:txBody>
      </p:sp>
      <p:sp>
        <p:nvSpPr>
          <p:cNvPr id="1048714" name="TextBox 8"/>
          <p:cNvSpPr txBox="1"/>
          <p:nvPr/>
        </p:nvSpPr>
        <p:spPr>
          <a:xfrm rot="0">
            <a:off x="319087" y="738187"/>
            <a:ext cx="8134350" cy="64611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1800" lang="en-US">
                <a:latin typeface="Comic Sans MS" pitchFamily="66" charset="0"/>
              </a:rPr>
              <a:t>We also need an output variable “Fan speed” on y∈[0,100].</a:t>
            </a:r>
          </a:p>
          <a:p>
            <a:pPr indent="0" lvl="0" marL="0">
              <a:spcBef>
                <a:spcPct val="0"/>
              </a:spcBef>
              <a:buFontTx/>
              <a:buNone/>
            </a:pPr>
            <a:r>
              <a:rPr altLang="en-US" sz="1800" lang="en-US">
                <a:latin typeface="Comic Sans MS" pitchFamily="66" charset="0"/>
              </a:rPr>
              <a:t>R1 and R2 are the two fuzzy rules in our controller:</a:t>
            </a:r>
          </a:p>
        </p:txBody>
      </p:sp>
      <p:sp>
        <p:nvSpPr>
          <p:cNvPr id="1048715" name="TextBox 10"/>
          <p:cNvSpPr txBox="1"/>
          <p:nvPr/>
        </p:nvSpPr>
        <p:spPr>
          <a:xfrm rot="0">
            <a:off x="338137" y="1096962"/>
            <a:ext cx="8482012" cy="203041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endParaRPr altLang="en-US" sz="1800" lang="en-US">
              <a:latin typeface="Comic Sans MS" pitchFamily="66" charset="0"/>
            </a:endParaRPr>
          </a:p>
          <a:p>
            <a:pPr indent="0" lvl="0" marL="0">
              <a:spcBef>
                <a:spcPct val="0"/>
              </a:spcBef>
              <a:buFontTx/>
              <a:buNone/>
            </a:pPr>
            <a:endParaRPr altLang="en-US" sz="1800" lang="en-US">
              <a:latin typeface="Comic Sans MS" pitchFamily="66" charset="0"/>
            </a:endParaRPr>
          </a:p>
          <a:p>
            <a:pPr indent="0" lvl="0" marL="0">
              <a:spcBef>
                <a:spcPct val="0"/>
              </a:spcBef>
              <a:buFontTx/>
              <a:buNone/>
            </a:pPr>
            <a:r>
              <a:rPr altLang="en-US" sz="1800" lang="en-US">
                <a:latin typeface="Comic Sans MS" pitchFamily="66" charset="0"/>
              </a:rPr>
              <a:t>R1 (Rule 1):</a:t>
            </a:r>
            <a:br>
              <a:rPr altLang="en-US" sz="1800" lang="en-US">
                <a:latin typeface="Comic Sans MS" pitchFamily="66" charset="0"/>
              </a:rPr>
            </a:br>
            <a:r>
              <a:rPr altLang="en-US" sz="1800" lang="en-US">
                <a:latin typeface="Comic Sans MS" pitchFamily="66" charset="0"/>
              </a:rPr>
              <a:t>IF Temperature is Hot AND Humidity is Humid THEN Fan speed is </a:t>
            </a:r>
            <a:r>
              <a:rPr altLang="en-US" sz="1800" lang="en-US">
                <a:solidFill>
                  <a:schemeClr val="accent2"/>
                </a:solidFill>
                <a:latin typeface="Comic Sans MS" pitchFamily="66" charset="0"/>
              </a:rPr>
              <a:t>High</a:t>
            </a:r>
          </a:p>
          <a:p>
            <a:pPr indent="0" lvl="0" marL="0">
              <a:spcBef>
                <a:spcPct val="0"/>
              </a:spcBef>
              <a:buFontTx/>
              <a:buNone/>
            </a:pPr>
            <a:endParaRPr altLang="en-US" sz="1800" lang="en-US">
              <a:latin typeface="Comic Sans MS" pitchFamily="66" charset="0"/>
            </a:endParaRPr>
          </a:p>
          <a:p>
            <a:pPr indent="0" lvl="0" marL="0">
              <a:spcBef>
                <a:spcPct val="0"/>
              </a:spcBef>
              <a:buFontTx/>
              <a:buNone/>
            </a:pPr>
            <a:r>
              <a:rPr altLang="en-US" sz="1800" lang="en-US">
                <a:latin typeface="Comic Sans MS" pitchFamily="66" charset="0"/>
              </a:rPr>
              <a:t>R2 (Rule 2):</a:t>
            </a:r>
          </a:p>
          <a:p>
            <a:pPr indent="0" lvl="0" marL="0">
              <a:spcBef>
                <a:spcPct val="0"/>
              </a:spcBef>
              <a:buFontTx/>
              <a:buNone/>
            </a:pPr>
            <a:r>
              <a:rPr altLang="en-US" sz="1800" lang="en-US">
                <a:latin typeface="Comic Sans MS" pitchFamily="66" charset="0"/>
              </a:rPr>
              <a:t>IF Temperature is Warm AND Humidity is Humid THEN Fan speed is </a:t>
            </a:r>
            <a:r>
              <a:rPr altLang="en-US" sz="1800" lang="en-US">
                <a:solidFill>
                  <a:schemeClr val="accent2"/>
                </a:solidFill>
                <a:latin typeface="Comic Sans MS" pitchFamily="66" charset="0"/>
              </a:rPr>
              <a:t>Medium</a:t>
            </a:r>
          </a:p>
        </p:txBody>
      </p:sp>
      <p:pic>
        <p:nvPicPr>
          <p:cNvPr id="2097183" name="Picture 11"/>
          <p:cNvPicPr>
            <a:picLocks/>
          </p:cNvPicPr>
          <p:nvPr/>
        </p:nvPicPr>
        <p:blipFill>
          <a:blip xmlns:r="http://schemas.openxmlformats.org/officeDocument/2006/relationships" r:embed="rId1"/>
          <a:srcRect l="0" t="0" r="0" b="0"/>
          <a:stretch>
            <a:fillRect/>
          </a:stretch>
        </p:blipFill>
        <p:spPr>
          <a:xfrm rot="0">
            <a:off x="5067300" y="3395662"/>
            <a:ext cx="3527425" cy="2092325"/>
          </a:xfrm>
          <a:prstGeom prst="rect"/>
          <a:noFill/>
          <a:ln>
            <a:noFill/>
          </a:ln>
        </p:spPr>
      </p:pic>
      <p:sp>
        <p:nvSpPr>
          <p:cNvPr id="1048716" name="TextBox 13"/>
          <p:cNvSpPr txBox="1"/>
          <p:nvPr/>
        </p:nvSpPr>
        <p:spPr>
          <a:xfrm rot="0">
            <a:off x="323850" y="3213100"/>
            <a:ext cx="4572000" cy="1754187"/>
          </a:xfrm>
          <a:prstGeom prst="rect"/>
          <a:noFill/>
          <a:ln>
            <a:noFill/>
          </a:ln>
        </p:spPr>
        <p:txBody>
          <a:bodyPr anchor="t" bIns="45720" lIns="91440" rIns="91440" tIns="45720" vert="horz">
            <a:spAutoFit/>
          </a:bodyPr>
          <a:lstStyle>
            <a:lvl1pPr algn="l" eaLnBrk="0" fontAlgn="base" hangingPunct="0" indent="0" latinLnBrk="0" marL="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1pPr>
            <a:lvl2pPr algn="l" eaLnBrk="0" fontAlgn="base" hangingPunct="0" indent="0" latinLnBrk="0" marL="4572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2pPr>
            <a:lvl3pPr algn="l" eaLnBrk="0" fontAlgn="base" hangingPunct="0" indent="0" latinLnBrk="0" marL="9144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3pPr>
            <a:lvl4pPr algn="l" eaLnBrk="0" fontAlgn="base" hangingPunct="0" indent="0" latinLnBrk="0" marL="13716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4pPr>
            <a:lvl5pPr algn="l" eaLnBrk="0" fontAlgn="base" hangingPunct="0" indent="0" latinLnBrk="0" marL="18288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5pPr>
          </a:lstStyle>
          <a:p>
            <a:pPr algn="just" indent="-342900" lvl="0" marL="342900">
              <a:buChar char="•"/>
            </a:pPr>
            <a:r>
              <a:rPr altLang="en-US" sz="1800" lang="en-US">
                <a:latin typeface="Comic Sans MS" pitchFamily="66" charset="0"/>
              </a:rPr>
              <a:t>Fuzzy set Medium has MF </a:t>
            </a:r>
            <a:r>
              <a:rPr altLang="en-US" sz="1800" lang="el-GR">
                <a:latin typeface="Comic Sans MS" pitchFamily="66" charset="0"/>
              </a:rPr>
              <a:t>μ</a:t>
            </a:r>
            <a:r>
              <a:rPr altLang="en-US" baseline="-25000" sz="1800" lang="en-US">
                <a:latin typeface="Comic Sans MS" pitchFamily="66" charset="0"/>
              </a:rPr>
              <a:t>Med</a:t>
            </a:r>
            <a:r>
              <a:rPr altLang="en-US" sz="1800" lang="el-GR">
                <a:latin typeface="Comic Sans MS" pitchFamily="66" charset="0"/>
              </a:rPr>
              <a:t>(y) (e.g., a triangle centered near 60).</a:t>
            </a:r>
          </a:p>
          <a:p>
            <a:pPr algn="just" indent="-342900" lvl="0" marL="342900"/>
            <a:endParaRPr altLang="en-US" sz="1800" lang="el-GR">
              <a:latin typeface="Comic Sans MS" pitchFamily="66" charset="0"/>
            </a:endParaRPr>
          </a:p>
          <a:p>
            <a:pPr algn="just" indent="-342900" lvl="0" marL="342900">
              <a:buChar char="•"/>
            </a:pPr>
            <a:r>
              <a:rPr altLang="en-US" sz="1800" lang="el-GR">
                <a:latin typeface="Comic Sans MS" pitchFamily="66" charset="0"/>
              </a:rPr>
              <a:t>Fuzzy set High has MF μ</a:t>
            </a:r>
            <a:r>
              <a:rPr altLang="en-US" baseline="-25000" sz="1800" lang="en-US">
                <a:latin typeface="Comic Sans MS" pitchFamily="66" charset="0"/>
              </a:rPr>
              <a:t>High</a:t>
            </a:r>
            <a:r>
              <a:rPr altLang="en-US" sz="1800" lang="en-US">
                <a:latin typeface="Comic Sans MS" pitchFamily="66" charset="0"/>
              </a:rPr>
              <a:t>(y) (e.g., a right-shoulder/triangle peaking near 100).</a:t>
            </a:r>
          </a:p>
        </p:txBody>
      </p:sp>
    </p:spTree>
  </p:cSld>
  <p:clrMapOvr>
    <a:masterClrMapping/>
  </p:clrMapOvr>
  <p:timing/>
</p:sld>
</file>

<file path=ppt/slides/slide30.xml><?xml version="1.0" encoding="utf-8"?>
<p:sld xmlns:a="http://schemas.openxmlformats.org/drawingml/2006/main" xmlns:r="http://schemas.openxmlformats.org/officeDocument/2006/relationships" xmlns:p="http://schemas.openxmlformats.org/presentationml/2006/main" showMasterSp="1">
  <p:cSld>
    <p:spTree>
      <p:nvGrpSpPr>
        <p:cNvPr id="95" name=""/>
        <p:cNvGrpSpPr/>
        <p:nvPr/>
      </p:nvGrpSpPr>
      <p:grpSpPr>
        <a:xfrm rot="0">
          <a:off x="0" y="0"/>
          <a:ext cx="0" cy="0"/>
          <a:chOff x="0" y="0"/>
          <a:chExt cx="0" cy="0"/>
        </a:xfrm>
      </p:grpSpPr>
      <p:sp>
        <p:nvSpPr>
          <p:cNvPr id="1048717"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30</a:t>
            </a:fld>
            <a:endParaRPr altLang="en-US" sz="1400" lang="en-US"/>
          </a:p>
        </p:txBody>
      </p:sp>
      <p:sp>
        <p:nvSpPr>
          <p:cNvPr id="1048718" name="Title 1"/>
          <p:cNvSpPr/>
          <p:nvPr>
            <p:ph type="title" sz="full" idx="0"/>
          </p:nvPr>
        </p:nvSpPr>
        <p:spPr>
          <a:xfrm rot="0">
            <a:off x="107950" y="-166687"/>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Architecture of Fuzzy Logic System</a:t>
            </a:r>
          </a:p>
        </p:txBody>
      </p:sp>
      <p:sp>
        <p:nvSpPr>
          <p:cNvPr id="1048719" name="TextBox 14"/>
          <p:cNvSpPr txBox="1"/>
          <p:nvPr/>
        </p:nvSpPr>
        <p:spPr>
          <a:xfrm rot="0">
            <a:off x="395287" y="765175"/>
            <a:ext cx="8220075" cy="3692525"/>
          </a:xfrm>
          <a:prstGeom prst="rect"/>
          <a:noFill/>
          <a:ln>
            <a:noFill/>
          </a:ln>
        </p:spPr>
        <p:txBody>
          <a:bodyPr anchor="t" bIns="45720" lIns="91440" rIns="91440" tIns="45720" vert="horz">
            <a:spAutoFit/>
          </a:bodyPr>
          <a:lstStyle>
            <a:lvl1pPr algn="l" eaLnBrk="0" fontAlgn="base" hangingPunct="0" indent="0" latinLnBrk="0" marL="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1pPr>
            <a:lvl2pPr algn="l" eaLnBrk="0" fontAlgn="base" hangingPunct="0" indent="0" latinLnBrk="0" marL="4572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2pPr>
            <a:lvl3pPr algn="l" eaLnBrk="0" fontAlgn="base" hangingPunct="0" indent="0" latinLnBrk="0" marL="9144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3pPr>
            <a:lvl4pPr algn="l" eaLnBrk="0" fontAlgn="base" hangingPunct="0" indent="0" latinLnBrk="0" marL="13716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4pPr>
            <a:lvl5pPr algn="l" eaLnBrk="0" fontAlgn="base" hangingPunct="0" indent="0" latinLnBrk="0" marL="18288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5pPr>
          </a:lstStyle>
          <a:p>
            <a:pPr algn="just" lvl="0"/>
            <a:r>
              <a:rPr altLang="en-US" sz="1800" lang="en-US">
                <a:latin typeface="Comic Sans MS" pitchFamily="66" charset="0"/>
              </a:rPr>
              <a:t>3B) What each rule outputs (implication):</a:t>
            </a:r>
          </a:p>
          <a:p>
            <a:pPr algn="just" lvl="0"/>
            <a:endParaRPr altLang="en-US" sz="1800" lang="en-US">
              <a:latin typeface="Comic Sans MS" pitchFamily="66" charset="0"/>
            </a:endParaRPr>
          </a:p>
          <a:p>
            <a:pPr algn="just" lvl="0"/>
            <a:r>
              <a:rPr altLang="en-US" sz="1800" lang="en-US" u="sng">
                <a:latin typeface="Comic Sans MS" pitchFamily="66" charset="0"/>
              </a:rPr>
              <a:t>Mamdani inference (fuzzy consequents)</a:t>
            </a:r>
          </a:p>
          <a:p>
            <a:pPr algn="just" lvl="0"/>
            <a:r>
              <a:rPr altLang="en-US" sz="1800" lang="en-US">
                <a:latin typeface="Comic Sans MS" pitchFamily="66" charset="0"/>
              </a:rPr>
              <a:t>Using min-implication, the rule’s output fuzzy set is clipped at the rule’s firing strength:</a:t>
            </a:r>
          </a:p>
          <a:p>
            <a:pPr algn="just" lvl="0"/>
            <a:endParaRPr altLang="en-US" sz="1800" lang="en-US" u="sng">
              <a:latin typeface="Comic Sans MS" pitchFamily="66" charset="0"/>
            </a:endParaRPr>
          </a:p>
          <a:p>
            <a:pPr algn="just" lvl="0"/>
            <a:endParaRPr altLang="en-US" sz="1800" lang="en-US" u="sng">
              <a:latin typeface="Comic Sans MS" pitchFamily="66" charset="0"/>
            </a:endParaRPr>
          </a:p>
          <a:p>
            <a:pPr algn="just" lvl="0"/>
            <a:endParaRPr altLang="en-US" sz="1800" lang="en-US" u="sng">
              <a:latin typeface="Comic Sans MS" pitchFamily="66" charset="0"/>
            </a:endParaRPr>
          </a:p>
          <a:p>
            <a:pPr algn="just" lvl="0">
              <a:buChar char="•"/>
            </a:pPr>
            <a:r>
              <a:rPr altLang="en-US" sz="1800" lang="en-US">
                <a:latin typeface="Comic Sans MS" pitchFamily="66" charset="0"/>
              </a:rPr>
              <a:t>R1: IF Hot AND Humid THEN High</a:t>
            </a:r>
          </a:p>
          <a:p>
            <a:pPr algn="just" lvl="0"/>
            <a:endParaRPr altLang="en-US" sz="1800" lang="en-US">
              <a:latin typeface="Comic Sans MS" pitchFamily="66" charset="0"/>
            </a:endParaRPr>
          </a:p>
          <a:p>
            <a:pPr algn="just" lvl="0"/>
            <a:r>
              <a:rPr altLang="en-US" sz="1800" lang="en-US">
                <a:latin typeface="Comic Sans MS" pitchFamily="66" charset="0"/>
              </a:rPr>
              <a:t>	μ</a:t>
            </a:r>
            <a:r>
              <a:rPr altLang="en-US" baseline="-25000" sz="1800" lang="en-US">
                <a:latin typeface="Comic Sans MS" pitchFamily="66" charset="0"/>
              </a:rPr>
              <a:t>R1</a:t>
            </a:r>
            <a:r>
              <a:rPr altLang="en-US" sz="1800" lang="en-US">
                <a:latin typeface="Comic Sans MS" pitchFamily="66" charset="0"/>
              </a:rPr>
              <a:t>(y)=min⁡(0.25, μ</a:t>
            </a:r>
            <a:r>
              <a:rPr altLang="en-US" baseline="-25000" sz="1800" lang="en-US">
                <a:latin typeface="Comic Sans MS" pitchFamily="66" charset="0"/>
              </a:rPr>
              <a:t>High</a:t>
            </a:r>
            <a:r>
              <a:rPr altLang="en-US" sz="1800" lang="en-US">
                <a:latin typeface="Comic Sans MS" pitchFamily="66" charset="0"/>
              </a:rPr>
              <a:t>(y)) → High clipped at 0.25.</a:t>
            </a:r>
          </a:p>
          <a:p>
            <a:pPr algn="just" lvl="0"/>
            <a:endParaRPr altLang="en-US" sz="1800" lang="en-US">
              <a:latin typeface="Comic Sans MS" pitchFamily="66" charset="0"/>
            </a:endParaRPr>
          </a:p>
          <a:p>
            <a:pPr algn="just" lvl="0"/>
            <a:endParaRPr altLang="en-US" sz="1800" lang="en-US" u="sng">
              <a:latin typeface="Comic Sans MS" pitchFamily="66" charset="0"/>
            </a:endParaRPr>
          </a:p>
        </p:txBody>
      </p:sp>
      <p:pic>
        <p:nvPicPr>
          <p:cNvPr id="2097184" name="Picture 7"/>
          <p:cNvPicPr>
            <a:picLocks/>
          </p:cNvPicPr>
          <p:nvPr/>
        </p:nvPicPr>
        <p:blipFill>
          <a:blip xmlns:r="http://schemas.openxmlformats.org/officeDocument/2006/relationships" r:embed="rId1"/>
          <a:srcRect l="0" t="0" r="0" b="0"/>
          <a:stretch>
            <a:fillRect/>
          </a:stretch>
        </p:blipFill>
        <p:spPr>
          <a:xfrm rot="0">
            <a:off x="1476375" y="2349500"/>
            <a:ext cx="3508375" cy="415925"/>
          </a:xfrm>
          <a:prstGeom prst="rect"/>
          <a:noFill/>
          <a:ln>
            <a:noFill/>
          </a:ln>
        </p:spPr>
      </p:pic>
      <p:pic>
        <p:nvPicPr>
          <p:cNvPr id="2097185" name="Picture 10"/>
          <p:cNvPicPr>
            <a:picLocks/>
          </p:cNvPicPr>
          <p:nvPr/>
        </p:nvPicPr>
        <p:blipFill>
          <a:blip xmlns:r="http://schemas.openxmlformats.org/officeDocument/2006/relationships" r:embed="rId2"/>
          <a:srcRect l="0" t="0" r="0" b="0"/>
          <a:stretch>
            <a:fillRect/>
          </a:stretch>
        </p:blipFill>
        <p:spPr>
          <a:xfrm rot="0">
            <a:off x="762000" y="4184650"/>
            <a:ext cx="3384550" cy="1800225"/>
          </a:xfrm>
          <a:prstGeom prst="rect"/>
          <a:noFill/>
          <a:ln>
            <a:noFill/>
          </a:ln>
        </p:spPr>
      </p:pic>
      <p:pic>
        <p:nvPicPr>
          <p:cNvPr id="2097186" name="Picture 15"/>
          <p:cNvPicPr>
            <a:picLocks/>
          </p:cNvPicPr>
          <p:nvPr/>
        </p:nvPicPr>
        <p:blipFill>
          <a:blip xmlns:r="http://schemas.openxmlformats.org/officeDocument/2006/relationships" r:embed="rId3"/>
          <a:srcRect l="0" t="0" r="0" b="0"/>
          <a:stretch>
            <a:fillRect/>
          </a:stretch>
        </p:blipFill>
        <p:spPr>
          <a:xfrm rot="0">
            <a:off x="4730750" y="4095750"/>
            <a:ext cx="3884612" cy="1957387"/>
          </a:xfrm>
          <a:prstGeom prst="rect"/>
          <a:noFill/>
          <a:ln>
            <a:noFill/>
          </a:ln>
        </p:spPr>
      </p:pic>
    </p:spTree>
  </p:cSld>
  <p:clrMapOvr>
    <a:masterClrMapping/>
  </p:clrMapOvr>
  <p:timing/>
</p:sld>
</file>

<file path=ppt/slides/slide31.xml><?xml version="1.0" encoding="utf-8"?>
<p:sld xmlns:a="http://schemas.openxmlformats.org/drawingml/2006/main" xmlns:r="http://schemas.openxmlformats.org/officeDocument/2006/relationships" xmlns:p="http://schemas.openxmlformats.org/presentationml/2006/main" showMasterSp="1">
  <p:cSld>
    <p:spTree>
      <p:nvGrpSpPr>
        <p:cNvPr id="96" name=""/>
        <p:cNvGrpSpPr/>
        <p:nvPr/>
      </p:nvGrpSpPr>
      <p:grpSpPr>
        <a:xfrm rot="0">
          <a:off x="0" y="0"/>
          <a:ext cx="0" cy="0"/>
          <a:chOff x="0" y="0"/>
          <a:chExt cx="0" cy="0"/>
        </a:xfrm>
      </p:grpSpPr>
      <p:sp>
        <p:nvSpPr>
          <p:cNvPr id="1048720"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31</a:t>
            </a:fld>
            <a:endParaRPr altLang="en-US" sz="1400" lang="en-US"/>
          </a:p>
        </p:txBody>
      </p:sp>
      <p:sp>
        <p:nvSpPr>
          <p:cNvPr id="1048721" name="Title 1"/>
          <p:cNvSpPr/>
          <p:nvPr>
            <p:ph type="title" sz="full" idx="0"/>
          </p:nvPr>
        </p:nvSpPr>
        <p:spPr>
          <a:xfrm rot="0">
            <a:off x="107950" y="-166687"/>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Architecture of Fuzzy Logic System</a:t>
            </a:r>
          </a:p>
        </p:txBody>
      </p:sp>
      <p:sp>
        <p:nvSpPr>
          <p:cNvPr id="1048722" name="TextBox 14"/>
          <p:cNvSpPr txBox="1"/>
          <p:nvPr/>
        </p:nvSpPr>
        <p:spPr>
          <a:xfrm rot="0">
            <a:off x="395287" y="765175"/>
            <a:ext cx="8220075" cy="1200150"/>
          </a:xfrm>
          <a:prstGeom prst="rect"/>
          <a:noFill/>
          <a:ln>
            <a:noFill/>
          </a:ln>
        </p:spPr>
        <p:txBody>
          <a:bodyPr anchor="t" bIns="45720" lIns="91440" rIns="91440" tIns="45720" vert="horz">
            <a:spAutoFit/>
          </a:bodyPr>
          <a:lstStyle>
            <a:lvl1pPr algn="l" eaLnBrk="0" fontAlgn="base" hangingPunct="0" indent="0" latinLnBrk="0" marL="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1pPr>
            <a:lvl2pPr algn="l" eaLnBrk="0" fontAlgn="base" hangingPunct="0" indent="0" latinLnBrk="0" marL="4572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2pPr>
            <a:lvl3pPr algn="l" eaLnBrk="0" fontAlgn="base" hangingPunct="0" indent="0" latinLnBrk="0" marL="9144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3pPr>
            <a:lvl4pPr algn="l" eaLnBrk="0" fontAlgn="base" hangingPunct="0" indent="0" latinLnBrk="0" marL="13716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4pPr>
            <a:lvl5pPr algn="l" eaLnBrk="0" fontAlgn="base" hangingPunct="0" indent="0" latinLnBrk="0" marL="18288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5pPr>
          </a:lstStyle>
          <a:p>
            <a:pPr algn="just" indent="-285750" lvl="0" marL="285750">
              <a:buChar char="•"/>
            </a:pPr>
            <a:r>
              <a:rPr altLang="en-US" sz="1800" lang="en-US">
                <a:latin typeface="Comic Sans MS" pitchFamily="66" charset="0"/>
              </a:rPr>
              <a:t>R2: IF Warm AND Humid THEN Medium</a:t>
            </a:r>
          </a:p>
          <a:p>
            <a:pPr algn="just" indent="-285750" lvl="0" marL="285750"/>
            <a:endParaRPr altLang="en-US" sz="1800" lang="en-US">
              <a:latin typeface="Comic Sans MS" pitchFamily="66" charset="0"/>
            </a:endParaRPr>
          </a:p>
          <a:p>
            <a:pPr algn="just" indent="-285750" lvl="0" marL="285750"/>
            <a:r>
              <a:rPr altLang="en-US" sz="1800" lang="en-US">
                <a:latin typeface="Comic Sans MS" pitchFamily="66" charset="0"/>
              </a:rPr>
              <a:t>	</a:t>
            </a:r>
            <a:r>
              <a:rPr altLang="en-US" sz="1800" lang="el-GR">
                <a:latin typeface="Comic Sans MS" pitchFamily="66" charset="0"/>
              </a:rPr>
              <a:t>μ</a:t>
            </a:r>
            <a:r>
              <a:rPr altLang="en-US" baseline="-25000" sz="1800" lang="en-US">
                <a:latin typeface="Comic Sans MS" pitchFamily="66" charset="0"/>
              </a:rPr>
              <a:t>R2</a:t>
            </a:r>
            <a:r>
              <a:rPr altLang="en-US" sz="1800" lang="el-GR">
                <a:latin typeface="Comic Sans MS" pitchFamily="66" charset="0"/>
              </a:rPr>
              <a:t>(y)=min⁡(0.25, μ</a:t>
            </a:r>
            <a:r>
              <a:rPr altLang="en-US" baseline="-25000" sz="1800" lang="en-US">
                <a:latin typeface="Comic Sans MS" pitchFamily="66" charset="0"/>
              </a:rPr>
              <a:t>Med</a:t>
            </a:r>
            <a:r>
              <a:rPr altLang="en-US" sz="1800" lang="en-US">
                <a:latin typeface="Comic Sans MS" pitchFamily="66" charset="0"/>
              </a:rPr>
              <a:t>(y)) → Medium clipped at 0.25.</a:t>
            </a:r>
          </a:p>
          <a:p>
            <a:pPr algn="just" indent="-285750" lvl="0" marL="285750"/>
            <a:endParaRPr altLang="en-US" sz="1800" lang="en-US" u="sng">
              <a:latin typeface="Comic Sans MS" pitchFamily="66" charset="0"/>
            </a:endParaRPr>
          </a:p>
        </p:txBody>
      </p:sp>
      <p:pic>
        <p:nvPicPr>
          <p:cNvPr id="2097187" name="Picture 2"/>
          <p:cNvPicPr>
            <a:picLocks/>
          </p:cNvPicPr>
          <p:nvPr/>
        </p:nvPicPr>
        <p:blipFill>
          <a:blip xmlns:r="http://schemas.openxmlformats.org/officeDocument/2006/relationships" r:embed="rId1"/>
          <a:srcRect l="0" t="0" r="0" b="0"/>
          <a:stretch>
            <a:fillRect/>
          </a:stretch>
        </p:blipFill>
        <p:spPr>
          <a:xfrm rot="0">
            <a:off x="365125" y="2205037"/>
            <a:ext cx="3694112" cy="2184400"/>
          </a:xfrm>
          <a:prstGeom prst="rect"/>
          <a:noFill/>
          <a:ln>
            <a:noFill/>
          </a:ln>
        </p:spPr>
      </p:pic>
      <p:pic>
        <p:nvPicPr>
          <p:cNvPr id="2097188" name="Picture 4"/>
          <p:cNvPicPr>
            <a:picLocks/>
          </p:cNvPicPr>
          <p:nvPr/>
        </p:nvPicPr>
        <p:blipFill>
          <a:blip xmlns:r="http://schemas.openxmlformats.org/officeDocument/2006/relationships" r:embed="rId2"/>
          <a:srcRect l="0" t="0" r="0" b="0"/>
          <a:stretch>
            <a:fillRect/>
          </a:stretch>
        </p:blipFill>
        <p:spPr>
          <a:xfrm rot="0">
            <a:off x="4464050" y="2133600"/>
            <a:ext cx="3775075" cy="2087562"/>
          </a:xfrm>
          <a:prstGeom prst="rect"/>
          <a:noFill/>
          <a:ln>
            <a:noFill/>
          </a:ln>
        </p:spPr>
      </p:pic>
    </p:spTree>
  </p:cSld>
  <p:clrMapOvr>
    <a:masterClrMapping/>
  </p:clrMapOvr>
  <p:timing/>
</p:sld>
</file>

<file path=ppt/slides/slide32.xml><?xml version="1.0" encoding="utf-8"?>
<p:sld xmlns:a="http://schemas.openxmlformats.org/drawingml/2006/main" xmlns:r="http://schemas.openxmlformats.org/officeDocument/2006/relationships" xmlns:p="http://schemas.openxmlformats.org/presentationml/2006/main" showMasterSp="1">
  <p:cSld>
    <p:spTree>
      <p:nvGrpSpPr>
        <p:cNvPr id="97" name=""/>
        <p:cNvGrpSpPr/>
        <p:nvPr/>
      </p:nvGrpSpPr>
      <p:grpSpPr>
        <a:xfrm rot="0">
          <a:off x="0" y="0"/>
          <a:ext cx="0" cy="0"/>
          <a:chOff x="0" y="0"/>
          <a:chExt cx="0" cy="0"/>
        </a:xfrm>
      </p:grpSpPr>
      <p:sp>
        <p:nvSpPr>
          <p:cNvPr id="1048723"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32</a:t>
            </a:fld>
            <a:endParaRPr altLang="en-US" sz="1400" lang="en-US"/>
          </a:p>
        </p:txBody>
      </p:sp>
      <p:sp>
        <p:nvSpPr>
          <p:cNvPr id="1048724" name="Title 1"/>
          <p:cNvSpPr/>
          <p:nvPr>
            <p:ph type="title" sz="full" idx="0"/>
          </p:nvPr>
        </p:nvSpPr>
        <p:spPr>
          <a:xfrm rot="0">
            <a:off x="107950" y="-166687"/>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Architecture of Fuzzy Logic System</a:t>
            </a:r>
          </a:p>
        </p:txBody>
      </p:sp>
      <p:sp>
        <p:nvSpPr>
          <p:cNvPr id="1048725" name="TextBox 14"/>
          <p:cNvSpPr txBox="1"/>
          <p:nvPr/>
        </p:nvSpPr>
        <p:spPr>
          <a:xfrm rot="0">
            <a:off x="395287" y="765175"/>
            <a:ext cx="8220075" cy="3683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285750" lvl="0" marL="285750">
              <a:spcBef>
                <a:spcPct val="0"/>
              </a:spcBef>
            </a:pPr>
            <a:r>
              <a:rPr altLang="en-US" sz="1800" lang="en-US">
                <a:latin typeface="Comic Sans MS" pitchFamily="66" charset="0"/>
              </a:rPr>
              <a:t>Aggregation across rules (union):</a:t>
            </a:r>
          </a:p>
        </p:txBody>
      </p:sp>
      <p:sp>
        <p:nvSpPr>
          <p:cNvPr id="1048726" name="TextBox 7"/>
          <p:cNvSpPr txBox="1"/>
          <p:nvPr/>
        </p:nvSpPr>
        <p:spPr>
          <a:xfrm rot="0">
            <a:off x="755650" y="1149350"/>
            <a:ext cx="4572000" cy="3683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1800" lang="en-US">
                <a:latin typeface="Comic Sans MS" pitchFamily="66" charset="0"/>
              </a:rPr>
              <a:t>Combine rule outputs with max:</a:t>
            </a:r>
          </a:p>
        </p:txBody>
      </p:sp>
      <p:pic>
        <p:nvPicPr>
          <p:cNvPr id="2097189" name="Picture 5"/>
          <p:cNvPicPr>
            <a:picLocks/>
          </p:cNvPicPr>
          <p:nvPr/>
        </p:nvPicPr>
        <p:blipFill>
          <a:blip xmlns:r="http://schemas.openxmlformats.org/officeDocument/2006/relationships" r:embed="rId1"/>
          <a:srcRect l="0" t="0" r="0" b="0"/>
          <a:stretch>
            <a:fillRect/>
          </a:stretch>
        </p:blipFill>
        <p:spPr>
          <a:xfrm rot="0">
            <a:off x="2411412" y="1633537"/>
            <a:ext cx="3071812" cy="436562"/>
          </a:xfrm>
          <a:prstGeom prst="rect"/>
          <a:noFill/>
          <a:ln>
            <a:noFill/>
          </a:ln>
        </p:spPr>
      </p:pic>
      <p:pic>
        <p:nvPicPr>
          <p:cNvPr id="2097190" name="Picture 8"/>
          <p:cNvPicPr>
            <a:picLocks/>
          </p:cNvPicPr>
          <p:nvPr/>
        </p:nvPicPr>
        <p:blipFill>
          <a:blip xmlns:r="http://schemas.openxmlformats.org/officeDocument/2006/relationships" r:embed="rId2"/>
          <a:srcRect l="0" t="0" r="0" b="0"/>
          <a:stretch>
            <a:fillRect/>
          </a:stretch>
        </p:blipFill>
        <p:spPr>
          <a:xfrm rot="0">
            <a:off x="1358900" y="2151062"/>
            <a:ext cx="6161087" cy="3230562"/>
          </a:xfrm>
          <a:prstGeom prst="rect"/>
          <a:noFill/>
          <a:ln>
            <a:noFill/>
          </a:ln>
        </p:spPr>
      </p:pic>
      <p:sp>
        <p:nvSpPr>
          <p:cNvPr id="1048727" name="TextBox 13"/>
          <p:cNvSpPr txBox="1"/>
          <p:nvPr/>
        </p:nvSpPr>
        <p:spPr>
          <a:xfrm rot="0">
            <a:off x="669925" y="5491162"/>
            <a:ext cx="7646987" cy="64611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0" lvl="0" marL="0">
              <a:spcBef>
                <a:spcPct val="0"/>
              </a:spcBef>
              <a:buFontTx/>
              <a:buNone/>
            </a:pPr>
            <a:r>
              <a:rPr altLang="en-US" sz="1800" lang="en-US">
                <a:latin typeface="Comic Sans MS" pitchFamily="66" charset="0"/>
              </a:rPr>
              <a:t>The orange/blue dashed horizontal line → It’s just a reference level, not a membership function.</a:t>
            </a:r>
          </a:p>
        </p:txBody>
      </p:sp>
    </p:spTree>
  </p:cSld>
  <p:clrMapOvr>
    <a:masterClrMapping/>
  </p:clrMapOvr>
  <p:timing/>
</p:sld>
</file>

<file path=ppt/slides/slide33.xml><?xml version="1.0" encoding="utf-8"?>
<p:sld xmlns:a="http://schemas.openxmlformats.org/drawingml/2006/main" xmlns:r="http://schemas.openxmlformats.org/officeDocument/2006/relationships" xmlns:p="http://schemas.openxmlformats.org/presentationml/2006/main" showMasterSp="1">
  <p:cSld>
    <p:spTree>
      <p:nvGrpSpPr>
        <p:cNvPr id="98" name=""/>
        <p:cNvGrpSpPr/>
        <p:nvPr/>
      </p:nvGrpSpPr>
      <p:grpSpPr>
        <a:xfrm rot="0">
          <a:off x="0" y="0"/>
          <a:ext cx="0" cy="0"/>
          <a:chOff x="0" y="0"/>
          <a:chExt cx="0" cy="0"/>
        </a:xfrm>
      </p:grpSpPr>
      <p:sp>
        <p:nvSpPr>
          <p:cNvPr id="1048728"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33</a:t>
            </a:fld>
            <a:endParaRPr altLang="en-US" sz="1400" lang="en-US"/>
          </a:p>
        </p:txBody>
      </p:sp>
      <p:sp>
        <p:nvSpPr>
          <p:cNvPr id="1048729" name="Title 1"/>
          <p:cNvSpPr/>
          <p:nvPr>
            <p:ph type="title" sz="full" idx="0"/>
          </p:nvPr>
        </p:nvSpPr>
        <p:spPr>
          <a:xfrm rot="0">
            <a:off x="107950" y="-166687"/>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Architecture of Fuzzy Logic System</a:t>
            </a:r>
          </a:p>
        </p:txBody>
      </p:sp>
      <p:sp>
        <p:nvSpPr>
          <p:cNvPr id="1048730" name="TextBox 14"/>
          <p:cNvSpPr txBox="1"/>
          <p:nvPr/>
        </p:nvSpPr>
        <p:spPr>
          <a:xfrm rot="0">
            <a:off x="395287" y="765175"/>
            <a:ext cx="8220075" cy="3683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285750" lvl="0" marL="285750">
              <a:spcBef>
                <a:spcPct val="0"/>
              </a:spcBef>
            </a:pPr>
            <a:r>
              <a:rPr altLang="en-US" sz="1800" lang="en-US">
                <a:latin typeface="Comic Sans MS" pitchFamily="66" charset="0"/>
              </a:rPr>
              <a:t>Defuzzification (to get a single fan setting):</a:t>
            </a:r>
          </a:p>
        </p:txBody>
      </p:sp>
      <p:sp>
        <p:nvSpPr>
          <p:cNvPr id="1048731" name="TextBox 9"/>
          <p:cNvSpPr txBox="1"/>
          <p:nvPr/>
        </p:nvSpPr>
        <p:spPr>
          <a:xfrm rot="0">
            <a:off x="755650" y="1133475"/>
            <a:ext cx="4572000" cy="369887"/>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1800" lang="en-US">
                <a:latin typeface="Comic Sans MS" pitchFamily="66" charset="0"/>
              </a:rPr>
              <a:t>If you choose centroid,</a:t>
            </a:r>
          </a:p>
        </p:txBody>
      </p:sp>
      <p:pic>
        <p:nvPicPr>
          <p:cNvPr id="2097191" name="Picture 3"/>
          <p:cNvPicPr>
            <a:picLocks/>
          </p:cNvPicPr>
          <p:nvPr/>
        </p:nvPicPr>
        <p:blipFill>
          <a:blip xmlns:r="http://schemas.openxmlformats.org/officeDocument/2006/relationships" r:embed="rId1"/>
          <a:srcRect l="0" t="0" r="0" b="0"/>
          <a:stretch>
            <a:fillRect/>
          </a:stretch>
        </p:blipFill>
        <p:spPr>
          <a:xfrm rot="0">
            <a:off x="3863975" y="1052512"/>
            <a:ext cx="1931987" cy="641350"/>
          </a:xfrm>
          <a:prstGeom prst="rect"/>
          <a:noFill/>
          <a:ln>
            <a:noFill/>
          </a:ln>
        </p:spPr>
      </p:pic>
      <p:pic>
        <p:nvPicPr>
          <p:cNvPr id="2097192" name="Picture 10"/>
          <p:cNvPicPr>
            <a:picLocks/>
          </p:cNvPicPr>
          <p:nvPr/>
        </p:nvPicPr>
        <p:blipFill>
          <a:blip xmlns:r="http://schemas.openxmlformats.org/officeDocument/2006/relationships" r:embed="rId2"/>
          <a:srcRect l="0" t="0" r="0" b="0"/>
          <a:stretch>
            <a:fillRect/>
          </a:stretch>
        </p:blipFill>
        <p:spPr>
          <a:xfrm rot="0">
            <a:off x="1254125" y="1662112"/>
            <a:ext cx="5405437" cy="2871787"/>
          </a:xfrm>
          <a:prstGeom prst="rect"/>
          <a:noFill/>
          <a:ln>
            <a:noFill/>
          </a:ln>
        </p:spPr>
      </p:pic>
      <p:sp>
        <p:nvSpPr>
          <p:cNvPr id="1048732" name="TextBox 17"/>
          <p:cNvSpPr txBox="1"/>
          <p:nvPr/>
        </p:nvSpPr>
        <p:spPr>
          <a:xfrm rot="0">
            <a:off x="395287" y="4524375"/>
            <a:ext cx="7772400" cy="1754187"/>
          </a:xfrm>
          <a:prstGeom prst="rect"/>
          <a:noFill/>
          <a:ln>
            <a:noFill/>
          </a:ln>
        </p:spPr>
        <p:txBody>
          <a:bodyPr anchor="t" bIns="45720" lIns="91440" rIns="91440" tIns="45720" vert="horz">
            <a:spAutoFit/>
          </a:bodyPr>
          <a:lstStyle>
            <a:lvl1pPr algn="l" eaLnBrk="0" fontAlgn="base" hangingPunct="0" indent="0" latinLnBrk="0" marL="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1pPr>
            <a:lvl2pPr algn="l" eaLnBrk="0" fontAlgn="base" hangingPunct="0" indent="0" latinLnBrk="0" marL="4572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2pPr>
            <a:lvl3pPr algn="l" eaLnBrk="0" fontAlgn="base" hangingPunct="0" indent="0" latinLnBrk="0" marL="9144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3pPr>
            <a:lvl4pPr algn="l" eaLnBrk="0" fontAlgn="base" hangingPunct="0" indent="0" latinLnBrk="0" marL="13716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4pPr>
            <a:lvl5pPr algn="l" eaLnBrk="0" fontAlgn="base" hangingPunct="0" indent="0" latinLnBrk="0" marL="18288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Geometrically this is </a:t>
            </a:r>
            <a:r>
              <a:rPr altLang="en-US" b="1" sz="1800" lang="en-US">
                <a:latin typeface="Comic Sans MS" pitchFamily="66" charset="0"/>
              </a:rPr>
              <a:t>two rectangles</a:t>
            </a:r>
            <a:r>
              <a:rPr altLang="en-US" sz="1800" lang="en-US">
                <a:latin typeface="Comic Sans MS" pitchFamily="66" charset="0"/>
              </a:rPr>
              <a:t> and </a:t>
            </a:r>
            <a:r>
              <a:rPr altLang="en-US" b="1" sz="1800" lang="en-US">
                <a:latin typeface="Comic Sans MS" pitchFamily="66" charset="0"/>
              </a:rPr>
              <a:t>three right triangles</a:t>
            </a:r>
            <a:r>
              <a:rPr altLang="en-US" sz="1800" lang="en-US">
                <a:latin typeface="Comic Sans MS" pitchFamily="66" charset="0"/>
              </a:rPr>
              <a:t>:</a:t>
            </a:r>
          </a:p>
          <a:p>
            <a:pPr lvl="0">
              <a:buChar char="•"/>
            </a:pPr>
            <a:r>
              <a:rPr altLang="en-US" sz="1800" lang="en-US">
                <a:latin typeface="Comic Sans MS" pitchFamily="66" charset="0"/>
              </a:rPr>
              <a:t>R1​: height 0.25, width 30 (from 45 to 75)</a:t>
            </a:r>
          </a:p>
          <a:p>
            <a:pPr lvl="0">
              <a:buChar char="•"/>
            </a:pPr>
            <a:r>
              <a:rPr altLang="en-US" sz="1800" lang="en-US">
                <a:latin typeface="Comic Sans MS" pitchFamily="66" charset="0"/>
              </a:rPr>
              <a:t>R2​: height 0.25, width 15 (from 85 to 100)</a:t>
            </a:r>
          </a:p>
          <a:p>
            <a:pPr lvl="0">
              <a:buChar char="•"/>
            </a:pPr>
            <a:r>
              <a:rPr altLang="en-US" sz="1800" lang="en-US">
                <a:latin typeface="Comic Sans MS" pitchFamily="66" charset="0"/>
              </a:rPr>
              <a:t>T1​: base 5 on [40,45], height 0.25 (rising)</a:t>
            </a:r>
          </a:p>
          <a:p>
            <a:pPr lvl="0">
              <a:buChar char="•"/>
            </a:pPr>
            <a:r>
              <a:rPr altLang="en-US" sz="1800" lang="en-US">
                <a:latin typeface="Comic Sans MS" pitchFamily="66" charset="0"/>
              </a:rPr>
              <a:t>T2​: base 5 on [75,80], height 0.25 (falling)</a:t>
            </a:r>
          </a:p>
          <a:p>
            <a:pPr lvl="0">
              <a:buChar char="•"/>
            </a:pPr>
            <a:r>
              <a:rPr altLang="en-US" sz="1800" lang="en-US">
                <a:latin typeface="Comic Sans MS" pitchFamily="66" charset="0"/>
              </a:rPr>
              <a:t>T3​: base 5 on [80,85], height 0.25 (rising)</a:t>
            </a:r>
          </a:p>
        </p:txBody>
      </p:sp>
    </p:spTree>
  </p:cSld>
  <p:clrMapOvr>
    <a:masterClrMapping/>
  </p:clrMapOvr>
  <p:timing/>
</p:sld>
</file>

<file path=ppt/slides/slide34.xml><?xml version="1.0" encoding="utf-8"?>
<p:sld xmlns:a="http://schemas.openxmlformats.org/drawingml/2006/main" xmlns:r="http://schemas.openxmlformats.org/officeDocument/2006/relationships" xmlns:p="http://schemas.openxmlformats.org/presentationml/2006/main" showMasterSp="1">
  <p:cSld>
    <p:spTree>
      <p:nvGrpSpPr>
        <p:cNvPr id="99" name=""/>
        <p:cNvGrpSpPr/>
        <p:nvPr/>
      </p:nvGrpSpPr>
      <p:grpSpPr>
        <a:xfrm rot="0">
          <a:off x="0" y="0"/>
          <a:ext cx="0" cy="0"/>
          <a:chOff x="0" y="0"/>
          <a:chExt cx="0" cy="0"/>
        </a:xfrm>
      </p:grpSpPr>
      <p:sp>
        <p:nvSpPr>
          <p:cNvPr id="1048733"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34</a:t>
            </a:fld>
            <a:endParaRPr altLang="en-US" sz="1400" lang="en-US"/>
          </a:p>
        </p:txBody>
      </p:sp>
      <p:sp>
        <p:nvSpPr>
          <p:cNvPr id="1048734" name="Title 1"/>
          <p:cNvSpPr/>
          <p:nvPr>
            <p:ph type="title" sz="full" idx="0"/>
          </p:nvPr>
        </p:nvSpPr>
        <p:spPr>
          <a:xfrm rot="0">
            <a:off x="107950" y="-166687"/>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Architecture of Fuzzy Logic System</a:t>
            </a:r>
          </a:p>
        </p:txBody>
      </p:sp>
      <p:pic>
        <p:nvPicPr>
          <p:cNvPr id="2097193" name="Picture 10"/>
          <p:cNvPicPr>
            <a:picLocks/>
          </p:cNvPicPr>
          <p:nvPr/>
        </p:nvPicPr>
        <p:blipFill>
          <a:blip xmlns:r="http://schemas.openxmlformats.org/officeDocument/2006/relationships" r:embed="rId1"/>
          <a:srcRect l="0" t="0" r="0" b="0"/>
          <a:stretch>
            <a:fillRect/>
          </a:stretch>
        </p:blipFill>
        <p:spPr>
          <a:xfrm rot="0">
            <a:off x="250825" y="989012"/>
            <a:ext cx="4033837" cy="2143125"/>
          </a:xfrm>
          <a:prstGeom prst="rect"/>
          <a:noFill/>
          <a:ln>
            <a:noFill/>
          </a:ln>
        </p:spPr>
      </p:pic>
      <p:sp>
        <p:nvSpPr>
          <p:cNvPr id="1048735" name="TextBox 17"/>
          <p:cNvSpPr txBox="1"/>
          <p:nvPr/>
        </p:nvSpPr>
        <p:spPr>
          <a:xfrm rot="0">
            <a:off x="4427537" y="1463675"/>
            <a:ext cx="4608512" cy="1323975"/>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285750" lvl="0" marL="285750">
              <a:spcBef>
                <a:spcPct val="0"/>
              </a:spcBef>
            </a:pPr>
            <a:r>
              <a:rPr altLang="en-US" sz="1600" lang="en-US">
                <a:latin typeface="Comic Sans MS" pitchFamily="66" charset="0"/>
              </a:rPr>
              <a:t>R1​: height 0.25, width 30 (from 45 to 75)</a:t>
            </a:r>
          </a:p>
          <a:p>
            <a:pPr indent="-285750" lvl="0" marL="285750">
              <a:spcBef>
                <a:spcPct val="0"/>
              </a:spcBef>
            </a:pPr>
            <a:r>
              <a:rPr altLang="en-US" sz="1600" lang="en-US">
                <a:latin typeface="Comic Sans MS" pitchFamily="66" charset="0"/>
              </a:rPr>
              <a:t>R2​: height 0.25, width 15 (from 85 to 100)</a:t>
            </a:r>
          </a:p>
          <a:p>
            <a:pPr indent="-285750" lvl="0" marL="285750">
              <a:spcBef>
                <a:spcPct val="0"/>
              </a:spcBef>
            </a:pPr>
            <a:r>
              <a:rPr altLang="en-US" sz="1600" lang="en-US">
                <a:latin typeface="Comic Sans MS" pitchFamily="66" charset="0"/>
              </a:rPr>
              <a:t>T1​: base 5 on [40,45], height 0.25 (rising)</a:t>
            </a:r>
          </a:p>
          <a:p>
            <a:pPr indent="-285750" lvl="0" marL="285750">
              <a:spcBef>
                <a:spcPct val="0"/>
              </a:spcBef>
            </a:pPr>
            <a:r>
              <a:rPr altLang="en-US" sz="1600" lang="en-US">
                <a:latin typeface="Comic Sans MS" pitchFamily="66" charset="0"/>
              </a:rPr>
              <a:t>T2​: base 5 on [75,80], height 0.25 (falling)</a:t>
            </a:r>
          </a:p>
          <a:p>
            <a:pPr indent="-285750" lvl="0" marL="285750">
              <a:spcBef>
                <a:spcPct val="0"/>
              </a:spcBef>
            </a:pPr>
            <a:r>
              <a:rPr altLang="en-US" sz="1600" lang="en-US">
                <a:latin typeface="Comic Sans MS" pitchFamily="66" charset="0"/>
              </a:rPr>
              <a:t>T3​: base 5 on [80,85], height 0.25 (rising)</a:t>
            </a:r>
          </a:p>
        </p:txBody>
      </p:sp>
      <p:sp>
        <p:nvSpPr>
          <p:cNvPr id="1048736" name="TextBox 11"/>
          <p:cNvSpPr txBox="1"/>
          <p:nvPr/>
        </p:nvSpPr>
        <p:spPr>
          <a:xfrm rot="0">
            <a:off x="539750" y="3244850"/>
            <a:ext cx="4735512" cy="3683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1800" lang="en-US">
                <a:latin typeface="Comic Sans MS" pitchFamily="66" charset="0"/>
              </a:rPr>
              <a:t>Total area A=∫</a:t>
            </a:r>
            <a:r>
              <a:rPr altLang="en-US" sz="1800" lang="el-GR">
                <a:latin typeface="Comic Sans MS" pitchFamily="66" charset="0"/>
              </a:rPr>
              <a:t>μ</a:t>
            </a:r>
            <a:r>
              <a:rPr altLang="en-US" baseline="-25000" sz="1800" lang="en-US">
                <a:latin typeface="Comic Sans MS" pitchFamily="66" charset="0"/>
              </a:rPr>
              <a:t>agg</a:t>
            </a:r>
            <a:r>
              <a:rPr altLang="en-US" sz="1800" lang="en-US">
                <a:latin typeface="Comic Sans MS" pitchFamily="66" charset="0"/>
              </a:rPr>
              <a:t>(y) dy</a:t>
            </a:r>
          </a:p>
        </p:txBody>
      </p:sp>
      <p:pic>
        <p:nvPicPr>
          <p:cNvPr id="2097194" name="Picture 4"/>
          <p:cNvPicPr>
            <a:picLocks/>
          </p:cNvPicPr>
          <p:nvPr/>
        </p:nvPicPr>
        <p:blipFill>
          <a:blip xmlns:r="http://schemas.openxmlformats.org/officeDocument/2006/relationships" r:embed="rId2"/>
          <a:srcRect l="0" t="0" r="0" b="0"/>
          <a:stretch>
            <a:fillRect/>
          </a:stretch>
        </p:blipFill>
        <p:spPr>
          <a:xfrm rot="0">
            <a:off x="708025" y="3860800"/>
            <a:ext cx="6311900" cy="1323975"/>
          </a:xfrm>
          <a:prstGeom prst="rect"/>
          <a:noFill/>
          <a:ln>
            <a:noFill/>
          </a:ln>
        </p:spPr>
      </p:pic>
    </p:spTree>
  </p:cSld>
  <p:clrMapOvr>
    <a:masterClrMapping/>
  </p:clrMapOvr>
  <p:timing/>
</p:sld>
</file>

<file path=ppt/slides/slide35.xml><?xml version="1.0" encoding="utf-8"?>
<p:sld xmlns:a="http://schemas.openxmlformats.org/drawingml/2006/main" xmlns:r="http://schemas.openxmlformats.org/officeDocument/2006/relationships" xmlns:p="http://schemas.openxmlformats.org/presentationml/2006/main" showMasterSp="1">
  <p:cSld>
    <p:spTree>
      <p:nvGrpSpPr>
        <p:cNvPr id="100" name=""/>
        <p:cNvGrpSpPr/>
        <p:nvPr/>
      </p:nvGrpSpPr>
      <p:grpSpPr>
        <a:xfrm rot="0">
          <a:off x="0" y="0"/>
          <a:ext cx="0" cy="0"/>
          <a:chOff x="0" y="0"/>
          <a:chExt cx="0" cy="0"/>
        </a:xfrm>
      </p:grpSpPr>
      <p:sp>
        <p:nvSpPr>
          <p:cNvPr id="1048737"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35</a:t>
            </a:fld>
            <a:endParaRPr altLang="en-US" sz="1400" lang="en-US"/>
          </a:p>
        </p:txBody>
      </p:sp>
      <p:sp>
        <p:nvSpPr>
          <p:cNvPr id="1048738" name="Title 1"/>
          <p:cNvSpPr/>
          <p:nvPr>
            <p:ph type="title" sz="full" idx="0"/>
          </p:nvPr>
        </p:nvSpPr>
        <p:spPr>
          <a:xfrm rot="0">
            <a:off x="107950" y="-166687"/>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Architecture of Fuzzy Logic System</a:t>
            </a:r>
          </a:p>
        </p:txBody>
      </p:sp>
      <p:pic>
        <p:nvPicPr>
          <p:cNvPr id="2097195" name="Picture 10"/>
          <p:cNvPicPr>
            <a:picLocks/>
          </p:cNvPicPr>
          <p:nvPr/>
        </p:nvPicPr>
        <p:blipFill>
          <a:blip xmlns:r="http://schemas.openxmlformats.org/officeDocument/2006/relationships" r:embed="rId1"/>
          <a:srcRect l="0" t="0" r="0" b="0"/>
          <a:stretch>
            <a:fillRect/>
          </a:stretch>
        </p:blipFill>
        <p:spPr>
          <a:xfrm rot="0">
            <a:off x="1835150" y="963612"/>
            <a:ext cx="4897437" cy="2601912"/>
          </a:xfrm>
          <a:prstGeom prst="rect"/>
          <a:noFill/>
          <a:ln>
            <a:noFill/>
          </a:ln>
        </p:spPr>
      </p:pic>
      <p:pic>
        <p:nvPicPr>
          <p:cNvPr id="2097196" name="TextBox 8"/>
          <p:cNvPicPr>
            <a:picLocks/>
          </p:cNvPicPr>
          <p:nvPr/>
        </p:nvPicPr>
        <p:blipFill>
          <a:blip xmlns:r="http://schemas.openxmlformats.org/officeDocument/2006/relationships" r:embed="rId2"/>
          <a:srcRect l="0" t="0" r="0" b="0"/>
          <a:stretch>
            <a:fillRect/>
          </a:stretch>
        </p:blipFill>
        <p:spPr>
          <a:xfrm rot="0">
            <a:off x="512762" y="3565525"/>
            <a:ext cx="6650037" cy="1993900"/>
          </a:xfrm>
          <a:prstGeom prst="rect"/>
          <a:noFill/>
          <a:ln>
            <a:noFill/>
          </a:ln>
        </p:spPr>
      </p:pic>
    </p:spTree>
  </p:cSld>
  <p:clrMapOvr>
    <a:masterClrMapping/>
  </p:clrMapOvr>
  <p:timing/>
</p:sld>
</file>

<file path=ppt/slides/slide36.xml><?xml version="1.0" encoding="utf-8"?>
<p:sld xmlns:a="http://schemas.openxmlformats.org/drawingml/2006/main" xmlns:r="http://schemas.openxmlformats.org/officeDocument/2006/relationships" xmlns:p="http://schemas.openxmlformats.org/presentationml/2006/main" showMasterSp="1">
  <p:cSld>
    <p:spTree>
      <p:nvGrpSpPr>
        <p:cNvPr id="101" name=""/>
        <p:cNvGrpSpPr/>
        <p:nvPr/>
      </p:nvGrpSpPr>
      <p:grpSpPr>
        <a:xfrm rot="0">
          <a:off x="0" y="0"/>
          <a:ext cx="0" cy="0"/>
          <a:chOff x="0" y="0"/>
          <a:chExt cx="0" cy="0"/>
        </a:xfrm>
      </p:grpSpPr>
      <p:sp>
        <p:nvSpPr>
          <p:cNvPr id="1048739"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36</a:t>
            </a:fld>
            <a:endParaRPr altLang="en-US" sz="1400" lang="en-US"/>
          </a:p>
        </p:txBody>
      </p:sp>
      <p:sp>
        <p:nvSpPr>
          <p:cNvPr id="1048740" name="Title 1"/>
          <p:cNvSpPr/>
          <p:nvPr>
            <p:ph type="title" sz="full" idx="0"/>
          </p:nvPr>
        </p:nvSpPr>
        <p:spPr>
          <a:xfrm rot="0">
            <a:off x="107950" y="-166687"/>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Architecture of Fuzzy Logic System</a:t>
            </a:r>
          </a:p>
        </p:txBody>
      </p:sp>
      <p:pic>
        <p:nvPicPr>
          <p:cNvPr id="2097197" name="Picture 10"/>
          <p:cNvPicPr>
            <a:picLocks/>
          </p:cNvPicPr>
          <p:nvPr/>
        </p:nvPicPr>
        <p:blipFill>
          <a:blip xmlns:r="http://schemas.openxmlformats.org/officeDocument/2006/relationships" r:embed="rId1"/>
          <a:srcRect l="0" t="0" r="0" b="0"/>
          <a:stretch>
            <a:fillRect/>
          </a:stretch>
        </p:blipFill>
        <p:spPr>
          <a:xfrm rot="0">
            <a:off x="1644650" y="623887"/>
            <a:ext cx="4608512" cy="2447925"/>
          </a:xfrm>
          <a:prstGeom prst="rect"/>
          <a:noFill/>
          <a:ln>
            <a:noFill/>
          </a:ln>
        </p:spPr>
      </p:pic>
      <p:sp>
        <p:nvSpPr>
          <p:cNvPr id="1048741" name="TextBox 8"/>
          <p:cNvSpPr txBox="1"/>
          <p:nvPr/>
        </p:nvSpPr>
        <p:spPr>
          <a:xfrm rot="0">
            <a:off x="468312" y="3355975"/>
            <a:ext cx="7772400" cy="64611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1800" lang="en-US" u="sng">
                <a:latin typeface="Comic Sans MS" pitchFamily="66" charset="0"/>
              </a:rPr>
              <a:t>Right triangles (base on x-axis, height in μ):</a:t>
            </a:r>
          </a:p>
          <a:p>
            <a:pPr indent="0" lvl="0" marL="0">
              <a:spcBef>
                <a:spcPct val="0"/>
              </a:spcBef>
              <a:buFontTx/>
              <a:buNone/>
            </a:pPr>
            <a:endParaRPr altLang="en-US" sz="1800" lang="en-US" u="sng">
              <a:latin typeface="Comic Sans MS" pitchFamily="66" charset="0"/>
            </a:endParaRPr>
          </a:p>
        </p:txBody>
      </p:sp>
      <p:sp>
        <p:nvSpPr>
          <p:cNvPr id="1048742" name="TextBox 6"/>
          <p:cNvSpPr txBox="1"/>
          <p:nvPr/>
        </p:nvSpPr>
        <p:spPr>
          <a:xfrm rot="0">
            <a:off x="468312" y="3679825"/>
            <a:ext cx="7772400" cy="3683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1800" lang="en-US">
                <a:latin typeface="Comic Sans MS" pitchFamily="66" charset="0"/>
              </a:rPr>
              <a:t>For any triangle, the centroid is the average of the vertices:</a:t>
            </a:r>
          </a:p>
        </p:txBody>
      </p:sp>
      <p:pic>
        <p:nvPicPr>
          <p:cNvPr id="2097198" name="TextBox 4"/>
          <p:cNvPicPr>
            <a:picLocks/>
          </p:cNvPicPr>
          <p:nvPr/>
        </p:nvPicPr>
        <p:blipFill>
          <a:blip xmlns:r="http://schemas.openxmlformats.org/officeDocument/2006/relationships" r:embed="rId2"/>
          <a:srcRect l="0" t="0" r="0" b="0"/>
          <a:stretch>
            <a:fillRect/>
          </a:stretch>
        </p:blipFill>
        <p:spPr>
          <a:xfrm rot="0">
            <a:off x="1657350" y="4164012"/>
            <a:ext cx="4041775" cy="511175"/>
          </a:xfrm>
          <a:prstGeom prst="rect"/>
          <a:noFill/>
          <a:ln>
            <a:noFill/>
          </a:ln>
        </p:spPr>
      </p:pic>
      <p:pic>
        <p:nvPicPr>
          <p:cNvPr id="2097199" name="TextBox 11"/>
          <p:cNvPicPr>
            <a:picLocks/>
          </p:cNvPicPr>
          <p:nvPr/>
        </p:nvPicPr>
        <p:blipFill>
          <a:blip xmlns:r="http://schemas.openxmlformats.org/officeDocument/2006/relationships" r:embed="rId3"/>
          <a:srcRect l="0" t="0" r="0" b="0"/>
          <a:stretch>
            <a:fillRect/>
          </a:stretch>
        </p:blipFill>
        <p:spPr>
          <a:xfrm rot="0">
            <a:off x="433387" y="4718050"/>
            <a:ext cx="7772400" cy="1609725"/>
          </a:xfrm>
          <a:prstGeom prst="rect"/>
          <a:noFill/>
          <a:ln>
            <a:noFill/>
          </a:ln>
        </p:spPr>
      </p:pic>
      <p:pic>
        <p:nvPicPr>
          <p:cNvPr id="2097200" name="Picture 13"/>
          <p:cNvPicPr>
            <a:picLocks/>
          </p:cNvPicPr>
          <p:nvPr/>
        </p:nvPicPr>
        <p:blipFill>
          <a:blip xmlns:r="http://schemas.openxmlformats.org/officeDocument/2006/relationships" r:embed="rId4"/>
          <a:srcRect l="0" t="0" r="0" b="0"/>
          <a:stretch>
            <a:fillRect/>
          </a:stretch>
        </p:blipFill>
        <p:spPr>
          <a:xfrm rot="0">
            <a:off x="482600" y="6059487"/>
            <a:ext cx="6481762" cy="303212"/>
          </a:xfrm>
          <a:prstGeom prst="rect"/>
          <a:noFill/>
          <a:ln>
            <a:noFill/>
          </a:ln>
        </p:spPr>
      </p:pic>
    </p:spTree>
  </p:cSld>
  <p:clrMapOvr>
    <a:masterClrMapping/>
  </p:clrMapOvr>
  <p:timing/>
</p:sld>
</file>

<file path=ppt/slides/slide37.xml><?xml version="1.0" encoding="utf-8"?>
<p:sld xmlns:a="http://schemas.openxmlformats.org/drawingml/2006/main" xmlns:r="http://schemas.openxmlformats.org/officeDocument/2006/relationships" xmlns:p="http://schemas.openxmlformats.org/presentationml/2006/main" showMasterSp="1">
  <p:cSld>
    <p:spTree>
      <p:nvGrpSpPr>
        <p:cNvPr id="102" name=""/>
        <p:cNvGrpSpPr/>
        <p:nvPr/>
      </p:nvGrpSpPr>
      <p:grpSpPr>
        <a:xfrm rot="0">
          <a:off x="0" y="0"/>
          <a:ext cx="0" cy="0"/>
          <a:chOff x="0" y="0"/>
          <a:chExt cx="0" cy="0"/>
        </a:xfrm>
      </p:grpSpPr>
      <p:sp>
        <p:nvSpPr>
          <p:cNvPr id="1048743"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37</a:t>
            </a:fld>
            <a:endParaRPr altLang="en-US" sz="1400" lang="en-US"/>
          </a:p>
        </p:txBody>
      </p:sp>
      <p:sp>
        <p:nvSpPr>
          <p:cNvPr id="1048744" name="Title 1"/>
          <p:cNvSpPr/>
          <p:nvPr>
            <p:ph type="title" sz="full" idx="0"/>
          </p:nvPr>
        </p:nvSpPr>
        <p:spPr>
          <a:xfrm rot="0">
            <a:off x="107950" y="-166687"/>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Architecture of Fuzzy Logic System</a:t>
            </a:r>
          </a:p>
        </p:txBody>
      </p:sp>
      <p:pic>
        <p:nvPicPr>
          <p:cNvPr id="2097201" name="Picture 10"/>
          <p:cNvPicPr>
            <a:picLocks/>
          </p:cNvPicPr>
          <p:nvPr/>
        </p:nvPicPr>
        <p:blipFill>
          <a:blip xmlns:r="http://schemas.openxmlformats.org/officeDocument/2006/relationships" r:embed="rId1"/>
          <a:srcRect l="0" t="0" r="0" b="0"/>
          <a:stretch>
            <a:fillRect/>
          </a:stretch>
        </p:blipFill>
        <p:spPr>
          <a:xfrm rot="0">
            <a:off x="1644650" y="623887"/>
            <a:ext cx="4608512" cy="2447925"/>
          </a:xfrm>
          <a:prstGeom prst="rect"/>
          <a:noFill/>
          <a:ln>
            <a:noFill/>
          </a:ln>
        </p:spPr>
      </p:pic>
      <p:sp>
        <p:nvSpPr>
          <p:cNvPr id="1048745" name="TextBox 8"/>
          <p:cNvSpPr txBox="1"/>
          <p:nvPr/>
        </p:nvSpPr>
        <p:spPr>
          <a:xfrm rot="0">
            <a:off x="468312" y="3355975"/>
            <a:ext cx="7772400" cy="64611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1800" lang="en-US" u="sng">
                <a:latin typeface="Comic Sans MS" pitchFamily="66" charset="0"/>
              </a:rPr>
              <a:t>Right triangles (base on x-axis, height in μ):</a:t>
            </a:r>
          </a:p>
          <a:p>
            <a:pPr indent="0" lvl="0" marL="0">
              <a:spcBef>
                <a:spcPct val="0"/>
              </a:spcBef>
              <a:buFontTx/>
              <a:buNone/>
            </a:pPr>
            <a:endParaRPr altLang="en-US" sz="1800" lang="en-US" u="sng">
              <a:latin typeface="Comic Sans MS" pitchFamily="66" charset="0"/>
            </a:endParaRPr>
          </a:p>
        </p:txBody>
      </p:sp>
      <p:sp>
        <p:nvSpPr>
          <p:cNvPr id="1048746" name="TextBox 6"/>
          <p:cNvSpPr txBox="1"/>
          <p:nvPr/>
        </p:nvSpPr>
        <p:spPr>
          <a:xfrm rot="0">
            <a:off x="468312" y="3679825"/>
            <a:ext cx="7772400" cy="368300"/>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1800" lang="en-US">
                <a:latin typeface="Comic Sans MS" pitchFamily="66" charset="0"/>
              </a:rPr>
              <a:t>For any triangle, the centroid is the average of the vertices:</a:t>
            </a:r>
          </a:p>
        </p:txBody>
      </p:sp>
      <p:pic>
        <p:nvPicPr>
          <p:cNvPr id="2097202" name="TextBox 4"/>
          <p:cNvPicPr>
            <a:picLocks/>
          </p:cNvPicPr>
          <p:nvPr/>
        </p:nvPicPr>
        <p:blipFill>
          <a:blip xmlns:r="http://schemas.openxmlformats.org/officeDocument/2006/relationships" r:embed="rId2"/>
          <a:srcRect l="0" t="0" r="0" b="0"/>
          <a:stretch>
            <a:fillRect/>
          </a:stretch>
        </p:blipFill>
        <p:spPr>
          <a:xfrm rot="0">
            <a:off x="1657350" y="4164012"/>
            <a:ext cx="4041775" cy="511175"/>
          </a:xfrm>
          <a:prstGeom prst="rect"/>
          <a:noFill/>
          <a:ln>
            <a:noFill/>
          </a:ln>
        </p:spPr>
      </p:pic>
      <p:sp>
        <p:nvSpPr>
          <p:cNvPr id="1048747" name="TextBox 11"/>
          <p:cNvSpPr txBox="1"/>
          <p:nvPr/>
        </p:nvSpPr>
        <p:spPr>
          <a:xfrm rot="0">
            <a:off x="431800" y="4716462"/>
            <a:ext cx="7772400" cy="923925"/>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0" lvl="0" marL="0">
              <a:spcBef>
                <a:spcPct val="0"/>
              </a:spcBef>
              <a:buFontTx/>
              <a:buNone/>
            </a:pPr>
            <a:r>
              <a:rPr altLang="en-US" sz="1800" lang="en-US">
                <a:latin typeface="Comic Sans MS" pitchFamily="66" charset="0"/>
              </a:rPr>
              <a:t>For a falling triangle on [a,a+b] (vertices (a,0),(a,h),(a+b,0)):</a:t>
            </a:r>
          </a:p>
          <a:p>
            <a:pPr algn="just" indent="0" lvl="0" marL="0">
              <a:spcBef>
                <a:spcPct val="0"/>
              </a:spcBef>
              <a:buFontTx/>
              <a:buNone/>
            </a:pPr>
            <a:endParaRPr altLang="en-US" sz="1800" lang="en-US">
              <a:latin typeface="Comic Sans MS" pitchFamily="66" charset="0"/>
            </a:endParaRPr>
          </a:p>
          <a:p>
            <a:pPr algn="ctr" indent="0" lvl="0" marL="0">
              <a:spcBef>
                <a:spcPct val="0"/>
              </a:spcBef>
              <a:buFontTx/>
              <a:buNone/>
            </a:pPr>
            <a:endParaRPr altLang="en-US" sz="1800" lang="en-US">
              <a:latin typeface="Comic Sans MS" pitchFamily="66" charset="0"/>
            </a:endParaRPr>
          </a:p>
        </p:txBody>
      </p:sp>
      <p:pic>
        <p:nvPicPr>
          <p:cNvPr id="2097203" name="TextBox 12"/>
          <p:cNvPicPr>
            <a:picLocks/>
          </p:cNvPicPr>
          <p:nvPr/>
        </p:nvPicPr>
        <p:blipFill>
          <a:blip xmlns:r="http://schemas.openxmlformats.org/officeDocument/2006/relationships" r:embed="rId3"/>
          <a:srcRect l="0" t="0" r="0" b="0"/>
          <a:stretch>
            <a:fillRect/>
          </a:stretch>
        </p:blipFill>
        <p:spPr>
          <a:xfrm rot="0">
            <a:off x="1109662" y="5175250"/>
            <a:ext cx="6705600" cy="512762"/>
          </a:xfrm>
          <a:prstGeom prst="rect"/>
          <a:noFill/>
          <a:ln>
            <a:noFill/>
          </a:ln>
        </p:spPr>
      </p:pic>
      <p:pic>
        <p:nvPicPr>
          <p:cNvPr id="2097204" name="Picture 13"/>
          <p:cNvPicPr>
            <a:picLocks/>
          </p:cNvPicPr>
          <p:nvPr/>
        </p:nvPicPr>
        <p:blipFill>
          <a:blip xmlns:r="http://schemas.openxmlformats.org/officeDocument/2006/relationships" r:embed="rId4"/>
          <a:srcRect l="0" t="0" r="0" b="0"/>
          <a:stretch>
            <a:fillRect/>
          </a:stretch>
        </p:blipFill>
        <p:spPr>
          <a:xfrm rot="0">
            <a:off x="968375" y="5684837"/>
            <a:ext cx="7207250" cy="280987"/>
          </a:xfrm>
          <a:prstGeom prst="rect"/>
          <a:noFill/>
          <a:ln>
            <a:noFill/>
          </a:ln>
        </p:spPr>
      </p:pic>
      <p:pic>
        <p:nvPicPr>
          <p:cNvPr id="2097205" name="Picture 15"/>
          <p:cNvPicPr>
            <a:picLocks/>
          </p:cNvPicPr>
          <p:nvPr/>
        </p:nvPicPr>
        <p:blipFill>
          <a:blip xmlns:r="http://schemas.openxmlformats.org/officeDocument/2006/relationships" r:embed="rId5"/>
          <a:srcRect l="0" t="0" r="0" b="0"/>
          <a:stretch>
            <a:fillRect/>
          </a:stretch>
        </p:blipFill>
        <p:spPr>
          <a:xfrm rot="0">
            <a:off x="968375" y="6099175"/>
            <a:ext cx="7186612" cy="292100"/>
          </a:xfrm>
          <a:prstGeom prst="rect"/>
          <a:noFill/>
          <a:ln>
            <a:noFill/>
          </a:ln>
        </p:spPr>
      </p:pic>
    </p:spTree>
  </p:cSld>
  <p:clrMapOvr>
    <a:masterClrMapping/>
  </p:clrMapOvr>
  <p:timing/>
</p:sld>
</file>

<file path=ppt/slides/slide38.xml><?xml version="1.0" encoding="utf-8"?>
<p:sld xmlns:a="http://schemas.openxmlformats.org/drawingml/2006/main" xmlns:r="http://schemas.openxmlformats.org/officeDocument/2006/relationships" xmlns:p="http://schemas.openxmlformats.org/presentationml/2006/main" showMasterSp="1">
  <p:cSld>
    <p:spTree>
      <p:nvGrpSpPr>
        <p:cNvPr id="103" name=""/>
        <p:cNvGrpSpPr/>
        <p:nvPr/>
      </p:nvGrpSpPr>
      <p:grpSpPr>
        <a:xfrm rot="0">
          <a:off x="0" y="0"/>
          <a:ext cx="0" cy="0"/>
          <a:chOff x="0" y="0"/>
          <a:chExt cx="0" cy="0"/>
        </a:xfrm>
      </p:grpSpPr>
      <p:sp>
        <p:nvSpPr>
          <p:cNvPr id="1048748"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38</a:t>
            </a:fld>
            <a:endParaRPr altLang="en-US" sz="1400" lang="en-US"/>
          </a:p>
        </p:txBody>
      </p:sp>
      <p:sp>
        <p:nvSpPr>
          <p:cNvPr id="1048749" name="Title 1"/>
          <p:cNvSpPr/>
          <p:nvPr>
            <p:ph type="title" sz="full" idx="0"/>
          </p:nvPr>
        </p:nvSpPr>
        <p:spPr>
          <a:xfrm rot="0">
            <a:off x="107950" y="-166687"/>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Architecture of Fuzzy Logic System</a:t>
            </a:r>
          </a:p>
        </p:txBody>
      </p:sp>
      <p:pic>
        <p:nvPicPr>
          <p:cNvPr id="2097206" name="Picture 10"/>
          <p:cNvPicPr>
            <a:picLocks/>
          </p:cNvPicPr>
          <p:nvPr/>
        </p:nvPicPr>
        <p:blipFill>
          <a:blip xmlns:r="http://schemas.openxmlformats.org/officeDocument/2006/relationships" r:embed="rId1"/>
          <a:srcRect l="0" t="0" r="0" b="0"/>
          <a:stretch>
            <a:fillRect/>
          </a:stretch>
        </p:blipFill>
        <p:spPr>
          <a:xfrm rot="0">
            <a:off x="1644650" y="623887"/>
            <a:ext cx="4608512" cy="2447925"/>
          </a:xfrm>
          <a:prstGeom prst="rect"/>
          <a:noFill/>
          <a:ln>
            <a:noFill/>
          </a:ln>
        </p:spPr>
      </p:pic>
      <p:sp>
        <p:nvSpPr>
          <p:cNvPr id="1048750" name="TextBox 13"/>
          <p:cNvSpPr txBox="1"/>
          <p:nvPr/>
        </p:nvSpPr>
        <p:spPr>
          <a:xfrm rot="0">
            <a:off x="558800" y="3076575"/>
            <a:ext cx="7632700" cy="369887"/>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1800" lang="en-US">
                <a:latin typeface="Comic Sans MS" pitchFamily="66" charset="0"/>
              </a:rPr>
              <a:t>M​=450+346.875+27.0833+47.9167+52.0833=923.9583​.​</a:t>
            </a:r>
          </a:p>
        </p:txBody>
      </p:sp>
      <p:sp>
        <p:nvSpPr>
          <p:cNvPr id="1048751" name="TextBox 14"/>
          <p:cNvSpPr txBox="1"/>
          <p:nvPr/>
        </p:nvSpPr>
        <p:spPr>
          <a:xfrm rot="0">
            <a:off x="539750" y="3446462"/>
            <a:ext cx="4572000" cy="369887"/>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indent="0" lvl="0" marL="0">
              <a:spcBef>
                <a:spcPct val="0"/>
              </a:spcBef>
              <a:buFontTx/>
              <a:buNone/>
            </a:pPr>
            <a:r>
              <a:rPr altLang="en-US" sz="1800" lang="en-US">
                <a:latin typeface="Comic Sans MS" pitchFamily="66" charset="0"/>
              </a:rPr>
              <a:t>Centroid (defuzzified output)</a:t>
            </a:r>
          </a:p>
        </p:txBody>
      </p:sp>
      <p:pic>
        <p:nvPicPr>
          <p:cNvPr id="2097207" name="Picture 5"/>
          <p:cNvPicPr>
            <a:picLocks/>
          </p:cNvPicPr>
          <p:nvPr/>
        </p:nvPicPr>
        <p:blipFill>
          <a:blip xmlns:r="http://schemas.openxmlformats.org/officeDocument/2006/relationships" r:embed="rId2"/>
          <a:srcRect l="0" t="0" r="0" b="0"/>
          <a:stretch>
            <a:fillRect/>
          </a:stretch>
        </p:blipFill>
        <p:spPr>
          <a:xfrm rot="0">
            <a:off x="3132137" y="3952875"/>
            <a:ext cx="2609850" cy="555625"/>
          </a:xfrm>
          <a:prstGeom prst="rect"/>
          <a:noFill/>
          <a:ln>
            <a:noFill/>
          </a:ln>
        </p:spPr>
      </p:pic>
    </p:spTree>
  </p:cSld>
  <p:clrMapOvr>
    <a:masterClrMapping/>
  </p:clrMapOvr>
  <p:timing/>
</p:sld>
</file>

<file path=ppt/slides/slide39.xml><?xml version="1.0" encoding="utf-8"?>
<p:sld xmlns:a="http://schemas.openxmlformats.org/drawingml/2006/main" xmlns:r="http://schemas.openxmlformats.org/officeDocument/2006/relationships" xmlns:p="http://schemas.openxmlformats.org/presentationml/2006/main" showMasterSp="1">
  <p:cSld>
    <p:spTree>
      <p:nvGrpSpPr>
        <p:cNvPr id="104" name=""/>
        <p:cNvGrpSpPr/>
        <p:nvPr/>
      </p:nvGrpSpPr>
      <p:grpSpPr>
        <a:xfrm rot="0">
          <a:off x="0" y="0"/>
          <a:ext cx="0" cy="0"/>
          <a:chOff x="0" y="0"/>
          <a:chExt cx="0" cy="0"/>
        </a:xfrm>
      </p:grpSpPr>
      <p:sp>
        <p:nvSpPr>
          <p:cNvPr id="1048752" name="Slide Number Placeholder 3"/>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39</a:t>
            </a:fld>
            <a:endParaRPr altLang="en-US" sz="1400" lang="en-US"/>
          </a:p>
        </p:txBody>
      </p:sp>
      <p:sp>
        <p:nvSpPr>
          <p:cNvPr id="1048753" name="Title 1"/>
          <p:cNvSpPr/>
          <p:nvPr>
            <p:ph type="title" sz="full" idx="0"/>
          </p:nvPr>
        </p:nvSpPr>
        <p:spPr>
          <a:xfrm rot="0">
            <a:off x="107950" y="-166687"/>
            <a:ext cx="77724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Times New Roman" pitchFamily="18" charset="0"/>
                <a:sym typeface="Times New Roman" pitchFamily="18" charset="0"/>
              </a:defRPr>
            </a:lvl1pPr>
          </a:lstStyle>
          <a:p>
            <a:pPr algn="l" lvl="0"/>
            <a:r>
              <a:rPr altLang="en-US" sz="2400" lang="en-GB">
                <a:solidFill>
                  <a:schemeClr val="accent2"/>
                </a:solidFill>
                <a:latin typeface="Comic Sans MS" pitchFamily="66" charset="0"/>
              </a:rPr>
              <a:t>Architecture of Fuzzy Logic System</a:t>
            </a:r>
          </a:p>
        </p:txBody>
      </p:sp>
      <p:sp>
        <p:nvSpPr>
          <p:cNvPr id="1048754" name="TextBox 14"/>
          <p:cNvSpPr txBox="1"/>
          <p:nvPr/>
        </p:nvSpPr>
        <p:spPr>
          <a:xfrm rot="0">
            <a:off x="395287" y="765175"/>
            <a:ext cx="8220075" cy="3416300"/>
          </a:xfrm>
          <a:prstGeom prst="rect"/>
          <a:noFill/>
          <a:ln>
            <a:noFill/>
          </a:ln>
        </p:spPr>
        <p:txBody>
          <a:bodyPr anchor="t" bIns="45720" lIns="91440" rIns="91440" tIns="45720" vert="horz">
            <a:spAutoFit/>
          </a:bodyPr>
          <a:lstStyle>
            <a:lvl1pPr algn="l" eaLnBrk="0" fontAlgn="base" hangingPunct="0" indent="0" latinLnBrk="0" marL="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1pPr>
            <a:lvl2pPr algn="l" eaLnBrk="0" fontAlgn="base" hangingPunct="0" indent="0" latinLnBrk="0" marL="4572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2pPr>
            <a:lvl3pPr algn="l" eaLnBrk="0" fontAlgn="base" hangingPunct="0" indent="0" latinLnBrk="0" marL="9144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3pPr>
            <a:lvl4pPr algn="l" eaLnBrk="0" fontAlgn="base" hangingPunct="0" indent="0" latinLnBrk="0" marL="13716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4pPr>
            <a:lvl5pPr algn="l" eaLnBrk="0" fontAlgn="base" hangingPunct="0" indent="0" latinLnBrk="0" marL="1828800" rtl="0">
              <a:lnSpc>
                <a:spcPct val="100000"/>
              </a:lnSpc>
              <a:spcBef>
                <a:spcPct val="0"/>
              </a:spcBef>
              <a:spcAft>
                <a:spcPct val="0"/>
              </a:spcAft>
              <a:buFontTx/>
              <a:buNone/>
              <a:defRPr baseline="0" b="0" sz="2400" i="0" u="none">
                <a:solidFill>
                  <a:schemeClr val="dk1"/>
                </a:solidFill>
                <a:latin typeface="Times New Roman" pitchFamily="18" charset="0"/>
                <a:sym typeface="Times New Roman" pitchFamily="18" charset="0"/>
              </a:defRPr>
            </a:lvl5pPr>
          </a:lstStyle>
          <a:p>
            <a:pPr algn="just" lvl="0"/>
            <a:r>
              <a:rPr altLang="en-US" sz="1800" lang="en-US">
                <a:latin typeface="Comic Sans MS" pitchFamily="66" charset="0"/>
              </a:rPr>
              <a:t>3B) What each rule outputs (implication):</a:t>
            </a:r>
          </a:p>
          <a:p>
            <a:pPr algn="just" lvl="0"/>
            <a:r>
              <a:rPr altLang="en-US" sz="1800" lang="en-US" u="sng">
                <a:latin typeface="Comic Sans MS" pitchFamily="66" charset="0"/>
              </a:rPr>
              <a:t>Sugeno inference (crisp consequents)</a:t>
            </a:r>
          </a:p>
          <a:p>
            <a:pPr algn="just" lvl="0"/>
            <a:endParaRPr altLang="en-US" sz="1800" lang="en-US" u="sng">
              <a:latin typeface="Comic Sans MS" pitchFamily="66" charset="0"/>
            </a:endParaRPr>
          </a:p>
          <a:p>
            <a:pPr algn="just" lvl="0"/>
            <a:r>
              <a:rPr altLang="en-US" sz="1800" lang="en-US" u="sng">
                <a:latin typeface="Comic Sans MS" pitchFamily="66" charset="0"/>
              </a:rPr>
              <a:t>Each rule returns a crisp number.</a:t>
            </a:r>
          </a:p>
          <a:p>
            <a:pPr algn="just" lvl="0"/>
            <a:endParaRPr altLang="en-US" sz="1800" lang="en-US" u="sng">
              <a:latin typeface="Comic Sans MS" pitchFamily="66" charset="0"/>
            </a:endParaRPr>
          </a:p>
          <a:p>
            <a:pPr algn="just" lvl="0">
              <a:buChar char="•"/>
            </a:pPr>
            <a:r>
              <a:rPr altLang="en-US" sz="1800" lang="pt-BR">
                <a:latin typeface="Comic Sans MS" pitchFamily="66" charset="0"/>
              </a:rPr>
              <a:t>R1 → High = 100</a:t>
            </a:r>
          </a:p>
          <a:p>
            <a:pPr algn="just" lvl="0">
              <a:buChar char="•"/>
            </a:pPr>
            <a:r>
              <a:rPr altLang="en-US" sz="1800" lang="pt-BR">
                <a:latin typeface="Comic Sans MS" pitchFamily="66" charset="0"/>
              </a:rPr>
              <a:t>R2 → Medium = 60</a:t>
            </a:r>
          </a:p>
          <a:p>
            <a:pPr algn="just" lvl="0"/>
            <a:endParaRPr altLang="en-US" sz="1800" lang="en-US" u="sng">
              <a:latin typeface="Comic Sans MS" pitchFamily="66" charset="0"/>
            </a:endParaRPr>
          </a:p>
          <a:p>
            <a:pPr algn="just" indent="0" lvl="1" marL="0"/>
            <a:r>
              <a:rPr altLang="en-US" sz="1800" lang="en-US">
                <a:latin typeface="Comic Sans MS" pitchFamily="66" charset="0"/>
              </a:rPr>
              <a:t>Aggregation (weighted average):</a:t>
            </a:r>
          </a:p>
          <a:p>
            <a:pPr algn="just" indent="0" lvl="1" marL="0">
              <a:buChar char="•"/>
            </a:pPr>
            <a:r>
              <a:rPr altLang="en-US" sz="1800" lang="en-US">
                <a:latin typeface="Comic Sans MS" pitchFamily="66" charset="0"/>
              </a:rPr>
              <a:t>Use the firing strengths as weights:</a:t>
            </a:r>
          </a:p>
          <a:p>
            <a:pPr algn="just" indent="0" lvl="1" marL="0">
              <a:buChar char="•"/>
            </a:pPr>
            <a:endParaRPr altLang="en-US" sz="1800" lang="en-US">
              <a:latin typeface="Comic Sans MS" pitchFamily="66" charset="0"/>
            </a:endParaRPr>
          </a:p>
          <a:p>
            <a:pPr algn="just" indent="0" lvl="1" marL="0">
              <a:buChar char="•"/>
            </a:pPr>
            <a:endParaRPr altLang="en-US" sz="1800" lang="en-US">
              <a:latin typeface="Comic Sans MS" pitchFamily="66" charset="0"/>
            </a:endParaRPr>
          </a:p>
        </p:txBody>
      </p:sp>
      <p:pic>
        <p:nvPicPr>
          <p:cNvPr id="2097208" name="Picture 2"/>
          <p:cNvPicPr>
            <a:picLocks/>
          </p:cNvPicPr>
          <p:nvPr/>
        </p:nvPicPr>
        <p:blipFill>
          <a:blip xmlns:r="http://schemas.openxmlformats.org/officeDocument/2006/relationships" r:embed="rId1"/>
          <a:srcRect l="0" t="0" r="0" b="0"/>
          <a:stretch>
            <a:fillRect/>
          </a:stretch>
        </p:blipFill>
        <p:spPr>
          <a:xfrm rot="0">
            <a:off x="1692275" y="3784600"/>
            <a:ext cx="5945187" cy="792162"/>
          </a:xfrm>
          <a:prstGeom prst="rect"/>
          <a:noFill/>
          <a:ln>
            <a:noFill/>
          </a:ln>
        </p:spPr>
      </p:pic>
      <p:sp>
        <p:nvSpPr>
          <p:cNvPr id="1048755" name="TextBox 8"/>
          <p:cNvSpPr txBox="1"/>
          <p:nvPr/>
        </p:nvSpPr>
        <p:spPr>
          <a:xfrm rot="0">
            <a:off x="427037" y="4652962"/>
            <a:ext cx="7632700" cy="646112"/>
          </a:xfrm>
          <a:prstGeom prst="rect"/>
          <a:noFill/>
          <a:ln>
            <a:noFill/>
          </a:ln>
        </p:spPr>
        <p:txBody>
          <a:bodyPr anchor="t" bIns="45720" lIns="91440" rIns="91440" tIns="45720" vert="horz">
            <a:spAutoFit/>
          </a:bodyPr>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just" indent="0" lvl="0" marL="0">
              <a:spcBef>
                <a:spcPct val="0"/>
              </a:spcBef>
              <a:buFontTx/>
              <a:buNone/>
            </a:pPr>
            <a:r>
              <a:rPr altLang="en-US" sz="1800" lang="en-US">
                <a:latin typeface="Comic Sans MS" pitchFamily="66" charset="0"/>
              </a:rPr>
              <a:t>So Sugeno gives a crisp 80% fan speed directly—no fuzzy union or centroid needed.</a:t>
            </a:r>
          </a:p>
        </p:txBody>
      </p:sp>
    </p:spTree>
  </p:cSld>
  <p:clrMapOvr>
    <a:masterClrMapping/>
  </p:clrMapOvr>
  <p:timing/>
</p:sld>
</file>

<file path=ppt/slides/slide40.xml><?xml version="1.0" encoding="utf-8"?>
<p:sld xmlns:a="http://schemas.openxmlformats.org/drawingml/2006/main" xmlns:r="http://schemas.openxmlformats.org/officeDocument/2006/relationships" xmlns:p="http://schemas.openxmlformats.org/presentationml/2006/main" showMasterSp="1">
  <p:cSld>
    <p:spTree>
      <p:nvGrpSpPr>
        <p:cNvPr id="105" name=""/>
        <p:cNvGrpSpPr/>
        <p:nvPr/>
      </p:nvGrpSpPr>
      <p:grpSpPr>
        <a:xfrm rot="0">
          <a:off x="0" y="0"/>
          <a:ext cx="0" cy="0"/>
          <a:chOff x="0" y="0"/>
          <a:chExt cx="0" cy="0"/>
        </a:xfrm>
      </p:grpSpPr>
      <p:sp>
        <p:nvSpPr>
          <p:cNvPr id="1048756" name="Slide Number Placeholder 1"/>
          <p:cNvSpPr txBox="1"/>
          <p:nvPr/>
        </p:nvSpPr>
        <p:spPr>
          <a:xfrm rot="0">
            <a:off x="6553200" y="6248400"/>
            <a:ext cx="1905000" cy="4572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r" eaLnBrk="1" hangingPunct="1" indent="0" lvl="0" marL="0">
              <a:spcBef>
                <a:spcPct val="0"/>
              </a:spcBef>
              <a:buFontTx/>
              <a:buNone/>
            </a:pPr>
            <a:fld id="{566ABCEB-ACFC-4714-9973-3DA970169C29}" type="slidenum">
              <a:rPr altLang="en-US" sz="1400" lang="en-US"/>
              <a:pPr algn="r" eaLnBrk="1" hangingPunct="1" indent="0" lvl="0" marL="0">
                <a:spcBef>
                  <a:spcPct val="0"/>
                </a:spcBef>
                <a:buFontTx/>
                <a:buNone/>
              </a:pPr>
              <a:t>40</a:t>
            </a:fld>
            <a:endParaRPr altLang="en-US" sz="1400" lang="en-US"/>
          </a:p>
        </p:txBody>
      </p:sp>
      <p:sp>
        <p:nvSpPr>
          <p:cNvPr id="1048757" name="Rectangle 1026"/>
          <p:cNvSpPr/>
          <p:nvPr/>
        </p:nvSpPr>
        <p:spPr>
          <a:xfrm rot="0">
            <a:off x="488950" y="2298700"/>
            <a:ext cx="8054975" cy="1143000"/>
          </a:xfrm>
          <a:prstGeom prst="rect"/>
          <a:noFill/>
          <a:ln>
            <a:noFill/>
          </a:ln>
        </p:spPr>
        <p:txBody>
          <a:bodyPr anchor="ctr"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algn="ctr" eaLnBrk="1" hangingPunct="1" indent="0" lvl="0" marL="0">
              <a:spcBef>
                <a:spcPct val="0"/>
              </a:spcBef>
              <a:buFontTx/>
              <a:buNone/>
            </a:pPr>
            <a:endParaRPr altLang="en-US" b="1" i="1" lang="en-US">
              <a:solidFill>
                <a:schemeClr val="accent2"/>
              </a:solidFill>
            </a:endParaRPr>
          </a:p>
        </p:txBody>
      </p:sp>
      <p:sp>
        <p:nvSpPr>
          <p:cNvPr id="1048758" name="Rectangle 2"/>
          <p:cNvSpPr/>
          <p:nvPr/>
        </p:nvSpPr>
        <p:spPr>
          <a:xfrm rot="0">
            <a:off x="314325" y="-14287"/>
            <a:ext cx="8347075" cy="1143000"/>
          </a:xfrm>
          <a:prstGeom prst="rect"/>
          <a:noFill/>
          <a:ln>
            <a:noFill/>
          </a:ln>
        </p:spPr>
        <p:txBody>
          <a:bodyPr anchor="ctr"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eaLnBrk="1" hangingPunct="1" indent="0" lvl="0" marL="0">
              <a:spcBef>
                <a:spcPct val="0"/>
              </a:spcBef>
              <a:buFontTx/>
              <a:buNone/>
            </a:pPr>
            <a:endParaRPr altLang="en-US" i="1" lang="en-US" u="sng">
              <a:solidFill>
                <a:schemeClr val="accent2"/>
              </a:solidFill>
            </a:endParaRPr>
          </a:p>
        </p:txBody>
      </p:sp>
      <p:sp>
        <p:nvSpPr>
          <p:cNvPr id="1048759" name="Rectangle 2"/>
          <p:cNvSpPr/>
          <p:nvPr/>
        </p:nvSpPr>
        <p:spPr>
          <a:xfrm rot="0">
            <a:off x="3348037" y="2641600"/>
            <a:ext cx="7642225" cy="457200"/>
          </a:xfrm>
          <a:prstGeom prst="rect"/>
          <a:noFill/>
          <a:ln>
            <a:noFill/>
          </a:ln>
        </p:spPr>
        <p:txBody>
          <a:bodyPr anchor="ctr"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Times New Roman" pitchFamily="18" charset="0"/>
                <a:sym typeface="Times New Roman" pitchFamily="18"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Times New Roman" pitchFamily="18" charset="0"/>
                <a:sym typeface="Times New Roman" pitchFamily="18"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Times New Roman" pitchFamily="18" charset="0"/>
                <a:sym typeface="Times New Roman" pitchFamily="18"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Times New Roman" pitchFamily="18" charset="0"/>
                <a:sym typeface="Times New Roman" pitchFamily="18" charset="0"/>
              </a:defRPr>
            </a:lvl5pPr>
          </a:lstStyle>
          <a:p>
            <a:pPr eaLnBrk="1" hangingPunct="1" indent="0" lvl="0" marL="0">
              <a:spcBef>
                <a:spcPct val="0"/>
              </a:spcBef>
              <a:buFontTx/>
              <a:buNone/>
            </a:pPr>
            <a:r>
              <a:rPr altLang="en-US" sz="5400" i="1" lang="en-US">
                <a:solidFill>
                  <a:schemeClr val="accent2"/>
                </a:solidFill>
              </a:rPr>
              <a:t>  End</a:t>
            </a:r>
          </a:p>
        </p:txBody>
      </p:sp>
    </p:spTree>
  </p:cSld>
  <p:clrMapOvr>
    <a:masterClrMapping/>
  </p:clrMapOvr>
  <p:timing/>
</p:sld>
</file>

<file path=ppt/theme/theme1.xml><?xml version="1.0" encoding="utf-8"?>
<a:theme xmlns:a="http://schemas.openxmlformats.org/drawingml/2006/main" name="Office 主题">
  <a:themeElements>
    <a:clrScheme name="Default Color Scheme">
      <a:dk1>
        <a:srgbClr val="000000"/>
      </a:dk1>
      <a:lt1>
        <a:srgbClr val="FFFFFF"/>
      </a:lt1>
      <a:dk2>
        <a:srgbClr val="808080"/>
      </a:dk2>
      <a:lt2>
        <a:srgbClr val="00000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FFFFFF"/>
        </a:dk1>
        <a:lt1>
          <a:srgbClr val="0000FF"/>
        </a:lt1>
        <a:dk2>
          <a:srgbClr val="000000"/>
        </a:dk2>
        <a:lt2>
          <a:srgbClr val="FFFF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extraClrScheme>
    <a:extraClrScheme>
      <a:clrScheme name="Default Color Scheme 2">
        <a:dk1>
          <a:srgbClr val="000000"/>
        </a:dk1>
        <a:lt1>
          <a:srgbClr val="FFFFFF"/>
        </a:lt1>
        <a:dk2>
          <a:srgbClr val="808080"/>
        </a:dk2>
        <a:lt2>
          <a:srgbClr val="00000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extraClrScheme>
    <a:extraClrScheme>
      <a:clrScheme name="Default Color Scheme 3">
        <a:dk1>
          <a:srgbClr val="000000"/>
        </a:dk1>
        <a:lt1>
          <a:srgbClr val="FFFFFF"/>
        </a:lt1>
        <a:dk2>
          <a:srgbClr val="333333"/>
        </a:dk2>
        <a:lt2>
          <a:srgbClr val="000000"/>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extraClrScheme>
    <a:extraClrScheme>
      <a:clrScheme name="Default Color Scheme 4">
        <a:dk1>
          <a:srgbClr val="000000"/>
        </a:dk1>
        <a:lt1>
          <a:srgbClr val="FFFFCC"/>
        </a:lt1>
        <a:dk2>
          <a:srgbClr val="666633"/>
        </a:dk2>
        <a:lt2>
          <a:srgbClr val="808000"/>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extraClrScheme>
    <a:extraClrScheme>
      <a:clrScheme name="Default Color Scheme 5">
        <a:dk1>
          <a:srgbClr val="000000"/>
        </a:dk1>
        <a:lt1>
          <a:srgbClr val="FFFFFF"/>
        </a:lt1>
        <a:dk2>
          <a:srgbClr val="808080"/>
        </a:dk2>
        <a:lt2>
          <a:srgbClr val="00000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extraClrScheme>
    <a:extraClrScheme>
      <a:clrScheme name="Default Color Scheme 6">
        <a:dk1>
          <a:srgbClr val="000000"/>
        </a:dk1>
        <a:lt1>
          <a:srgbClr val="FFFFFF"/>
        </a:lt1>
        <a:dk2>
          <a:srgbClr val="808080"/>
        </a:dk2>
        <a:lt2>
          <a:srgbClr val="00000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extraClrScheme>
    <a:extraClrScheme>
      <a:clrScheme name="Default Color Scheme 7">
        <a:dk1>
          <a:srgbClr val="000000"/>
        </a:dk1>
        <a:lt1>
          <a:srgbClr val="FFFFFF"/>
        </a:lt1>
        <a:dk2>
          <a:srgbClr val="808080"/>
        </a:dk2>
        <a:lt2>
          <a:srgbClr val="00000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extraClrScheme>
  </a:extraClrSchemeLst>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主题">
  <a:themeElements>
    <a:clrScheme name="">
      <a:dk1>
        <a:srgbClr val="000000"/>
      </a:dk1>
      <a:lt1>
        <a:srgbClr val="FFFFFF"/>
      </a:lt1>
      <a:dk2>
        <a:srgbClr val="808080"/>
      </a:dk2>
      <a:lt2>
        <a:srgbClr val="00000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4.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title>ECE 220 Signals and Systems Instructor Nayeema Islam Office AH 607</dc:title>
  <dc:creator>nayeema</dc:creator>
  <cp:lastModifiedBy>Nayeema</cp:lastModifiedBy>
  <dcterms:created xsi:type="dcterms:W3CDTF">2006-01-23T22:08:18Z</dcterms:created>
  <dcterms:modified xsi:type="dcterms:W3CDTF">2026-09-08T02:02:56Z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ff4bd840797c47abb918a8e077dc98d5_23</vt:lpwstr>
  </property>
</Properties>
</file>